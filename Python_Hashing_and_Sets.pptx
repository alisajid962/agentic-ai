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List (linear)</c:v>
                </c:pt>
              </c:strCache>
            </c:strRef>
          </c:tx>
          <c:spPr>
            <a:solidFill>
              <a:srgbClr val="E1674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10 items</c:v>
                  </c:pt>
                  <c:pt idx="1">
                    <c:v>1,000</c:v>
                  </c:pt>
                  <c:pt idx="2">
                    <c:v>1,000,000</c:v>
                  </c:pt>
                </c:lvl>
              </c:multiLvlStrCache>
            </c:multiLvlStrRef>
          </c:cat>
          <c:val>
            <c:numRef>
              <c:f>Sheet1!$B$2:$B$4</c:f>
              <c:numCache>
                <c:formatCode>General</c:formatCode>
                <c:ptCount val="3"/>
                <c:pt idx="0">
                  <c:v>10</c:v>
                </c:pt>
                <c:pt idx="1">
                  <c:v>1000</c:v>
                </c:pt>
                <c:pt idx="2">
                  <c:v>1000000</c:v>
                </c:pt>
              </c:numCache>
            </c:numRef>
          </c:val>
        </c:ser>
        <c:ser>
          <c:idx val="1"/>
          <c:order val="1"/>
          <c:tx>
            <c:strRef>
              <c:f>Sheet1!$C$1</c:f>
              <c:strCache>
                <c:ptCount val="1"/>
                <c:pt idx="0">
                  <c:v>Dict (hash)</c:v>
                </c:pt>
              </c:strCache>
            </c:strRef>
          </c:tx>
          <c:spPr>
            <a:solidFill>
              <a:srgbClr val="2E9E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10 items</c:v>
                  </c:pt>
                  <c:pt idx="1">
                    <c:v>1,000</c:v>
                  </c:pt>
                  <c:pt idx="2">
                    <c:v>1,000,000</c:v>
                  </c:pt>
                </c:lvl>
              </c:multiLvlStrCache>
            </c:multiLvlStrRef>
          </c:cat>
          <c:val>
            <c:numRef>
              <c:f>Sheet1!$C$2:$C$4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586A"/>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Say: today we'll learn how Python finds data almost instantly using a clever idea called hashing, and how that same idea powers dictionaries and sets. Reassure students that no prior knowledge is needed and everything will be built step by step with pictures. Keep energy high — tell them by the end they'll understand something most programmers use every day without realising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quick roadmap so students know where we're heading. Point out the flow: we start with the big idea (hashing), then look inside dictionaries, then move to sets which are built on the same machinery. Reassure them that sections build on each other, so understanding the early parts makes the later parts easy. Don't read every box — just highlight the journey from 'why' to 'how' to 'where it's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coat-check analogy — it's the mental model for the whole lecture. Emphasise ONE point: instead of searching, hashing computes the location directly. Walk down the right-hand flow: the word Ali goes into a hash function, out comes a number, and that number points to a slot. Stress that the same input always produces the same number, which is what makes finding it again fast. Don't mention collisions yet — keep it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slide — make students FEEL the pain first. Ask them: if you had a million names on paper, how would you find one? They'll say 'look through them.' Point out that's exactly what's slow. Then reveal the fix: instead of looking, we calculate where it should be and jump there. The key phrase to repeat: 'Don't search — calculate.' End by planting the promise: same speed for a million items as for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visual contrast — top row is the slow way, bottom row is the fast way. Trace the top row with your finger: check, check, check... students see the effort grow. Then the bottom row: one calculation, one jump, done. Ask 'which would you rather do a million times?' The takeaway they should write down: linear search grows with the data; hashing does not. This sets up why dictionaries and sets are so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Python live if you can — typing hash('Ali') in front of students is powerful. Show that hash('Ali') gives one number and hash('Ahmed') a different one, and that running it twice in the SAME session gives the identical number. Point out two friendly surprises: hash(10) is just 10 for small ints, and a tuple like (1,2) can be hashed. Warn them NOT to memorise the digits — they change per machine. The lesson is the rule: same input, same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a confusion students WILL hit: if they run hash('Ali') today and tomorrow they get different numbers. Explain it's intentional — Python randomises string hashing at startup for security (so nobody can jam every key into one slot on purpose). Two rules to say clearly: (1) within a single program run, the hash is stable, so dictionaries work fine; (2) across restarts, string hashes change. Reassure them this never breaks their code, because a dictionary is built and used within the same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memory hook first: immutable = hashable, mutable = unhashable. Go down the green list — ints, floats, bools, strings, tuples, frozensets — all things that can't be changed once made. Then the red list — list, dict, set — all things you can add to or remove from. Demonstrate hash([1,2]) live to show the TypeError. Tease the next slide by asking WHY changeable things are banned as keys; let them guess before you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slide for the mutable ban. Walk the three boxes left to right as a little story: we store a list key in slot 3; then we change the list, which changes its hash to slot 7; now Python looks in slot 7 and the data isn't there — it's still in slot 3. The object is effectively lost. Land the rule: a key must promise never to change, and only immutable objects can make that promise. If a tuple contains a list, note it also becomes unhashable — same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whole dictionary machine — students will refer back to it. Read the left-hand chain top to bottom, then use the right panel to narrate the example student = {'Ali': 90}. Emphasise the split at the bottom: a bucket holds BOTH the key and the value, and Python double-checks the key matches before trusting the slot. Tell them not to worry about step 4's 'shrinking' yet — just that a big number gets turned into a valid slot index. We'll zoom into buckets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O(1) simply: constant time — the steps don't grow with size. Give the reason list on the left in plain words: hashing is a direct jump, not a search. For the chart, point out it uses a log scale, so the list bars are actually far taller than they look — 10, 1000, a million steps — while the dictionary stays pinned at 1. The single sentence to leave them with: a dictionary is fast because it calculates the location instead of searching for it. Mention 'amortised' O(1) only if a sharp student asks about resizing.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vocabulary concrete: a hash table is an array; each slot in it is a bucket. Point at the diagram — numbered slots 0 to 7, some empty, some holding a key and value. Explain that the hash of a key decides which numbered bucket it lands in, which is why 'Ali' sits in bucket 1 and 'Sara' in bucket 3. Stress that this same structure powers BOTH dictionaries (key+value) and sets (just keys). Empty buckets are normal — tables keep spare room so keys spread out and stay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flowchart slowly, top to bottom, as the life-story of one lookup. Say the code out loud: student bracket Ali. Then: hash it, turn the hash into a slot number, jump to that slot, CHECK the key really matches, and only then return the value. Spend time on the compare step — students assume the hash alone is enough. Use the side box to explain that two keys can land in the same bucket, so verification is mandatory. This directly sets up the collision section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collisions immediately — students often think they're errors. Explain the arithmetic reason: unlimited possible keys but a limited number of buckets, so squeezing big hashes into few slots means clashes are guaranteed. Trace the diagram: Ali hashes to 5, Sara also hashes to 5, so both want bucket 5. Ask the class: 'if both are in bucket 5, how does Python tell them apart?' — that's the perfect lead-in to the next slide on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cliff-hanger from the previous slide. The hash gets you to the right bucket, but if that bucket holds more than one key, Python compares the actual keys with equality (==) until it finds the real match. Walk the top flow: ask for Sara, hash to bucket 5, find two keys there, compare, Sara matches, return 85. Reassure them on speed using the right card — because tables stay mostly empty, this extra comparison is tiny and lookups remain effectively constant time. Do NOT oversimplify: make clear the equality check is real work Python always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sets as 'a bag of unique things with no order.' The live demo is the clincher: add 20 to a set that already has 20 and nothing happens — duplicates just vanish. Walk the five property cards. Highlight two that surprise beginners: the set itself is mutable (you can add/remove), even though its elements must be immutable/hashable; and it's unordered, which we'll dig into next because it trips people up. Tie it back: sets use the same bucket machinery as dictionaries, minus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clears up the single biggest misconception about sets. Contrast the two panels: a list is a numbered row — index 0, 1, 2 — and it keeps your order forever. A set drops each item into a bucket chosen by its hash, so the printed order reflects bucket positions, not the order you added things. Explain the trap: {10,20,30} may print as 10,20,30 because small integers hash to themselves and happen to land in order — but that's luck, not a rule. Tell them: never rely on set order; if you need order, use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table, but spend your time on the pairs students confuse. remove() vs discard(): both delete, but remove() crashes with a KeyError if the item isn't there, discard() just does nothing — highlight this, it's a favourite exam question. pop() removes an arbitrary element (not the 'first', since sets are unordered) and returns it. update() takes any iterable, so you can merge a list into a set. Encourage them to open a shell and try each line; the results column shows what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Venn diagrams make these instant. Union (the | operator or .union()): shade both circles entirely — everything that appears in either set, with duplicates collapsed. Intersection (&amp; or .intersection()): only the overlapping middle — items present in BOTH. Use the concrete example A={1,2,3}, B={3,4,5}: union gives all five numbers, intersection gives just the shared 3. Tell them the word trick: 'union = OR, intersection = AND.' Mention both the operator and the method name so they recognise either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Venn approach. Difference (A - B): keep only the part of A that doesn't overlap B — here {1,2}, because 3 is shared and gets dropped. Stress that A - B and B - A are different, so order matters, unlike union/intersection. Symmetric difference (^): everything EXCEPT the shared middle — the outer crescents of both circles, giving {1,2,4,5}. A neat phrasing: symmetric difference = union minus intersection. Give a real hook: symmetric difference is great for finding 'what changed' between two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relationship tests that return True/False rather than a new set. Subset (A.issubset(B)): is A completely contained inside B? Picture the small circle drawn inside the big one. Superset is just the mirror image — A contains all of B. Disjoint (A.isdisjoint(B)): the two circles don't touch at all, no shared elements. Point out the practical use: subset checks are perfect for 'does this user have all the required permissions?' and disjoint answers 'do these two groups overlap?' Note every set is a subset and superset of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hashing feel useful, not academic. For each card give the one-liner developers actually write. The strongest examples for beginners: wrapping a list in set() to kill duplicate emails, and 'username in users_set' for instant lookup versus scanning a list. Permissions is the professional highlight — issubset answers 'does this user have everything required?' cleanly. Emphasise the WHY throughout: sets are chosen because they guarantee uniqueness and give O(1) membership, two things lists can't do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batch, leaning toward data and AI to show sets scale to real engineering. NLP is a favourite: splitting text and wrapping in set() gives the unique vocabulary in one line. Version diffing with subtraction (v2 - v1) is exactly how you'd generate a changelog. In machine learning, deduplicating samples prevents the model over-weighting repeated data. The recurring theme to name explicitly: any time the problem contains the words 'unique', 'distinct', 'overlap', or 'already seen', a set is probably the right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table students should photograph. The headline row: membership testing is O(n) in a list but O(1) in a set or dict — that single difference is why we've spent the whole lecture on hashing. Walk each row and colour-code in your voice: red = slow, green = fast. Balance the picture honestly: lists win when you need order or duplicates. End with the practical rule in the green bar — choose the data structure that matches what the task does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this into a quick-fire drill. Read a question, pause, let a student attempt it, then reveal the model answer. These five are the fundamentals: define hashing, hash function, hash table, collision, and why lookup is O(1). Encourage them to answer in one or two sentences — interviewers want clarity, not essays. Reinforce that these all connect: a hash function feeds a hash table, collisions are handled by key comparison, and the direct addressing is what gives 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batch covers the 'gotcha' questions. The remove() vs discard() distinction and the set vs list comparison come up constantly — drill them until answers are reflexive. For 'why are lists unhashable', make them connect it back to slide 9: mutability would move the key's slot. For 'why unordered', tie to slide 17: bucket position, not insertion. Ask students to give the one-word memory hooks: mutable = unhashable, remove = strict, discard =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advanced-but-common set. frozenset often stumps people — stress it's the immutable, hashable cousin of a set, which is why it can be a dictionary key. The dedupe idiom list(set(x)) is asked in almost every junior interview; also give them the order-preserving alternative dict.fromkeys(). Clarify the subtle point on dict ordering: yes, modern dicts remember insertion order, but that's a separate feature from how keys are FOUND, which is still pure hashing.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live poll — hands up for a, b, c or d — or as a printed quiz. Give about 20-30 seconds per question. The answer key (keep for yourself): 1-c, 2-b, 3-b, 4-c, 5-b, 6-b, 7-c, 8-b, 9-b, 10-b. After revealing each, ask a student to justify WHY the wrong options are wrong — that's where real understanding shows. These map directly to every section we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hands-on — ideally students type them in a Python shell. They deliberately mirror the real-world slide, so each task has a clean set-based solution: dedupe with set(), unique words with set(text.split()), common items with &amp;, subset with issubset, changes with ^. Circulate and help. If time is short, assign the odd numbers in class and even numbers as homework. Encourage them to write the list-based version too, so they FEEL why the set version is shorter and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styles of thinking. Left column tests reasoning — students must explain the 'why', which reveals whether concepts stuck. Left answers (for you): mutability, key comparison after collision, small-int hashing luck, direct hash addressing, and no (a set is unhashable, but a frozenset works). Right column tests tracing. Right answers: 1) 3, 2) {1,3}, 3) {1,3}, 4) True, 5) [1,2,3]. Have students predict BEFORE running, then verify in Python — the surprise when they're wrong is the best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revision — perfect for the last five minutes or for students to photograph. Read each block as a single takeaway sentence; don't re-teach, just remind. Ask the class to call out the answer before you reveal each one: 'what makes something hashable?' 'why is lookup O(1)?' If they can complete these eight sentences from memory, the lesson landed. Point them to the practice slides for homework and offer to revisit any block they still find fuzzy.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encouragement. Remind them the entire lecture rests on ONE idea: turn data into a number so you can jump straight to it — and everything else (dictionaries, sets, collisions, operations) grows from that. Invite questions and, if time allows, open a live Python shell to try their own examples. Assign the practice slides as homework. End warmly: they now understand something most working programmers use daily without thinking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1.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48640" y="45720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3" name="Text 1"/>
          <p:cNvSpPr/>
          <p:nvPr/>
        </p:nvSpPr>
        <p:spPr>
          <a:xfrm>
            <a:off x="10881360" y="64008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4" name="Text 2"/>
          <p:cNvSpPr/>
          <p:nvPr/>
        </p:nvSpPr>
        <p:spPr>
          <a:xfrm>
            <a:off x="11338560" y="539496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5" name="Text 3"/>
          <p:cNvSpPr/>
          <p:nvPr/>
        </p:nvSpPr>
        <p:spPr>
          <a:xfrm>
            <a:off x="822960" y="566928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6" name="Text 4"/>
          <p:cNvSpPr/>
          <p:nvPr/>
        </p:nvSpPr>
        <p:spPr>
          <a:xfrm>
            <a:off x="5852160" y="27432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7" name="Text 5"/>
          <p:cNvSpPr/>
          <p:nvPr/>
        </p:nvSpPr>
        <p:spPr>
          <a:xfrm>
            <a:off x="9875520" y="310896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8" name="Text 6"/>
          <p:cNvSpPr/>
          <p:nvPr/>
        </p:nvSpPr>
        <p:spPr>
          <a:xfrm>
            <a:off x="2011680" y="4480560"/>
            <a:ext cx="1097280" cy="1097280"/>
          </a:xfrm>
          <a:prstGeom prst="rect">
            <a:avLst/>
          </a:prstGeom>
          <a:noFill/>
          <a:ln/>
        </p:spPr>
        <p:txBody>
          <a:bodyPr wrap="square" rtlCol="0" anchor="ctr"/>
          <a:lstStyle/>
          <a:p>
            <a:pPr algn="ctr" indent="0" marL="0">
              <a:buNone/>
            </a:pPr>
            <a:r>
              <a:rPr lang="en-US" sz="6000" b="1" dirty="0">
                <a:solidFill>
                  <a:srgbClr val="13395C"/>
                </a:solidFill>
                <a:latin typeface="Calibri" pitchFamily="34" charset="0"/>
                <a:ea typeface="Calibri" pitchFamily="34" charset="-122"/>
                <a:cs typeface="Calibri" pitchFamily="34" charset="-120"/>
              </a:rPr>
              <a:t>#</a:t>
            </a:r>
            <a:endParaRPr lang="en-US" sz="6000" dirty="0"/>
          </a:p>
        </p:txBody>
      </p:sp>
      <p:sp>
        <p:nvSpPr>
          <p:cNvPr id="9" name="Shape 7"/>
          <p:cNvSpPr/>
          <p:nvPr/>
        </p:nvSpPr>
        <p:spPr>
          <a:xfrm>
            <a:off x="5120640" y="1417320"/>
            <a:ext cx="1947672" cy="1371600"/>
          </a:xfrm>
          <a:prstGeom prst="roundRect">
            <a:avLst>
              <a:gd name="adj" fmla="val 10667"/>
            </a:avLst>
          </a:prstGeom>
          <a:solidFill>
            <a:srgbClr val="1C5D99"/>
          </a:solidFill>
          <a:ln/>
          <a:effectLst>
            <a:outerShdw sx="100000" sy="100000" kx="0" ky="0" algn="bl" rotWithShape="0" blurRad="152400" dist="63500" dir="5400000">
              <a:srgbClr val="000000">
                <a:alpha val="35000"/>
              </a:srgbClr>
            </a:outerShdw>
          </a:effectLst>
        </p:spPr>
      </p:sp>
      <p:pic>
        <p:nvPicPr>
          <p:cNvPr id="10" name="Image 0" descr="preencoded.png">    </p:cNvPr>
          <p:cNvPicPr>
            <a:picLocks noChangeAspect="1"/>
          </p:cNvPicPr>
          <p:nvPr/>
        </p:nvPicPr>
        <p:blipFill>
          <a:blip r:embed="rId1"/>
          <a:stretch>
            <a:fillRect/>
          </a:stretch>
        </p:blipFill>
        <p:spPr>
          <a:xfrm>
            <a:off x="5742432" y="1737360"/>
            <a:ext cx="713232" cy="713232"/>
          </a:xfrm>
          <a:prstGeom prst="rect">
            <a:avLst/>
          </a:prstGeom>
        </p:spPr>
      </p:pic>
      <p:sp>
        <p:nvSpPr>
          <p:cNvPr id="11" name="Text 8"/>
          <p:cNvSpPr/>
          <p:nvPr/>
        </p:nvSpPr>
        <p:spPr>
          <a:xfrm>
            <a:off x="914400" y="2971800"/>
            <a:ext cx="10360152" cy="91440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Python Hashing &amp; Sets</a:t>
            </a:r>
            <a:endParaRPr lang="en-US" sz="5200" dirty="0"/>
          </a:p>
        </p:txBody>
      </p:sp>
      <p:sp>
        <p:nvSpPr>
          <p:cNvPr id="12" name="Text 9"/>
          <p:cNvSpPr/>
          <p:nvPr/>
        </p:nvSpPr>
        <p:spPr>
          <a:xfrm>
            <a:off x="1371600" y="3977640"/>
            <a:ext cx="9445752" cy="457200"/>
          </a:xfrm>
          <a:prstGeom prst="rect">
            <a:avLst/>
          </a:prstGeom>
          <a:noFill/>
          <a:ln/>
        </p:spPr>
        <p:txBody>
          <a:bodyPr wrap="square" rtlCol="0" anchor="ctr"/>
          <a:lstStyle/>
          <a:p>
            <a:pPr algn="ctr" indent="0" marL="0">
              <a:buNone/>
            </a:pPr>
            <a:r>
              <a:rPr lang="en-US" sz="1900" dirty="0">
                <a:solidFill>
                  <a:srgbClr val="AFC8E0"/>
                </a:solidFill>
                <a:latin typeface="Calibri" pitchFamily="34" charset="0"/>
                <a:ea typeface="Calibri" pitchFamily="34" charset="-122"/>
                <a:cs typeface="Calibri" pitchFamily="34" charset="-120"/>
              </a:rPr>
              <a:t>A beginner-friendly deep dive into hashing, dictionaries, and sets</a:t>
            </a:r>
            <a:endParaRPr lang="en-US" sz="1900" dirty="0"/>
          </a:p>
        </p:txBody>
      </p:sp>
      <p:sp>
        <p:nvSpPr>
          <p:cNvPr id="13" name="Text 10"/>
          <p:cNvSpPr/>
          <p:nvPr/>
        </p:nvSpPr>
        <p:spPr>
          <a:xfrm>
            <a:off x="4023360" y="4892040"/>
            <a:ext cx="4142232" cy="457200"/>
          </a:xfrm>
          <a:prstGeom prst="rect">
            <a:avLst/>
          </a:prstGeom>
          <a:solidFill>
            <a:srgbClr val="13395C"/>
          </a:solidFill>
          <a:ln/>
        </p:spPr>
        <p:txBody>
          <a:bodyPr wrap="square" lIns="25400" tIns="25400" rIns="25400" bIns="25400" rtlCol="0" anchor="ctr"/>
          <a:lstStyle/>
          <a:p>
            <a:pPr algn="ctr" indent="0" marL="0">
              <a:buNone/>
            </a:pPr>
            <a:r>
              <a:rPr lang="en-US" sz="1300" b="1" dirty="0">
                <a:solidFill>
                  <a:srgbClr val="9FC2E0"/>
                </a:solidFill>
                <a:latin typeface="Calibri" pitchFamily="34" charset="0"/>
                <a:ea typeface="Calibri" pitchFamily="34" charset="-122"/>
                <a:cs typeface="Calibri" pitchFamily="34" charset="-120"/>
              </a:rPr>
              <a:t>COMPLETE  CLASSROOM  GUIDE</a:t>
            </a:r>
            <a:endParaRPr lang="en-US" sz="1300" dirty="0"/>
          </a:p>
        </p:txBody>
      </p:sp>
      <p:sp>
        <p:nvSpPr>
          <p:cNvPr id="14" name="Text 11"/>
          <p:cNvSpPr/>
          <p:nvPr/>
        </p:nvSpPr>
        <p:spPr>
          <a:xfrm>
            <a:off x="914400" y="5715000"/>
            <a:ext cx="10360152" cy="365760"/>
          </a:xfrm>
          <a:prstGeom prst="rect">
            <a:avLst/>
          </a:prstGeom>
          <a:noFill/>
          <a:ln/>
        </p:spPr>
        <p:txBody>
          <a:bodyPr wrap="square" rtlCol="0" anchor="ctr"/>
          <a:lstStyle/>
          <a:p>
            <a:pPr algn="ctr" indent="0" marL="0">
              <a:buNone/>
            </a:pPr>
            <a:r>
              <a:rPr lang="en-US" sz="1300" dirty="0">
                <a:solidFill>
                  <a:srgbClr val="6E90B4"/>
                </a:solidFill>
                <a:latin typeface="Calibri" pitchFamily="34" charset="0"/>
                <a:ea typeface="Calibri" pitchFamily="34" charset="-122"/>
                <a:cs typeface="Calibri" pitchFamily="34" charset="-120"/>
              </a:rPr>
              <a:t>Computer Science  •  Introductory Level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OVERVIEW</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What We'll Learn Today</a:t>
            </a:r>
            <a:endParaRPr lang="en-US" sz="2600" dirty="0"/>
          </a:p>
        </p:txBody>
      </p:sp>
      <p:sp>
        <p:nvSpPr>
          <p:cNvPr id="6" name="Shape 3"/>
          <p:cNvSpPr/>
          <p:nvPr/>
        </p:nvSpPr>
        <p:spPr>
          <a:xfrm>
            <a:off x="548640" y="1417320"/>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7" name="Shape 4"/>
          <p:cNvSpPr/>
          <p:nvPr/>
        </p:nvSpPr>
        <p:spPr>
          <a:xfrm>
            <a:off x="749808" y="1636776"/>
            <a:ext cx="566928" cy="566928"/>
          </a:xfrm>
          <a:prstGeom prst="roundRect">
            <a:avLst>
              <a:gd name="adj" fmla="val 16129"/>
            </a:avLst>
          </a:prstGeom>
          <a:solidFill>
            <a:srgbClr val="1C5D99"/>
          </a:solidFill>
          <a:ln/>
        </p:spPr>
      </p:sp>
      <p:pic>
        <p:nvPicPr>
          <p:cNvPr id="8" name="Image 1" descr="preencoded.png">    </p:cNvPr>
          <p:cNvPicPr>
            <a:picLocks noChangeAspect="1"/>
          </p:cNvPicPr>
          <p:nvPr/>
        </p:nvPicPr>
        <p:blipFill>
          <a:blip r:embed="rId2"/>
          <a:stretch>
            <a:fillRect/>
          </a:stretch>
        </p:blipFill>
        <p:spPr>
          <a:xfrm>
            <a:off x="886968" y="1773936"/>
            <a:ext cx="292608" cy="292608"/>
          </a:xfrm>
          <a:prstGeom prst="rect">
            <a:avLst/>
          </a:prstGeom>
        </p:spPr>
      </p:pic>
      <p:sp>
        <p:nvSpPr>
          <p:cNvPr id="9" name="Text 5"/>
          <p:cNvSpPr/>
          <p:nvPr/>
        </p:nvSpPr>
        <p:spPr>
          <a:xfrm>
            <a:off x="1463040" y="1618488"/>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The Idea of Hashing</a:t>
            </a:r>
            <a:endParaRPr lang="en-US" sz="1450" dirty="0"/>
          </a:p>
        </p:txBody>
      </p:sp>
      <p:sp>
        <p:nvSpPr>
          <p:cNvPr id="10" name="Text 6"/>
          <p:cNvSpPr/>
          <p:nvPr/>
        </p:nvSpPr>
        <p:spPr>
          <a:xfrm>
            <a:off x="1463040" y="2075688"/>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Why it exists &amp; the problem it solves</a:t>
            </a:r>
            <a:endParaRPr lang="en-US" sz="1100" dirty="0"/>
          </a:p>
        </p:txBody>
      </p:sp>
      <p:sp>
        <p:nvSpPr>
          <p:cNvPr id="11" name="Shape 7"/>
          <p:cNvSpPr/>
          <p:nvPr/>
        </p:nvSpPr>
        <p:spPr>
          <a:xfrm>
            <a:off x="548640" y="2990088"/>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12" name="Shape 8"/>
          <p:cNvSpPr/>
          <p:nvPr/>
        </p:nvSpPr>
        <p:spPr>
          <a:xfrm>
            <a:off x="749808" y="3209544"/>
            <a:ext cx="566928" cy="566928"/>
          </a:xfrm>
          <a:prstGeom prst="roundRect">
            <a:avLst>
              <a:gd name="adj" fmla="val 16129"/>
            </a:avLst>
          </a:prstGeom>
          <a:solidFill>
            <a:srgbClr val="1C5D99"/>
          </a:solidFill>
          <a:ln/>
        </p:spPr>
      </p:sp>
      <p:pic>
        <p:nvPicPr>
          <p:cNvPr id="13" name="Image 2" descr="preencoded.png">    </p:cNvPr>
          <p:cNvPicPr>
            <a:picLocks noChangeAspect="1"/>
          </p:cNvPicPr>
          <p:nvPr/>
        </p:nvPicPr>
        <p:blipFill>
          <a:blip r:embed="rId3"/>
          <a:stretch>
            <a:fillRect/>
          </a:stretch>
        </p:blipFill>
        <p:spPr>
          <a:xfrm>
            <a:off x="886968" y="3346704"/>
            <a:ext cx="292608" cy="292608"/>
          </a:xfrm>
          <a:prstGeom prst="rect">
            <a:avLst/>
          </a:prstGeom>
        </p:spPr>
      </p:pic>
      <p:sp>
        <p:nvSpPr>
          <p:cNvPr id="14" name="Text 9"/>
          <p:cNvSpPr/>
          <p:nvPr/>
        </p:nvSpPr>
        <p:spPr>
          <a:xfrm>
            <a:off x="1463040" y="3191256"/>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Hash &amp; hash()</a:t>
            </a:r>
            <a:endParaRPr lang="en-US" sz="1450" dirty="0"/>
          </a:p>
        </p:txBody>
      </p:sp>
      <p:sp>
        <p:nvSpPr>
          <p:cNvPr id="15" name="Text 10"/>
          <p:cNvSpPr/>
          <p:nvPr/>
        </p:nvSpPr>
        <p:spPr>
          <a:xfrm>
            <a:off x="1463040" y="3648456"/>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How Python turns data into numbers</a:t>
            </a:r>
            <a:endParaRPr lang="en-US" sz="1100" dirty="0"/>
          </a:p>
        </p:txBody>
      </p:sp>
      <p:sp>
        <p:nvSpPr>
          <p:cNvPr id="16" name="Shape 11"/>
          <p:cNvSpPr/>
          <p:nvPr/>
        </p:nvSpPr>
        <p:spPr>
          <a:xfrm>
            <a:off x="548640" y="4562856"/>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17" name="Shape 12"/>
          <p:cNvSpPr/>
          <p:nvPr/>
        </p:nvSpPr>
        <p:spPr>
          <a:xfrm>
            <a:off x="749808" y="4782312"/>
            <a:ext cx="566928" cy="566928"/>
          </a:xfrm>
          <a:prstGeom prst="roundRect">
            <a:avLst>
              <a:gd name="adj" fmla="val 16129"/>
            </a:avLst>
          </a:prstGeom>
          <a:solidFill>
            <a:srgbClr val="1C5D99"/>
          </a:solidFill>
          <a:ln/>
        </p:spPr>
      </p:sp>
      <p:pic>
        <p:nvPicPr>
          <p:cNvPr id="18" name="Image 3" descr="preencoded.png">    </p:cNvPr>
          <p:cNvPicPr>
            <a:picLocks noChangeAspect="1"/>
          </p:cNvPicPr>
          <p:nvPr/>
        </p:nvPicPr>
        <p:blipFill>
          <a:blip r:embed="rId4"/>
          <a:stretch>
            <a:fillRect/>
          </a:stretch>
        </p:blipFill>
        <p:spPr>
          <a:xfrm>
            <a:off x="886968" y="4919472"/>
            <a:ext cx="292608" cy="292608"/>
          </a:xfrm>
          <a:prstGeom prst="rect">
            <a:avLst/>
          </a:prstGeom>
        </p:spPr>
      </p:pic>
      <p:sp>
        <p:nvSpPr>
          <p:cNvPr id="19" name="Text 13"/>
          <p:cNvSpPr/>
          <p:nvPr/>
        </p:nvSpPr>
        <p:spPr>
          <a:xfrm>
            <a:off x="1463040" y="4764024"/>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Hashable vs Unhashable</a:t>
            </a:r>
            <a:endParaRPr lang="en-US" sz="1450" dirty="0"/>
          </a:p>
        </p:txBody>
      </p:sp>
      <p:sp>
        <p:nvSpPr>
          <p:cNvPr id="20" name="Text 14"/>
          <p:cNvSpPr/>
          <p:nvPr/>
        </p:nvSpPr>
        <p:spPr>
          <a:xfrm>
            <a:off x="1463040" y="5221224"/>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Which objects can be keys — and why</a:t>
            </a:r>
            <a:endParaRPr lang="en-US" sz="1100" dirty="0"/>
          </a:p>
        </p:txBody>
      </p:sp>
      <p:sp>
        <p:nvSpPr>
          <p:cNvPr id="21" name="Shape 15"/>
          <p:cNvSpPr/>
          <p:nvPr/>
        </p:nvSpPr>
        <p:spPr>
          <a:xfrm>
            <a:off x="4315968" y="1417320"/>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22" name="Shape 16"/>
          <p:cNvSpPr/>
          <p:nvPr/>
        </p:nvSpPr>
        <p:spPr>
          <a:xfrm>
            <a:off x="4517136" y="1636776"/>
            <a:ext cx="566928" cy="566928"/>
          </a:xfrm>
          <a:prstGeom prst="roundRect">
            <a:avLst>
              <a:gd name="adj" fmla="val 16129"/>
            </a:avLst>
          </a:prstGeom>
          <a:solidFill>
            <a:srgbClr val="1C5D99"/>
          </a:solidFill>
          <a:ln/>
        </p:spPr>
      </p:sp>
      <p:pic>
        <p:nvPicPr>
          <p:cNvPr id="23" name="Image 4" descr="preencoded.png">    </p:cNvPr>
          <p:cNvPicPr>
            <a:picLocks noChangeAspect="1"/>
          </p:cNvPicPr>
          <p:nvPr/>
        </p:nvPicPr>
        <p:blipFill>
          <a:blip r:embed="rId5"/>
          <a:stretch>
            <a:fillRect/>
          </a:stretch>
        </p:blipFill>
        <p:spPr>
          <a:xfrm>
            <a:off x="4654296" y="1773936"/>
            <a:ext cx="292608" cy="292608"/>
          </a:xfrm>
          <a:prstGeom prst="rect">
            <a:avLst/>
          </a:prstGeom>
        </p:spPr>
      </p:pic>
      <p:sp>
        <p:nvSpPr>
          <p:cNvPr id="24" name="Text 17"/>
          <p:cNvSpPr/>
          <p:nvPr/>
        </p:nvSpPr>
        <p:spPr>
          <a:xfrm>
            <a:off x="5230368" y="1618488"/>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Dictionary &amp; Hash Tables</a:t>
            </a:r>
            <a:endParaRPr lang="en-US" sz="1450" dirty="0"/>
          </a:p>
        </p:txBody>
      </p:sp>
      <p:sp>
        <p:nvSpPr>
          <p:cNvPr id="25" name="Text 18"/>
          <p:cNvSpPr/>
          <p:nvPr/>
        </p:nvSpPr>
        <p:spPr>
          <a:xfrm>
            <a:off x="5230368" y="2075688"/>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How lookup becomes O(1)</a:t>
            </a:r>
            <a:endParaRPr lang="en-US" sz="1100" dirty="0"/>
          </a:p>
        </p:txBody>
      </p:sp>
      <p:sp>
        <p:nvSpPr>
          <p:cNvPr id="26" name="Shape 19"/>
          <p:cNvSpPr/>
          <p:nvPr/>
        </p:nvSpPr>
        <p:spPr>
          <a:xfrm>
            <a:off x="4315968" y="2990088"/>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27" name="Shape 20"/>
          <p:cNvSpPr/>
          <p:nvPr/>
        </p:nvSpPr>
        <p:spPr>
          <a:xfrm>
            <a:off x="4517136" y="3209544"/>
            <a:ext cx="566928" cy="566928"/>
          </a:xfrm>
          <a:prstGeom prst="roundRect">
            <a:avLst>
              <a:gd name="adj" fmla="val 16129"/>
            </a:avLst>
          </a:prstGeom>
          <a:solidFill>
            <a:srgbClr val="1C5D99"/>
          </a:solidFill>
          <a:ln/>
        </p:spPr>
      </p:sp>
      <p:pic>
        <p:nvPicPr>
          <p:cNvPr id="28" name="Image 5" descr="preencoded.png">    </p:cNvPr>
          <p:cNvPicPr>
            <a:picLocks noChangeAspect="1"/>
          </p:cNvPicPr>
          <p:nvPr/>
        </p:nvPicPr>
        <p:blipFill>
          <a:blip r:embed="rId6"/>
          <a:stretch>
            <a:fillRect/>
          </a:stretch>
        </p:blipFill>
        <p:spPr>
          <a:xfrm>
            <a:off x="4654296" y="3346704"/>
            <a:ext cx="292608" cy="292608"/>
          </a:xfrm>
          <a:prstGeom prst="rect">
            <a:avLst/>
          </a:prstGeom>
        </p:spPr>
      </p:pic>
      <p:sp>
        <p:nvSpPr>
          <p:cNvPr id="29" name="Text 21"/>
          <p:cNvSpPr/>
          <p:nvPr/>
        </p:nvSpPr>
        <p:spPr>
          <a:xfrm>
            <a:off x="5230368" y="3191256"/>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Lookup &amp; Collisions</a:t>
            </a:r>
            <a:endParaRPr lang="en-US" sz="1450" dirty="0"/>
          </a:p>
        </p:txBody>
      </p:sp>
      <p:sp>
        <p:nvSpPr>
          <p:cNvPr id="30" name="Text 22"/>
          <p:cNvSpPr/>
          <p:nvPr/>
        </p:nvSpPr>
        <p:spPr>
          <a:xfrm>
            <a:off x="5230368" y="3648456"/>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Step-by-step flow inside Python</a:t>
            </a:r>
            <a:endParaRPr lang="en-US" sz="1100" dirty="0"/>
          </a:p>
        </p:txBody>
      </p:sp>
      <p:sp>
        <p:nvSpPr>
          <p:cNvPr id="31" name="Shape 23"/>
          <p:cNvSpPr/>
          <p:nvPr/>
        </p:nvSpPr>
        <p:spPr>
          <a:xfrm>
            <a:off x="4315968" y="4562856"/>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32" name="Shape 24"/>
          <p:cNvSpPr/>
          <p:nvPr/>
        </p:nvSpPr>
        <p:spPr>
          <a:xfrm>
            <a:off x="4517136" y="4782312"/>
            <a:ext cx="566928" cy="566928"/>
          </a:xfrm>
          <a:prstGeom prst="roundRect">
            <a:avLst>
              <a:gd name="adj" fmla="val 16129"/>
            </a:avLst>
          </a:prstGeom>
          <a:solidFill>
            <a:srgbClr val="1C5D99"/>
          </a:solidFill>
          <a:ln/>
        </p:spPr>
      </p:sp>
      <p:pic>
        <p:nvPicPr>
          <p:cNvPr id="33" name="Image 6" descr="preencoded.png">    </p:cNvPr>
          <p:cNvPicPr>
            <a:picLocks noChangeAspect="1"/>
          </p:cNvPicPr>
          <p:nvPr/>
        </p:nvPicPr>
        <p:blipFill>
          <a:blip r:embed="rId7"/>
          <a:stretch>
            <a:fillRect/>
          </a:stretch>
        </p:blipFill>
        <p:spPr>
          <a:xfrm>
            <a:off x="4654296" y="4919472"/>
            <a:ext cx="292608" cy="292608"/>
          </a:xfrm>
          <a:prstGeom prst="rect">
            <a:avLst/>
          </a:prstGeom>
        </p:spPr>
      </p:pic>
      <p:sp>
        <p:nvSpPr>
          <p:cNvPr id="34" name="Text 25"/>
          <p:cNvSpPr/>
          <p:nvPr/>
        </p:nvSpPr>
        <p:spPr>
          <a:xfrm>
            <a:off x="5230368" y="4764024"/>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Python Sets</a:t>
            </a:r>
            <a:endParaRPr lang="en-US" sz="1450" dirty="0"/>
          </a:p>
        </p:txBody>
      </p:sp>
      <p:sp>
        <p:nvSpPr>
          <p:cNvPr id="35" name="Text 26"/>
          <p:cNvSpPr/>
          <p:nvPr/>
        </p:nvSpPr>
        <p:spPr>
          <a:xfrm>
            <a:off x="5230368" y="5221224"/>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Properties, order &amp; fast membership</a:t>
            </a:r>
            <a:endParaRPr lang="en-US" sz="1100" dirty="0"/>
          </a:p>
        </p:txBody>
      </p:sp>
      <p:sp>
        <p:nvSpPr>
          <p:cNvPr id="36" name="Shape 27"/>
          <p:cNvSpPr/>
          <p:nvPr/>
        </p:nvSpPr>
        <p:spPr>
          <a:xfrm>
            <a:off x="8083296" y="1417320"/>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37" name="Shape 28"/>
          <p:cNvSpPr/>
          <p:nvPr/>
        </p:nvSpPr>
        <p:spPr>
          <a:xfrm>
            <a:off x="8284464" y="1636776"/>
            <a:ext cx="566928" cy="566928"/>
          </a:xfrm>
          <a:prstGeom prst="roundRect">
            <a:avLst>
              <a:gd name="adj" fmla="val 16129"/>
            </a:avLst>
          </a:prstGeom>
          <a:solidFill>
            <a:srgbClr val="1C5D99"/>
          </a:solidFill>
          <a:ln/>
        </p:spPr>
      </p:sp>
      <p:pic>
        <p:nvPicPr>
          <p:cNvPr id="38" name="Image 7" descr="preencoded.png">    </p:cNvPr>
          <p:cNvPicPr>
            <a:picLocks noChangeAspect="1"/>
          </p:cNvPicPr>
          <p:nvPr/>
        </p:nvPicPr>
        <p:blipFill>
          <a:blip r:embed="rId8"/>
          <a:stretch>
            <a:fillRect/>
          </a:stretch>
        </p:blipFill>
        <p:spPr>
          <a:xfrm>
            <a:off x="8421624" y="1773936"/>
            <a:ext cx="292608" cy="292608"/>
          </a:xfrm>
          <a:prstGeom prst="rect">
            <a:avLst/>
          </a:prstGeom>
        </p:spPr>
      </p:pic>
      <p:sp>
        <p:nvSpPr>
          <p:cNvPr id="39" name="Text 29"/>
          <p:cNvSpPr/>
          <p:nvPr/>
        </p:nvSpPr>
        <p:spPr>
          <a:xfrm>
            <a:off x="8997696" y="1618488"/>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Set Methods &amp; Operations</a:t>
            </a:r>
            <a:endParaRPr lang="en-US" sz="1450" dirty="0"/>
          </a:p>
        </p:txBody>
      </p:sp>
      <p:sp>
        <p:nvSpPr>
          <p:cNvPr id="40" name="Text 30"/>
          <p:cNvSpPr/>
          <p:nvPr/>
        </p:nvSpPr>
        <p:spPr>
          <a:xfrm>
            <a:off x="8997696" y="2075688"/>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add, union, intersection &amp; more</a:t>
            </a:r>
            <a:endParaRPr lang="en-US" sz="1100" dirty="0"/>
          </a:p>
        </p:txBody>
      </p:sp>
      <p:sp>
        <p:nvSpPr>
          <p:cNvPr id="41" name="Shape 31"/>
          <p:cNvSpPr/>
          <p:nvPr/>
        </p:nvSpPr>
        <p:spPr>
          <a:xfrm>
            <a:off x="8083296" y="2990088"/>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42" name="Shape 32"/>
          <p:cNvSpPr/>
          <p:nvPr/>
        </p:nvSpPr>
        <p:spPr>
          <a:xfrm>
            <a:off x="8284464" y="3209544"/>
            <a:ext cx="566928" cy="566928"/>
          </a:xfrm>
          <a:prstGeom prst="roundRect">
            <a:avLst>
              <a:gd name="adj" fmla="val 16129"/>
            </a:avLst>
          </a:prstGeom>
          <a:solidFill>
            <a:srgbClr val="1C5D99"/>
          </a:solidFill>
          <a:ln/>
        </p:spPr>
      </p:sp>
      <p:pic>
        <p:nvPicPr>
          <p:cNvPr id="43" name="Image 8" descr="preencoded.png">    </p:cNvPr>
          <p:cNvPicPr>
            <a:picLocks noChangeAspect="1"/>
          </p:cNvPicPr>
          <p:nvPr/>
        </p:nvPicPr>
        <p:blipFill>
          <a:blip r:embed="rId9"/>
          <a:stretch>
            <a:fillRect/>
          </a:stretch>
        </p:blipFill>
        <p:spPr>
          <a:xfrm>
            <a:off x="8421624" y="3346704"/>
            <a:ext cx="292608" cy="292608"/>
          </a:xfrm>
          <a:prstGeom prst="rect">
            <a:avLst/>
          </a:prstGeom>
        </p:spPr>
      </p:pic>
      <p:sp>
        <p:nvSpPr>
          <p:cNvPr id="44" name="Text 33"/>
          <p:cNvSpPr/>
          <p:nvPr/>
        </p:nvSpPr>
        <p:spPr>
          <a:xfrm>
            <a:off x="8997696" y="3191256"/>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Real Uses &amp; Performance</a:t>
            </a:r>
            <a:endParaRPr lang="en-US" sz="1450" dirty="0"/>
          </a:p>
        </p:txBody>
      </p:sp>
      <p:sp>
        <p:nvSpPr>
          <p:cNvPr id="45" name="Text 34"/>
          <p:cNvSpPr/>
          <p:nvPr/>
        </p:nvSpPr>
        <p:spPr>
          <a:xfrm>
            <a:off x="8997696" y="3648456"/>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Where developers rely on sets</a:t>
            </a:r>
            <a:endParaRPr lang="en-US" sz="1100" dirty="0"/>
          </a:p>
        </p:txBody>
      </p:sp>
      <p:sp>
        <p:nvSpPr>
          <p:cNvPr id="46" name="Shape 35"/>
          <p:cNvSpPr/>
          <p:nvPr/>
        </p:nvSpPr>
        <p:spPr>
          <a:xfrm>
            <a:off x="8083296" y="4562856"/>
            <a:ext cx="3566160" cy="1417320"/>
          </a:xfrm>
          <a:prstGeom prst="roundRect">
            <a:avLst>
              <a:gd name="adj" fmla="val 5806"/>
            </a:avLst>
          </a:prstGeom>
          <a:solidFill>
            <a:srgbClr val="E8F1F9"/>
          </a:solidFill>
          <a:ln/>
          <a:effectLst>
            <a:outerShdw sx="100000" sy="100000" kx="0" ky="0" algn="bl" rotWithShape="0" blurRad="76200" dist="25400" dir="5400000">
              <a:srgbClr val="000000">
                <a:alpha val="12000"/>
              </a:srgbClr>
            </a:outerShdw>
          </a:effectLst>
        </p:spPr>
      </p:sp>
      <p:sp>
        <p:nvSpPr>
          <p:cNvPr id="47" name="Shape 36"/>
          <p:cNvSpPr/>
          <p:nvPr/>
        </p:nvSpPr>
        <p:spPr>
          <a:xfrm>
            <a:off x="8284464" y="4782312"/>
            <a:ext cx="566928" cy="566928"/>
          </a:xfrm>
          <a:prstGeom prst="roundRect">
            <a:avLst>
              <a:gd name="adj" fmla="val 16129"/>
            </a:avLst>
          </a:prstGeom>
          <a:solidFill>
            <a:srgbClr val="1C5D99"/>
          </a:solidFill>
          <a:ln/>
        </p:spPr>
      </p:sp>
      <p:pic>
        <p:nvPicPr>
          <p:cNvPr id="48" name="Image 9" descr="preencoded.png">    </p:cNvPr>
          <p:cNvPicPr>
            <a:picLocks noChangeAspect="1"/>
          </p:cNvPicPr>
          <p:nvPr/>
        </p:nvPicPr>
        <p:blipFill>
          <a:blip r:embed="rId10"/>
          <a:stretch>
            <a:fillRect/>
          </a:stretch>
        </p:blipFill>
        <p:spPr>
          <a:xfrm>
            <a:off x="8421624" y="4919472"/>
            <a:ext cx="292608" cy="292608"/>
          </a:xfrm>
          <a:prstGeom prst="rect">
            <a:avLst/>
          </a:prstGeom>
        </p:spPr>
      </p:pic>
      <p:sp>
        <p:nvSpPr>
          <p:cNvPr id="49" name="Text 37"/>
          <p:cNvSpPr/>
          <p:nvPr/>
        </p:nvSpPr>
        <p:spPr>
          <a:xfrm>
            <a:off x="8997696" y="4764024"/>
            <a:ext cx="2514600" cy="411480"/>
          </a:xfrm>
          <a:prstGeom prst="rect">
            <a:avLst/>
          </a:prstGeom>
          <a:noFill/>
          <a:ln/>
        </p:spPr>
        <p:txBody>
          <a:bodyPr wrap="square"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Interview Q&amp;A + Practice</a:t>
            </a:r>
            <a:endParaRPr lang="en-US" sz="1450" dirty="0"/>
          </a:p>
        </p:txBody>
      </p:sp>
      <p:sp>
        <p:nvSpPr>
          <p:cNvPr id="50" name="Text 38"/>
          <p:cNvSpPr/>
          <p:nvPr/>
        </p:nvSpPr>
        <p:spPr>
          <a:xfrm>
            <a:off x="8997696" y="5221224"/>
            <a:ext cx="2542032" cy="566928"/>
          </a:xfrm>
          <a:prstGeom prst="rect">
            <a:avLst/>
          </a:prstGeom>
          <a:noFill/>
          <a:ln/>
        </p:spPr>
        <p:txBody>
          <a:bodyPr wrap="square" rtlCol="0" anchor="t"/>
          <a:lstStyle/>
          <a:p>
            <a:pPr indent="0" marL="0">
              <a:buNone/>
            </a:pPr>
            <a:r>
              <a:rPr lang="en-US" sz="1100" dirty="0">
                <a:solidFill>
                  <a:srgbClr val="5C7488"/>
                </a:solidFill>
                <a:latin typeface="Calibri" pitchFamily="34" charset="0"/>
                <a:ea typeface="Calibri" pitchFamily="34" charset="-122"/>
                <a:cs typeface="Calibri" pitchFamily="34" charset="-120"/>
              </a:rPr>
              <a:t>Revise, test &amp; apply what you learn</a:t>
            </a:r>
            <a:endParaRPr lang="en-US" sz="1100" dirty="0"/>
          </a:p>
        </p:txBody>
      </p:sp>
      <p:sp>
        <p:nvSpPr>
          <p:cNvPr id="51" name="Text 39"/>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52" name="Text 40"/>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 · INTRODUCTION</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What Is Hashing?</a:t>
            </a:r>
            <a:endParaRPr lang="en-US" sz="2600" dirty="0"/>
          </a:p>
        </p:txBody>
      </p:sp>
      <p:sp>
        <p:nvSpPr>
          <p:cNvPr id="6" name="Shape 3"/>
          <p:cNvSpPr/>
          <p:nvPr/>
        </p:nvSpPr>
        <p:spPr>
          <a:xfrm>
            <a:off x="548640" y="1371600"/>
            <a:ext cx="5486400" cy="4480560"/>
          </a:xfrm>
          <a:prstGeom prst="roundRect">
            <a:avLst>
              <a:gd name="adj" fmla="val 1837"/>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822960" y="1554480"/>
            <a:ext cx="4937760" cy="32004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The one-line idea</a:t>
            </a:r>
            <a:endParaRPr lang="en-US" sz="1300" dirty="0"/>
          </a:p>
        </p:txBody>
      </p:sp>
      <p:sp>
        <p:nvSpPr>
          <p:cNvPr id="8" name="Text 5"/>
          <p:cNvSpPr/>
          <p:nvPr/>
        </p:nvSpPr>
        <p:spPr>
          <a:xfrm>
            <a:off x="822960" y="1874520"/>
            <a:ext cx="4937760" cy="1005840"/>
          </a:xfrm>
          <a:prstGeom prst="rect">
            <a:avLst/>
          </a:prstGeom>
          <a:noFill/>
          <a:ln/>
        </p:spPr>
        <p:txBody>
          <a:bodyPr wrap="square" rtlCol="0" anchor="t"/>
          <a:lstStyle/>
          <a:p>
            <a:pPr indent="0" marL="0">
              <a:buNone/>
            </a:pPr>
            <a:r>
              <a:rPr lang="en-US" sz="1700" dirty="0">
                <a:solidFill>
                  <a:srgbClr val="16283B"/>
                </a:solidFill>
                <a:latin typeface="Calibri" pitchFamily="34" charset="0"/>
                <a:ea typeface="Calibri" pitchFamily="34" charset="-122"/>
                <a:cs typeface="Calibri" pitchFamily="34" charset="-120"/>
              </a:rPr>
              <a:t>Hashing turns any piece of data into a fixed number — and that number tells Python exactly where to store or find it.</a:t>
            </a:r>
            <a:endParaRPr lang="en-US" sz="1700" dirty="0"/>
          </a:p>
        </p:txBody>
      </p:sp>
      <p:sp>
        <p:nvSpPr>
          <p:cNvPr id="9" name="Text 6"/>
          <p:cNvSpPr/>
          <p:nvPr/>
        </p:nvSpPr>
        <p:spPr>
          <a:xfrm>
            <a:off x="822960" y="2971800"/>
            <a:ext cx="4937760" cy="1280160"/>
          </a:xfrm>
          <a:prstGeom prst="rect">
            <a:avLst/>
          </a:prstGeom>
          <a:noFill/>
          <a:ln/>
        </p:spPr>
        <p:txBody>
          <a:bodyPr wrap="square" rtlCol="0" anchor="t"/>
          <a:lstStyle/>
          <a:p>
            <a:pPr indent="0" marL="0">
              <a:lnSpc>
                <a:spcPct val="115000"/>
              </a:lnSpc>
              <a:buNone/>
            </a:pPr>
            <a:r>
              <a:rPr lang="en-US" sz="1500" b="1" dirty="0">
                <a:solidFill>
                  <a:srgbClr val="0A2540"/>
                </a:solidFill>
                <a:latin typeface="Calibri" pitchFamily="34" charset="0"/>
                <a:ea typeface="Calibri" pitchFamily="34" charset="-122"/>
                <a:cs typeface="Calibri" pitchFamily="34" charset="-120"/>
              </a:rPr>
              <a:t>Think of a coat-check counter.  </a:t>
            </a:r>
            <a:pPr indent="0" marL="0">
              <a:lnSpc>
                <a:spcPct val="115000"/>
              </a:lnSpc>
              <a:buNone/>
            </a:pPr>
            <a:r>
              <a:rPr lang="en-US" sz="1500" dirty="0">
                <a:solidFill>
                  <a:srgbClr val="16283B"/>
                </a:solidFill>
                <a:latin typeface="Calibri" pitchFamily="34" charset="0"/>
                <a:ea typeface="Calibri" pitchFamily="34" charset="-122"/>
                <a:cs typeface="Calibri" pitchFamily="34" charset="-120"/>
              </a:rPr>
              <a:t>You hand in a coat and get ticket #47. Later you don't search every coat — you go straight to slot 47. The ticket number is the </a:t>
            </a:r>
            <a:pPr indent="0" marL="0">
              <a:lnSpc>
                <a:spcPct val="115000"/>
              </a:lnSpc>
              <a:buNone/>
            </a:pPr>
            <a:r>
              <a:rPr lang="en-US" sz="1500" b="1" dirty="0">
                <a:solidFill>
                  <a:srgbClr val="1C5D99"/>
                </a:solidFill>
                <a:latin typeface="Calibri" pitchFamily="34" charset="0"/>
                <a:ea typeface="Calibri" pitchFamily="34" charset="-122"/>
                <a:cs typeface="Calibri" pitchFamily="34" charset="-120"/>
              </a:rPr>
              <a:t>hash</a:t>
            </a:r>
            <a:pPr indent="0" marL="0">
              <a:lnSpc>
                <a:spcPct val="115000"/>
              </a:lnSpc>
              <a:buNone/>
            </a:pPr>
            <a:r>
              <a:rPr lang="en-US" sz="1500" dirty="0">
                <a:solidFill>
                  <a:srgbClr val="16283B"/>
                </a:solidFill>
                <a:latin typeface="Calibri" pitchFamily="34" charset="0"/>
                <a:ea typeface="Calibri" pitchFamily="34" charset="-122"/>
                <a:cs typeface="Calibri" pitchFamily="34" charset="-120"/>
              </a:rPr>
              <a:t>.</a:t>
            </a:r>
            <a:endParaRPr lang="en-US" sz="1500" dirty="0"/>
          </a:p>
        </p:txBody>
      </p:sp>
      <p:sp>
        <p:nvSpPr>
          <p:cNvPr id="10" name="Text 7"/>
          <p:cNvSpPr/>
          <p:nvPr/>
        </p:nvSpPr>
        <p:spPr>
          <a:xfrm>
            <a:off x="822960" y="5074920"/>
            <a:ext cx="4754880" cy="548640"/>
          </a:xfrm>
          <a:prstGeom prst="rect">
            <a:avLst/>
          </a:prstGeom>
          <a:solidFill>
            <a:srgbClr val="0A2540"/>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  →  Hash Function  →  Number  →  Location</a:t>
            </a:r>
            <a:endParaRPr lang="en-US" sz="1400" dirty="0"/>
          </a:p>
        </p:txBody>
      </p:sp>
      <p:sp>
        <p:nvSpPr>
          <p:cNvPr id="11" name="Shape 8"/>
          <p:cNvSpPr/>
          <p:nvPr/>
        </p:nvSpPr>
        <p:spPr>
          <a:xfrm>
            <a:off x="6309360" y="1371600"/>
            <a:ext cx="5330952" cy="4480560"/>
          </a:xfrm>
          <a:prstGeom prst="roundRect">
            <a:avLst>
              <a:gd name="adj" fmla="val 1837"/>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2" name="Text 9"/>
          <p:cNvSpPr/>
          <p:nvPr/>
        </p:nvSpPr>
        <p:spPr>
          <a:xfrm>
            <a:off x="6583680" y="1572768"/>
            <a:ext cx="4754880" cy="32004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How the idea flows</a:t>
            </a:r>
            <a:endParaRPr lang="en-US" sz="1300" dirty="0"/>
          </a:p>
        </p:txBody>
      </p:sp>
      <p:sp>
        <p:nvSpPr>
          <p:cNvPr id="13" name="Shape 10"/>
          <p:cNvSpPr/>
          <p:nvPr/>
        </p:nvSpPr>
        <p:spPr>
          <a:xfrm>
            <a:off x="7452360" y="2057400"/>
            <a:ext cx="3017520" cy="566928"/>
          </a:xfrm>
          <a:prstGeom prst="roundRect">
            <a:avLst>
              <a:gd name="adj" fmla="val 11290"/>
            </a:avLst>
          </a:prstGeom>
          <a:solidFill>
            <a:srgbClr val="E8F1F9"/>
          </a:solidFill>
          <a:ln/>
          <a:effectLst>
            <a:outerShdw sx="100000" sy="100000" kx="0" ky="0" algn="bl" rotWithShape="0" blurRad="63500" dist="25400" dir="5400000">
              <a:srgbClr val="000000">
                <a:alpha val="14000"/>
              </a:srgbClr>
            </a:outerShdw>
          </a:effectLst>
        </p:spPr>
      </p:sp>
      <p:sp>
        <p:nvSpPr>
          <p:cNvPr id="14" name="Text 11"/>
          <p:cNvSpPr/>
          <p:nvPr/>
        </p:nvSpPr>
        <p:spPr>
          <a:xfrm>
            <a:off x="7498080" y="2057400"/>
            <a:ext cx="2926080" cy="566928"/>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"Ali"</a:t>
            </a:r>
            <a:endParaRPr lang="en-US" sz="1500" dirty="0"/>
          </a:p>
        </p:txBody>
      </p:sp>
      <p:sp>
        <p:nvSpPr>
          <p:cNvPr id="15" name="Text 12"/>
          <p:cNvSpPr/>
          <p:nvPr/>
        </p:nvSpPr>
        <p:spPr>
          <a:xfrm>
            <a:off x="8732520" y="2606040"/>
            <a:ext cx="457200" cy="384048"/>
          </a:xfrm>
          <a:prstGeom prst="rect">
            <a:avLst/>
          </a:prstGeom>
          <a:noFill/>
          <a:ln/>
        </p:spPr>
        <p:txBody>
          <a:bodyPr wrap="square" lIns="0" tIns="0" rIns="0" bIns="0" rtlCol="0" anchor="ctr"/>
          <a:lstStyle/>
          <a:p>
            <a:pPr algn="ctr" indent="0" marL="0">
              <a:buNone/>
            </a:pPr>
            <a:r>
              <a:rPr lang="en-US" sz="2600" b="1" dirty="0">
                <a:solidFill>
                  <a:srgbClr val="1C5D99"/>
                </a:solidFill>
                <a:latin typeface="Calibri" pitchFamily="34" charset="0"/>
                <a:ea typeface="Calibri" pitchFamily="34" charset="-122"/>
                <a:cs typeface="Calibri" pitchFamily="34" charset="-120"/>
              </a:rPr>
              <a:t>↓</a:t>
            </a:r>
            <a:endParaRPr lang="en-US" sz="2600" dirty="0"/>
          </a:p>
        </p:txBody>
      </p:sp>
      <p:sp>
        <p:nvSpPr>
          <p:cNvPr id="16" name="Shape 13"/>
          <p:cNvSpPr/>
          <p:nvPr/>
        </p:nvSpPr>
        <p:spPr>
          <a:xfrm>
            <a:off x="7452360" y="2999232"/>
            <a:ext cx="3017520" cy="566928"/>
          </a:xfrm>
          <a:prstGeom prst="roundRect">
            <a:avLst>
              <a:gd name="adj" fmla="val 11290"/>
            </a:avLst>
          </a:prstGeom>
          <a:solidFill>
            <a:srgbClr val="1C5D99"/>
          </a:solidFill>
          <a:ln/>
          <a:effectLst>
            <a:outerShdw sx="100000" sy="100000" kx="0" ky="0" algn="bl" rotWithShape="0" blurRad="63500" dist="25400" dir="5400000">
              <a:srgbClr val="000000">
                <a:alpha val="14000"/>
              </a:srgbClr>
            </a:outerShdw>
          </a:effectLst>
        </p:spPr>
      </p:sp>
      <p:sp>
        <p:nvSpPr>
          <p:cNvPr id="17" name="Text 14"/>
          <p:cNvSpPr/>
          <p:nvPr/>
        </p:nvSpPr>
        <p:spPr>
          <a:xfrm>
            <a:off x="7498080" y="2999232"/>
            <a:ext cx="292608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hash("Ali")</a:t>
            </a:r>
            <a:endParaRPr lang="en-US" sz="1400" dirty="0"/>
          </a:p>
        </p:txBody>
      </p:sp>
      <p:sp>
        <p:nvSpPr>
          <p:cNvPr id="18" name="Text 15"/>
          <p:cNvSpPr/>
          <p:nvPr/>
        </p:nvSpPr>
        <p:spPr>
          <a:xfrm>
            <a:off x="8732520" y="3547872"/>
            <a:ext cx="457200" cy="384048"/>
          </a:xfrm>
          <a:prstGeom prst="rect">
            <a:avLst/>
          </a:prstGeom>
          <a:noFill/>
          <a:ln/>
        </p:spPr>
        <p:txBody>
          <a:bodyPr wrap="square" lIns="0" tIns="0" rIns="0" bIns="0" rtlCol="0" anchor="ctr"/>
          <a:lstStyle/>
          <a:p>
            <a:pPr algn="ctr" indent="0" marL="0">
              <a:buNone/>
            </a:pPr>
            <a:r>
              <a:rPr lang="en-US" sz="2600" b="1" dirty="0">
                <a:solidFill>
                  <a:srgbClr val="1C5D99"/>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7452360" y="3941064"/>
            <a:ext cx="3017520" cy="566928"/>
          </a:xfrm>
          <a:prstGeom prst="roundRect">
            <a:avLst>
              <a:gd name="adj" fmla="val 11290"/>
            </a:avLst>
          </a:prstGeom>
          <a:solidFill>
            <a:srgbClr val="12395B"/>
          </a:solidFill>
          <a:ln/>
          <a:effectLst>
            <a:outerShdw sx="100000" sy="100000" kx="0" ky="0" algn="bl" rotWithShape="0" blurRad="63500" dist="25400" dir="5400000">
              <a:srgbClr val="000000">
                <a:alpha val="14000"/>
              </a:srgbClr>
            </a:outerShdw>
          </a:effectLst>
        </p:spPr>
      </p:sp>
      <p:sp>
        <p:nvSpPr>
          <p:cNvPr id="20" name="Text 17"/>
          <p:cNvSpPr/>
          <p:nvPr/>
        </p:nvSpPr>
        <p:spPr>
          <a:xfrm>
            <a:off x="7498080" y="3941064"/>
            <a:ext cx="292608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Number:  641...273</a:t>
            </a:r>
            <a:endParaRPr lang="en-US" sz="1400" dirty="0"/>
          </a:p>
        </p:txBody>
      </p:sp>
      <p:sp>
        <p:nvSpPr>
          <p:cNvPr id="21" name="Text 18"/>
          <p:cNvSpPr/>
          <p:nvPr/>
        </p:nvSpPr>
        <p:spPr>
          <a:xfrm>
            <a:off x="8732520" y="4489704"/>
            <a:ext cx="457200" cy="384048"/>
          </a:xfrm>
          <a:prstGeom prst="rect">
            <a:avLst/>
          </a:prstGeom>
          <a:noFill/>
          <a:ln/>
        </p:spPr>
        <p:txBody>
          <a:bodyPr wrap="square" lIns="0" tIns="0" rIns="0" bIns="0" rtlCol="0" anchor="ctr"/>
          <a:lstStyle/>
          <a:p>
            <a:pPr algn="ctr" indent="0" marL="0">
              <a:buNone/>
            </a:pPr>
            <a:r>
              <a:rPr lang="en-US" sz="2600" b="1" dirty="0">
                <a:solidFill>
                  <a:srgbClr val="1C5D99"/>
                </a:solidFill>
                <a:latin typeface="Calibri" pitchFamily="34" charset="0"/>
                <a:ea typeface="Calibri" pitchFamily="34" charset="-122"/>
                <a:cs typeface="Calibri" pitchFamily="34" charset="-120"/>
              </a:rPr>
              <a:t>↓</a:t>
            </a:r>
            <a:endParaRPr lang="en-US" sz="2600" dirty="0"/>
          </a:p>
        </p:txBody>
      </p:sp>
      <p:sp>
        <p:nvSpPr>
          <p:cNvPr id="22" name="Shape 19"/>
          <p:cNvSpPr/>
          <p:nvPr/>
        </p:nvSpPr>
        <p:spPr>
          <a:xfrm>
            <a:off x="7452360" y="4882896"/>
            <a:ext cx="3017520" cy="566928"/>
          </a:xfrm>
          <a:prstGeom prst="roundRect">
            <a:avLst>
              <a:gd name="adj" fmla="val 11290"/>
            </a:avLst>
          </a:prstGeom>
          <a:solidFill>
            <a:srgbClr val="2E9E6B"/>
          </a:solidFill>
          <a:ln/>
          <a:effectLst>
            <a:outerShdw sx="100000" sy="100000" kx="0" ky="0" algn="bl" rotWithShape="0" blurRad="63500" dist="25400" dir="5400000">
              <a:srgbClr val="000000">
                <a:alpha val="14000"/>
              </a:srgbClr>
            </a:outerShdw>
          </a:effectLst>
        </p:spPr>
      </p:sp>
      <p:sp>
        <p:nvSpPr>
          <p:cNvPr id="23" name="Text 20"/>
          <p:cNvSpPr/>
          <p:nvPr/>
        </p:nvSpPr>
        <p:spPr>
          <a:xfrm>
            <a:off x="7498080" y="4882896"/>
            <a:ext cx="292608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Slot / Bucket</a:t>
            </a:r>
            <a:endParaRPr lang="en-US" sz="1400" dirty="0"/>
          </a:p>
        </p:txBody>
      </p:sp>
      <p:pic>
        <p:nvPicPr>
          <p:cNvPr id="24" name="Image 1" descr="preencoded.png">    </p:cNvPr>
          <p:cNvPicPr>
            <a:picLocks noChangeAspect="1"/>
          </p:cNvPicPr>
          <p:nvPr/>
        </p:nvPicPr>
        <p:blipFill>
          <a:blip r:embed="rId2"/>
          <a:stretch>
            <a:fillRect/>
          </a:stretch>
        </p:blipFill>
        <p:spPr>
          <a:xfrm>
            <a:off x="6583680" y="5394960"/>
            <a:ext cx="320040" cy="320040"/>
          </a:xfrm>
          <a:prstGeom prst="rect">
            <a:avLst/>
          </a:prstGeom>
        </p:spPr>
      </p:pic>
      <p:sp>
        <p:nvSpPr>
          <p:cNvPr id="25" name="Text 21"/>
          <p:cNvSpPr/>
          <p:nvPr/>
        </p:nvSpPr>
        <p:spPr>
          <a:xfrm>
            <a:off x="6995160" y="5376672"/>
            <a:ext cx="4389120" cy="457200"/>
          </a:xfrm>
          <a:prstGeom prst="rect">
            <a:avLst/>
          </a:prstGeom>
          <a:noFill/>
          <a:ln/>
        </p:spPr>
        <p:txBody>
          <a:bodyPr wrap="square" rtlCol="0" anchor="ctr"/>
          <a:lstStyle/>
          <a:p>
            <a:pPr indent="0" marL="0">
              <a:buNone/>
            </a:pPr>
            <a:r>
              <a:rPr lang="en-US" sz="1200" i="1" dirty="0">
                <a:solidFill>
                  <a:srgbClr val="5C7488"/>
                </a:solidFill>
                <a:latin typeface="Calibri" pitchFamily="34" charset="0"/>
                <a:ea typeface="Calibri" pitchFamily="34" charset="-122"/>
                <a:cs typeface="Calibri" pitchFamily="34" charset="-120"/>
              </a:rPr>
              <a:t>Same input always gives the same slot — that's why lookup is instant.</a:t>
            </a:r>
            <a:endParaRPr lang="en-US" sz="1200" dirty="0"/>
          </a:p>
        </p:txBody>
      </p:sp>
      <p:sp>
        <p:nvSpPr>
          <p:cNvPr id="26" name="Text 22"/>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7" name="Text 23"/>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 · INTRODUCTION</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Why Was Hashing Invented?</a:t>
            </a:r>
            <a:endParaRPr lang="en-US" sz="2600" dirty="0"/>
          </a:p>
        </p:txBody>
      </p:sp>
      <p:sp>
        <p:nvSpPr>
          <p:cNvPr id="6" name="Text 3"/>
          <p:cNvSpPr/>
          <p:nvPr/>
        </p:nvSpPr>
        <p:spPr>
          <a:xfrm>
            <a:off x="548640" y="1325880"/>
            <a:ext cx="11064240" cy="36576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Hashing exists to solve one painful problem: searching large collections is slow.</a:t>
            </a:r>
            <a:endParaRPr lang="en-US" sz="1500" dirty="0"/>
          </a:p>
        </p:txBody>
      </p:sp>
      <p:sp>
        <p:nvSpPr>
          <p:cNvPr id="7" name="Shape 4"/>
          <p:cNvSpPr/>
          <p:nvPr/>
        </p:nvSpPr>
        <p:spPr>
          <a:xfrm>
            <a:off x="548640" y="1828800"/>
            <a:ext cx="5394960" cy="4023360"/>
          </a:xfrm>
          <a:prstGeom prst="roundRect">
            <a:avLst>
              <a:gd name="adj" fmla="val 2045"/>
            </a:avLst>
          </a:prstGeom>
          <a:solidFill>
            <a:srgbClr val="FBEDE9"/>
          </a:solidFill>
          <a:ln/>
          <a:effectLst>
            <a:outerShdw sx="100000" sy="100000" kx="0" ky="0" algn="bl" rotWithShape="0" blurRad="76200" dist="25400" dir="5400000">
              <a:srgbClr val="000000">
                <a:alpha val="12000"/>
              </a:srgbClr>
            </a:outerShdw>
          </a:effectLst>
        </p:spPr>
      </p:sp>
      <p:sp>
        <p:nvSpPr>
          <p:cNvPr id="8" name="Shape 5"/>
          <p:cNvSpPr/>
          <p:nvPr/>
        </p:nvSpPr>
        <p:spPr>
          <a:xfrm>
            <a:off x="777240" y="2057400"/>
            <a:ext cx="548640" cy="548640"/>
          </a:xfrm>
          <a:prstGeom prst="roundRect">
            <a:avLst>
              <a:gd name="adj" fmla="val 16667"/>
            </a:avLst>
          </a:prstGeom>
          <a:solidFill>
            <a:srgbClr val="E1674C"/>
          </a:solidFill>
          <a:ln/>
        </p:spPr>
      </p:sp>
      <p:pic>
        <p:nvPicPr>
          <p:cNvPr id="9" name="Image 1" descr="preencoded.png">    </p:cNvPr>
          <p:cNvPicPr>
            <a:picLocks noChangeAspect="1"/>
          </p:cNvPicPr>
          <p:nvPr/>
        </p:nvPicPr>
        <p:blipFill>
          <a:blip r:embed="rId2"/>
          <a:stretch>
            <a:fillRect/>
          </a:stretch>
        </p:blipFill>
        <p:spPr>
          <a:xfrm>
            <a:off x="896112" y="2176272"/>
            <a:ext cx="310896" cy="310896"/>
          </a:xfrm>
          <a:prstGeom prst="rect">
            <a:avLst/>
          </a:prstGeom>
        </p:spPr>
      </p:pic>
      <p:sp>
        <p:nvSpPr>
          <p:cNvPr id="10" name="Text 6"/>
          <p:cNvSpPr/>
          <p:nvPr/>
        </p:nvSpPr>
        <p:spPr>
          <a:xfrm>
            <a:off x="1463040" y="2103120"/>
            <a:ext cx="4114800" cy="457200"/>
          </a:xfrm>
          <a:prstGeom prst="rect">
            <a:avLst/>
          </a:prstGeom>
          <a:noFill/>
          <a:ln/>
        </p:spPr>
        <p:txBody>
          <a:bodyPr wrap="square" rtlCol="0" anchor="ctr"/>
          <a:lstStyle/>
          <a:p>
            <a:pPr indent="0" marL="0">
              <a:buNone/>
            </a:pPr>
            <a:r>
              <a:rPr lang="en-US" sz="1800" b="1" dirty="0">
                <a:solidFill>
                  <a:srgbClr val="E1674C"/>
                </a:solidFill>
                <a:latin typeface="Calibri" pitchFamily="34" charset="0"/>
                <a:ea typeface="Calibri" pitchFamily="34" charset="-122"/>
                <a:cs typeface="Calibri" pitchFamily="34" charset="-120"/>
              </a:rPr>
              <a:t>The Problem</a:t>
            </a:r>
            <a:endParaRPr lang="en-US" sz="1800" dirty="0"/>
          </a:p>
        </p:txBody>
      </p:sp>
      <p:sp>
        <p:nvSpPr>
          <p:cNvPr id="11" name="Text 7"/>
          <p:cNvSpPr/>
          <p:nvPr/>
        </p:nvSpPr>
        <p:spPr>
          <a:xfrm>
            <a:off x="777240" y="2743200"/>
            <a:ext cx="4937760" cy="2926080"/>
          </a:xfrm>
          <a:prstGeom prst="rect">
            <a:avLst/>
          </a:prstGeom>
          <a:noFill/>
          <a:ln/>
        </p:spPr>
        <p:txBody>
          <a:bodyPr wrap="square" rtlCol="0" anchor="t"/>
          <a:lstStyle/>
          <a:p>
            <a:pPr indent="0" marL="0">
              <a:lnSpc>
                <a:spcPct val="110000"/>
              </a:lnSpc>
              <a:spcAft>
                <a:spcPts val="800"/>
              </a:spcAft>
              <a:buNone/>
            </a:pPr>
            <a:r>
              <a:rPr lang="en-US" sz="1500" b="1" dirty="0">
                <a:solidFill>
                  <a:srgbClr val="16283B"/>
                </a:solidFill>
                <a:latin typeface="Calibri" pitchFamily="34" charset="0"/>
                <a:ea typeface="Calibri" pitchFamily="34" charset="-122"/>
                <a:cs typeface="Calibri" pitchFamily="34" charset="-120"/>
              </a:rPr>
              <a:t>Imagine a list of 1,000,000 usernames.</a:t>
            </a:r>
            <a:endParaRPr lang="en-US" sz="1500" dirty="0"/>
          </a:p>
          <a:p>
            <a:pPr indent="0" marL="0">
              <a:lnSpc>
                <a:spcPct val="110000"/>
              </a:lnSpc>
              <a:spcAft>
                <a:spcPts val="800"/>
              </a:spcAft>
              <a:buNone/>
            </a:pPr>
            <a:r>
              <a:rPr lang="en-US" sz="1500" dirty="0">
                <a:solidFill>
                  <a:srgbClr val="16283B"/>
                </a:solidFill>
                <a:latin typeface="Calibri" pitchFamily="34" charset="0"/>
                <a:ea typeface="Calibri" pitchFamily="34" charset="-122"/>
                <a:cs typeface="Calibri" pitchFamily="34" charset="-120"/>
              </a:rPr>
              <a:t>To check if "ali99" exists, the computer may compare it against every single name, one by one.</a:t>
            </a:r>
            <a:endParaRPr lang="en-US" sz="1500" dirty="0"/>
          </a:p>
          <a:p>
            <a:pPr indent="0" marL="0">
              <a:lnSpc>
                <a:spcPct val="110000"/>
              </a:lnSpc>
              <a:spcAft>
                <a:spcPts val="800"/>
              </a:spcAft>
              <a:buNone/>
            </a:pPr>
            <a:r>
              <a:rPr lang="en-US" sz="1500" b="1" dirty="0">
                <a:solidFill>
                  <a:srgbClr val="E1674C"/>
                </a:solidFill>
                <a:latin typeface="Calibri" pitchFamily="34" charset="0"/>
                <a:ea typeface="Calibri" pitchFamily="34" charset="-122"/>
                <a:cs typeface="Calibri" pitchFamily="34" charset="-120"/>
              </a:rPr>
              <a:t>Worst case = 1,000,000 comparisons for ONE search.</a:t>
            </a:r>
            <a:endParaRPr lang="en-US" sz="1500" dirty="0"/>
          </a:p>
          <a:p>
            <a:pPr indent="0" marL="0">
              <a:lnSpc>
                <a:spcPct val="110000"/>
              </a:lnSpc>
              <a:buNone/>
            </a:pPr>
            <a:r>
              <a:rPr lang="en-US" sz="1500" dirty="0">
                <a:solidFill>
                  <a:srgbClr val="16283B"/>
                </a:solidFill>
                <a:latin typeface="Calibri" pitchFamily="34" charset="0"/>
                <a:ea typeface="Calibri" pitchFamily="34" charset="-122"/>
                <a:cs typeface="Calibri" pitchFamily="34" charset="-120"/>
              </a:rPr>
              <a:t>Do that thousands of times and your program crawls.</a:t>
            </a:r>
            <a:endParaRPr lang="en-US" sz="1500" dirty="0"/>
          </a:p>
        </p:txBody>
      </p:sp>
      <p:sp>
        <p:nvSpPr>
          <p:cNvPr id="12" name="Shape 8"/>
          <p:cNvSpPr/>
          <p:nvPr/>
        </p:nvSpPr>
        <p:spPr>
          <a:xfrm>
            <a:off x="6217920" y="1828800"/>
            <a:ext cx="5422392" cy="4023360"/>
          </a:xfrm>
          <a:prstGeom prst="roundRect">
            <a:avLst>
              <a:gd name="adj" fmla="val 2045"/>
            </a:avLst>
          </a:prstGeom>
          <a:solidFill>
            <a:srgbClr val="E9F5EE"/>
          </a:solidFill>
          <a:ln/>
          <a:effectLst>
            <a:outerShdw sx="100000" sy="100000" kx="0" ky="0" algn="bl" rotWithShape="0" blurRad="76200" dist="25400" dir="5400000">
              <a:srgbClr val="000000">
                <a:alpha val="12000"/>
              </a:srgbClr>
            </a:outerShdw>
          </a:effectLst>
        </p:spPr>
      </p:sp>
      <p:sp>
        <p:nvSpPr>
          <p:cNvPr id="13" name="Shape 9"/>
          <p:cNvSpPr/>
          <p:nvPr/>
        </p:nvSpPr>
        <p:spPr>
          <a:xfrm>
            <a:off x="6446520" y="2057400"/>
            <a:ext cx="548640" cy="548640"/>
          </a:xfrm>
          <a:prstGeom prst="roundRect">
            <a:avLst>
              <a:gd name="adj" fmla="val 16667"/>
            </a:avLst>
          </a:prstGeom>
          <a:solidFill>
            <a:srgbClr val="2E9E6B"/>
          </a:solidFill>
          <a:ln/>
        </p:spPr>
      </p:sp>
      <p:pic>
        <p:nvPicPr>
          <p:cNvPr id="14" name="Image 2" descr="preencoded.png">    </p:cNvPr>
          <p:cNvPicPr>
            <a:picLocks noChangeAspect="1"/>
          </p:cNvPicPr>
          <p:nvPr/>
        </p:nvPicPr>
        <p:blipFill>
          <a:blip r:embed="rId3"/>
          <a:stretch>
            <a:fillRect/>
          </a:stretch>
        </p:blipFill>
        <p:spPr>
          <a:xfrm>
            <a:off x="6583680" y="2176272"/>
            <a:ext cx="310896" cy="310896"/>
          </a:xfrm>
          <a:prstGeom prst="rect">
            <a:avLst/>
          </a:prstGeom>
        </p:spPr>
      </p:pic>
      <p:sp>
        <p:nvSpPr>
          <p:cNvPr id="15" name="Text 10"/>
          <p:cNvSpPr/>
          <p:nvPr/>
        </p:nvSpPr>
        <p:spPr>
          <a:xfrm>
            <a:off x="7132320" y="2103120"/>
            <a:ext cx="4297680" cy="457200"/>
          </a:xfrm>
          <a:prstGeom prst="rect">
            <a:avLst/>
          </a:prstGeom>
          <a:noFill/>
          <a:ln/>
        </p:spPr>
        <p:txBody>
          <a:bodyPr wrap="square" rtlCol="0" anchor="ctr"/>
          <a:lstStyle/>
          <a:p>
            <a:pPr indent="0" marL="0">
              <a:buNone/>
            </a:pPr>
            <a:r>
              <a:rPr lang="en-US" sz="1800" b="1" dirty="0">
                <a:solidFill>
                  <a:srgbClr val="2E9E6B"/>
                </a:solidFill>
                <a:latin typeface="Calibri" pitchFamily="34" charset="0"/>
                <a:ea typeface="Calibri" pitchFamily="34" charset="-122"/>
                <a:cs typeface="Calibri" pitchFamily="34" charset="-120"/>
              </a:rPr>
              <a:t>The Hashing Fix</a:t>
            </a:r>
            <a:endParaRPr lang="en-US" sz="1800" dirty="0"/>
          </a:p>
        </p:txBody>
      </p:sp>
      <p:sp>
        <p:nvSpPr>
          <p:cNvPr id="16" name="Text 11"/>
          <p:cNvSpPr/>
          <p:nvPr/>
        </p:nvSpPr>
        <p:spPr>
          <a:xfrm>
            <a:off x="6446520" y="2743200"/>
            <a:ext cx="4983480" cy="2926080"/>
          </a:xfrm>
          <a:prstGeom prst="rect">
            <a:avLst/>
          </a:prstGeom>
          <a:noFill/>
          <a:ln/>
        </p:spPr>
        <p:txBody>
          <a:bodyPr wrap="square" rtlCol="0" anchor="t"/>
          <a:lstStyle/>
          <a:p>
            <a:pPr indent="0" marL="0">
              <a:lnSpc>
                <a:spcPct val="110000"/>
              </a:lnSpc>
              <a:spcAft>
                <a:spcPts val="800"/>
              </a:spcAft>
              <a:buNone/>
            </a:pPr>
            <a:r>
              <a:rPr lang="en-US" sz="1500" b="1" dirty="0">
                <a:solidFill>
                  <a:srgbClr val="16283B"/>
                </a:solidFill>
                <a:latin typeface="Calibri" pitchFamily="34" charset="0"/>
                <a:ea typeface="Calibri" pitchFamily="34" charset="-122"/>
                <a:cs typeface="Calibri" pitchFamily="34" charset="-120"/>
              </a:rPr>
              <a:t>Don't search — calculate.</a:t>
            </a:r>
            <a:endParaRPr lang="en-US" sz="1500" dirty="0"/>
          </a:p>
          <a:p>
            <a:pPr indent="0" marL="0">
              <a:lnSpc>
                <a:spcPct val="110000"/>
              </a:lnSpc>
              <a:spcAft>
                <a:spcPts val="800"/>
              </a:spcAft>
              <a:buNone/>
            </a:pPr>
            <a:r>
              <a:rPr lang="en-US" sz="1500" dirty="0">
                <a:solidFill>
                  <a:srgbClr val="16283B"/>
                </a:solidFill>
                <a:latin typeface="Calibri" pitchFamily="34" charset="0"/>
                <a:ea typeface="Calibri" pitchFamily="34" charset="-122"/>
                <a:cs typeface="Calibri" pitchFamily="34" charset="-120"/>
              </a:rPr>
              <a:t>Feed "ali99" to a hash function → get a number → jump straight to that slot.</a:t>
            </a:r>
            <a:endParaRPr lang="en-US" sz="1500" dirty="0"/>
          </a:p>
          <a:p>
            <a:pPr indent="0" marL="0">
              <a:lnSpc>
                <a:spcPct val="110000"/>
              </a:lnSpc>
              <a:spcAft>
                <a:spcPts val="800"/>
              </a:spcAft>
              <a:buNone/>
            </a:pPr>
            <a:r>
              <a:rPr lang="en-US" sz="1500" b="1" dirty="0">
                <a:solidFill>
                  <a:srgbClr val="2E9E6B"/>
                </a:solidFill>
                <a:latin typeface="Calibri" pitchFamily="34" charset="0"/>
                <a:ea typeface="Calibri" pitchFamily="34" charset="-122"/>
                <a:cs typeface="Calibri" pitchFamily="34" charset="-120"/>
              </a:rPr>
              <a:t>Usually just ONE step, no matter how big the collection.</a:t>
            </a:r>
            <a:endParaRPr lang="en-US" sz="1500" dirty="0"/>
          </a:p>
          <a:p>
            <a:pPr indent="0" marL="0">
              <a:lnSpc>
                <a:spcPct val="110000"/>
              </a:lnSpc>
              <a:buNone/>
            </a:pPr>
            <a:r>
              <a:rPr lang="en-US" sz="1500" dirty="0">
                <a:solidFill>
                  <a:srgbClr val="16283B"/>
                </a:solidFill>
                <a:latin typeface="Calibri" pitchFamily="34" charset="0"/>
                <a:ea typeface="Calibri" pitchFamily="34" charset="-122"/>
                <a:cs typeface="Calibri" pitchFamily="34" charset="-120"/>
              </a:rPr>
              <a:t>1,000,000 items or 10 items — roughly the same speed.</a:t>
            </a:r>
            <a:endParaRPr lang="en-US" sz="1500" dirty="0"/>
          </a:p>
        </p:txBody>
      </p:sp>
      <p:sp>
        <p:nvSpPr>
          <p:cNvPr id="17" name="Text 12"/>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18" name="Text 13"/>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 · INTRODUCTION</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Searching Without Hashing Is Slow</a:t>
            </a:r>
            <a:endParaRPr lang="en-US" sz="2600" dirty="0"/>
          </a:p>
        </p:txBody>
      </p:sp>
      <p:sp>
        <p:nvSpPr>
          <p:cNvPr id="6" name="Shape 3"/>
          <p:cNvSpPr/>
          <p:nvPr/>
        </p:nvSpPr>
        <p:spPr>
          <a:xfrm>
            <a:off x="548640" y="1371600"/>
            <a:ext cx="11091672" cy="2148840"/>
          </a:xfrm>
          <a:prstGeom prst="roundRect">
            <a:avLst>
              <a:gd name="adj" fmla="val 3830"/>
            </a:avLst>
          </a:prstGeom>
          <a:solidFill>
            <a:srgbClr val="FBEDE9"/>
          </a:solidFill>
          <a:ln/>
          <a:effectLst>
            <a:outerShdw sx="100000" sy="100000" kx="0" ky="0" algn="bl" rotWithShape="0" blurRad="76200" dist="25400" dir="5400000">
              <a:srgbClr val="000000">
                <a:alpha val="12000"/>
              </a:srgbClr>
            </a:outerShdw>
          </a:effectLst>
        </p:spPr>
      </p:sp>
      <p:sp>
        <p:nvSpPr>
          <p:cNvPr id="7" name="Text 4"/>
          <p:cNvSpPr/>
          <p:nvPr/>
        </p:nvSpPr>
        <p:spPr>
          <a:xfrm>
            <a:off x="777240" y="1481328"/>
            <a:ext cx="10607040" cy="320040"/>
          </a:xfrm>
          <a:prstGeom prst="rect">
            <a:avLst/>
          </a:prstGeom>
          <a:noFill/>
          <a:ln/>
        </p:spPr>
        <p:txBody>
          <a:bodyPr wrap="square" rtlCol="0" anchor="ctr"/>
          <a:lstStyle/>
          <a:p>
            <a:pPr indent="0" marL="0">
              <a:buNone/>
            </a:pPr>
            <a:r>
              <a:rPr lang="en-US" sz="1400" b="1" dirty="0">
                <a:solidFill>
                  <a:srgbClr val="E1674C"/>
                </a:solidFill>
                <a:latin typeface="Calibri" pitchFamily="34" charset="0"/>
                <a:ea typeface="Calibri" pitchFamily="34" charset="-122"/>
                <a:cs typeface="Calibri" pitchFamily="34" charset="-120"/>
              </a:rPr>
              <a:t>Linear Search  —  check every box until found</a:t>
            </a:r>
            <a:endParaRPr lang="en-US" sz="1400" dirty="0"/>
          </a:p>
        </p:txBody>
      </p:sp>
      <p:sp>
        <p:nvSpPr>
          <p:cNvPr id="8" name="Shape 5"/>
          <p:cNvSpPr/>
          <p:nvPr/>
        </p:nvSpPr>
        <p:spPr>
          <a:xfrm>
            <a:off x="868680" y="1965960"/>
            <a:ext cx="1371600" cy="914400"/>
          </a:xfrm>
          <a:prstGeom prst="roundRect">
            <a:avLst>
              <a:gd name="adj" fmla="val 8000"/>
            </a:avLst>
          </a:prstGeom>
          <a:solidFill>
            <a:srgbClr val="FFFFFF"/>
          </a:solidFill>
          <a:ln w="19050">
            <a:solidFill>
              <a:srgbClr val="E1674C"/>
            </a:solidFill>
            <a:prstDash val="solid"/>
          </a:ln>
          <a:effectLst>
            <a:outerShdw sx="100000" sy="100000" kx="0" ky="0" algn="bl" rotWithShape="0" blurRad="50800" dist="12700" dir="5400000">
              <a:srgbClr val="000000">
                <a:alpha val="10000"/>
              </a:srgbClr>
            </a:outerShdw>
          </a:effectLst>
        </p:spPr>
      </p:sp>
      <p:sp>
        <p:nvSpPr>
          <p:cNvPr id="9" name="Text 6"/>
          <p:cNvSpPr/>
          <p:nvPr/>
        </p:nvSpPr>
        <p:spPr>
          <a:xfrm>
            <a:off x="868680" y="1965960"/>
            <a:ext cx="1371600" cy="594360"/>
          </a:xfrm>
          <a:prstGeom prst="rect">
            <a:avLst/>
          </a:prstGeom>
          <a:noFill/>
          <a:ln/>
        </p:spPr>
        <p:txBody>
          <a:bodyPr wrap="square" rtlCol="0" anchor="ctr"/>
          <a:lstStyle/>
          <a:p>
            <a:pPr algn="ctr" indent="0" marL="0">
              <a:buNone/>
            </a:pPr>
            <a:r>
              <a:rPr lang="en-US" sz="1400" b="1" dirty="0">
                <a:solidFill>
                  <a:srgbClr val="16283B"/>
                </a:solidFill>
                <a:latin typeface="Courier New" pitchFamily="34" charset="0"/>
                <a:ea typeface="Courier New" pitchFamily="34" charset="-122"/>
                <a:cs typeface="Courier New" pitchFamily="34" charset="-120"/>
              </a:rPr>
              <a:t>ana</a:t>
            </a:r>
            <a:endParaRPr lang="en-US" sz="1400" dirty="0"/>
          </a:p>
        </p:txBody>
      </p:sp>
      <p:sp>
        <p:nvSpPr>
          <p:cNvPr id="10" name="Text 7"/>
          <p:cNvSpPr/>
          <p:nvPr/>
        </p:nvSpPr>
        <p:spPr>
          <a:xfrm>
            <a:off x="868680" y="2487168"/>
            <a:ext cx="1371600" cy="320040"/>
          </a:xfrm>
          <a:prstGeom prst="rect">
            <a:avLst/>
          </a:prstGeom>
          <a:noFill/>
          <a:ln/>
        </p:spPr>
        <p:txBody>
          <a:bodyPr wrap="square" rtlCol="0" anchor="ctr"/>
          <a:lstStyle/>
          <a:p>
            <a:pPr algn="ctr" indent="0" marL="0">
              <a:buNone/>
            </a:pPr>
            <a:r>
              <a:rPr lang="en-US" sz="1000" dirty="0">
                <a:solidFill>
                  <a:srgbClr val="E1674C"/>
                </a:solidFill>
                <a:latin typeface="Calibri" pitchFamily="34" charset="0"/>
                <a:ea typeface="Calibri" pitchFamily="34" charset="-122"/>
                <a:cs typeface="Calibri" pitchFamily="34" charset="-120"/>
              </a:rPr>
              <a:t>check 1</a:t>
            </a:r>
            <a:endParaRPr lang="en-US" sz="1000" dirty="0"/>
          </a:p>
        </p:txBody>
      </p:sp>
      <p:sp>
        <p:nvSpPr>
          <p:cNvPr id="11" name="Text 8"/>
          <p:cNvSpPr/>
          <p:nvPr/>
        </p:nvSpPr>
        <p:spPr>
          <a:xfrm>
            <a:off x="2240280" y="2194560"/>
            <a:ext cx="384048"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12" name="Shape 9"/>
          <p:cNvSpPr/>
          <p:nvPr/>
        </p:nvSpPr>
        <p:spPr>
          <a:xfrm>
            <a:off x="2624328" y="1965960"/>
            <a:ext cx="1371600" cy="914400"/>
          </a:xfrm>
          <a:prstGeom prst="roundRect">
            <a:avLst>
              <a:gd name="adj" fmla="val 8000"/>
            </a:avLst>
          </a:prstGeom>
          <a:solidFill>
            <a:srgbClr val="FFFFFF"/>
          </a:solidFill>
          <a:ln w="19050">
            <a:solidFill>
              <a:srgbClr val="E1674C"/>
            </a:solidFill>
            <a:prstDash val="solid"/>
          </a:ln>
          <a:effectLst>
            <a:outerShdw sx="100000" sy="100000" kx="0" ky="0" algn="bl" rotWithShape="0" blurRad="50800" dist="12700" dir="5400000">
              <a:srgbClr val="000000">
                <a:alpha val="10000"/>
              </a:srgbClr>
            </a:outerShdw>
          </a:effectLst>
        </p:spPr>
      </p:sp>
      <p:sp>
        <p:nvSpPr>
          <p:cNvPr id="13" name="Text 10"/>
          <p:cNvSpPr/>
          <p:nvPr/>
        </p:nvSpPr>
        <p:spPr>
          <a:xfrm>
            <a:off x="2624328" y="1965960"/>
            <a:ext cx="1371600" cy="594360"/>
          </a:xfrm>
          <a:prstGeom prst="rect">
            <a:avLst/>
          </a:prstGeom>
          <a:noFill/>
          <a:ln/>
        </p:spPr>
        <p:txBody>
          <a:bodyPr wrap="square" rtlCol="0" anchor="ctr"/>
          <a:lstStyle/>
          <a:p>
            <a:pPr algn="ctr" indent="0" marL="0">
              <a:buNone/>
            </a:pPr>
            <a:r>
              <a:rPr lang="en-US" sz="1400" b="1" dirty="0">
                <a:solidFill>
                  <a:srgbClr val="16283B"/>
                </a:solidFill>
                <a:latin typeface="Courier New" pitchFamily="34" charset="0"/>
                <a:ea typeface="Courier New" pitchFamily="34" charset="-122"/>
                <a:cs typeface="Courier New" pitchFamily="34" charset="-120"/>
              </a:rPr>
              <a:t>sam</a:t>
            </a:r>
            <a:endParaRPr lang="en-US" sz="1400" dirty="0"/>
          </a:p>
        </p:txBody>
      </p:sp>
      <p:sp>
        <p:nvSpPr>
          <p:cNvPr id="14" name="Text 11"/>
          <p:cNvSpPr/>
          <p:nvPr/>
        </p:nvSpPr>
        <p:spPr>
          <a:xfrm>
            <a:off x="2624328" y="2487168"/>
            <a:ext cx="1371600" cy="320040"/>
          </a:xfrm>
          <a:prstGeom prst="rect">
            <a:avLst/>
          </a:prstGeom>
          <a:noFill/>
          <a:ln/>
        </p:spPr>
        <p:txBody>
          <a:bodyPr wrap="square" rtlCol="0" anchor="ctr"/>
          <a:lstStyle/>
          <a:p>
            <a:pPr algn="ctr" indent="0" marL="0">
              <a:buNone/>
            </a:pPr>
            <a:r>
              <a:rPr lang="en-US" sz="1000" dirty="0">
                <a:solidFill>
                  <a:srgbClr val="E1674C"/>
                </a:solidFill>
                <a:latin typeface="Calibri" pitchFamily="34" charset="0"/>
                <a:ea typeface="Calibri" pitchFamily="34" charset="-122"/>
                <a:cs typeface="Calibri" pitchFamily="34" charset="-120"/>
              </a:rPr>
              <a:t>check 2</a:t>
            </a:r>
            <a:endParaRPr lang="en-US" sz="1000" dirty="0"/>
          </a:p>
        </p:txBody>
      </p:sp>
      <p:sp>
        <p:nvSpPr>
          <p:cNvPr id="15" name="Text 12"/>
          <p:cNvSpPr/>
          <p:nvPr/>
        </p:nvSpPr>
        <p:spPr>
          <a:xfrm>
            <a:off x="3995928" y="2194560"/>
            <a:ext cx="384048"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16" name="Shape 13"/>
          <p:cNvSpPr/>
          <p:nvPr/>
        </p:nvSpPr>
        <p:spPr>
          <a:xfrm>
            <a:off x="4379976" y="1965960"/>
            <a:ext cx="1371600" cy="914400"/>
          </a:xfrm>
          <a:prstGeom prst="roundRect">
            <a:avLst>
              <a:gd name="adj" fmla="val 8000"/>
            </a:avLst>
          </a:prstGeom>
          <a:solidFill>
            <a:srgbClr val="FFFFFF"/>
          </a:solidFill>
          <a:ln w="19050">
            <a:solidFill>
              <a:srgbClr val="E1674C"/>
            </a:solidFill>
            <a:prstDash val="solid"/>
          </a:ln>
          <a:effectLst>
            <a:outerShdw sx="100000" sy="100000" kx="0" ky="0" algn="bl" rotWithShape="0" blurRad="50800" dist="12700" dir="5400000">
              <a:srgbClr val="000000">
                <a:alpha val="10000"/>
              </a:srgbClr>
            </a:outerShdw>
          </a:effectLst>
        </p:spPr>
      </p:sp>
      <p:sp>
        <p:nvSpPr>
          <p:cNvPr id="17" name="Text 14"/>
          <p:cNvSpPr/>
          <p:nvPr/>
        </p:nvSpPr>
        <p:spPr>
          <a:xfrm>
            <a:off x="4379976" y="1965960"/>
            <a:ext cx="1371600" cy="594360"/>
          </a:xfrm>
          <a:prstGeom prst="rect">
            <a:avLst/>
          </a:prstGeom>
          <a:noFill/>
          <a:ln/>
        </p:spPr>
        <p:txBody>
          <a:bodyPr wrap="square" rtlCol="0" anchor="ctr"/>
          <a:lstStyle/>
          <a:p>
            <a:pPr algn="ctr" indent="0" marL="0">
              <a:buNone/>
            </a:pPr>
            <a:r>
              <a:rPr lang="en-US" sz="1400" b="1" dirty="0">
                <a:solidFill>
                  <a:srgbClr val="16283B"/>
                </a:solidFill>
                <a:latin typeface="Courier New" pitchFamily="34" charset="0"/>
                <a:ea typeface="Courier New" pitchFamily="34" charset="-122"/>
                <a:cs typeface="Courier New" pitchFamily="34" charset="-120"/>
              </a:rPr>
              <a:t>omar</a:t>
            </a:r>
            <a:endParaRPr lang="en-US" sz="1400" dirty="0"/>
          </a:p>
        </p:txBody>
      </p:sp>
      <p:sp>
        <p:nvSpPr>
          <p:cNvPr id="18" name="Text 15"/>
          <p:cNvSpPr/>
          <p:nvPr/>
        </p:nvSpPr>
        <p:spPr>
          <a:xfrm>
            <a:off x="4379976" y="2487168"/>
            <a:ext cx="1371600" cy="320040"/>
          </a:xfrm>
          <a:prstGeom prst="rect">
            <a:avLst/>
          </a:prstGeom>
          <a:noFill/>
          <a:ln/>
        </p:spPr>
        <p:txBody>
          <a:bodyPr wrap="square" rtlCol="0" anchor="ctr"/>
          <a:lstStyle/>
          <a:p>
            <a:pPr algn="ctr" indent="0" marL="0">
              <a:buNone/>
            </a:pPr>
            <a:r>
              <a:rPr lang="en-US" sz="1000" dirty="0">
                <a:solidFill>
                  <a:srgbClr val="E1674C"/>
                </a:solidFill>
                <a:latin typeface="Calibri" pitchFamily="34" charset="0"/>
                <a:ea typeface="Calibri" pitchFamily="34" charset="-122"/>
                <a:cs typeface="Calibri" pitchFamily="34" charset="-120"/>
              </a:rPr>
              <a:t>check 3</a:t>
            </a:r>
            <a:endParaRPr lang="en-US" sz="1000" dirty="0"/>
          </a:p>
        </p:txBody>
      </p:sp>
      <p:sp>
        <p:nvSpPr>
          <p:cNvPr id="19" name="Text 16"/>
          <p:cNvSpPr/>
          <p:nvPr/>
        </p:nvSpPr>
        <p:spPr>
          <a:xfrm>
            <a:off x="5751576" y="2194560"/>
            <a:ext cx="384048"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20" name="Shape 17"/>
          <p:cNvSpPr/>
          <p:nvPr/>
        </p:nvSpPr>
        <p:spPr>
          <a:xfrm>
            <a:off x="6135624" y="1965960"/>
            <a:ext cx="1371600" cy="914400"/>
          </a:xfrm>
          <a:prstGeom prst="roundRect">
            <a:avLst>
              <a:gd name="adj" fmla="val 8000"/>
            </a:avLst>
          </a:prstGeom>
          <a:solidFill>
            <a:srgbClr val="FFFFFF"/>
          </a:solidFill>
          <a:ln w="19050">
            <a:solidFill>
              <a:srgbClr val="E1674C"/>
            </a:solidFill>
            <a:prstDash val="solid"/>
          </a:ln>
          <a:effectLst>
            <a:outerShdw sx="100000" sy="100000" kx="0" ky="0" algn="bl" rotWithShape="0" blurRad="50800" dist="12700" dir="5400000">
              <a:srgbClr val="000000">
                <a:alpha val="10000"/>
              </a:srgbClr>
            </a:outerShdw>
          </a:effectLst>
        </p:spPr>
      </p:sp>
      <p:sp>
        <p:nvSpPr>
          <p:cNvPr id="21" name="Text 18"/>
          <p:cNvSpPr/>
          <p:nvPr/>
        </p:nvSpPr>
        <p:spPr>
          <a:xfrm>
            <a:off x="6135624" y="1965960"/>
            <a:ext cx="1371600" cy="594360"/>
          </a:xfrm>
          <a:prstGeom prst="rect">
            <a:avLst/>
          </a:prstGeom>
          <a:noFill/>
          <a:ln/>
        </p:spPr>
        <p:txBody>
          <a:bodyPr wrap="square" rtlCol="0" anchor="ctr"/>
          <a:lstStyle/>
          <a:p>
            <a:pPr algn="ctr" indent="0" marL="0">
              <a:buNone/>
            </a:pPr>
            <a:r>
              <a:rPr lang="en-US" sz="1400" b="1" dirty="0">
                <a:solidFill>
                  <a:srgbClr val="16283B"/>
                </a:solidFill>
                <a:latin typeface="Courier New" pitchFamily="34" charset="0"/>
                <a:ea typeface="Courier New" pitchFamily="34" charset="-122"/>
                <a:cs typeface="Courier New" pitchFamily="34" charset="-120"/>
              </a:rPr>
              <a:t>lee</a:t>
            </a:r>
            <a:endParaRPr lang="en-US" sz="1400" dirty="0"/>
          </a:p>
        </p:txBody>
      </p:sp>
      <p:sp>
        <p:nvSpPr>
          <p:cNvPr id="22" name="Text 19"/>
          <p:cNvSpPr/>
          <p:nvPr/>
        </p:nvSpPr>
        <p:spPr>
          <a:xfrm>
            <a:off x="6135624" y="2487168"/>
            <a:ext cx="1371600" cy="320040"/>
          </a:xfrm>
          <a:prstGeom prst="rect">
            <a:avLst/>
          </a:prstGeom>
          <a:noFill/>
          <a:ln/>
        </p:spPr>
        <p:txBody>
          <a:bodyPr wrap="square" rtlCol="0" anchor="ctr"/>
          <a:lstStyle/>
          <a:p>
            <a:pPr algn="ctr" indent="0" marL="0">
              <a:buNone/>
            </a:pPr>
            <a:r>
              <a:rPr lang="en-US" sz="1000" dirty="0">
                <a:solidFill>
                  <a:srgbClr val="E1674C"/>
                </a:solidFill>
                <a:latin typeface="Calibri" pitchFamily="34" charset="0"/>
                <a:ea typeface="Calibri" pitchFamily="34" charset="-122"/>
                <a:cs typeface="Calibri" pitchFamily="34" charset="-120"/>
              </a:rPr>
              <a:t>check 4</a:t>
            </a:r>
            <a:endParaRPr lang="en-US" sz="1000" dirty="0"/>
          </a:p>
        </p:txBody>
      </p:sp>
      <p:sp>
        <p:nvSpPr>
          <p:cNvPr id="23" name="Text 20"/>
          <p:cNvSpPr/>
          <p:nvPr/>
        </p:nvSpPr>
        <p:spPr>
          <a:xfrm>
            <a:off x="7507224" y="2194560"/>
            <a:ext cx="384048"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24" name="Shape 21"/>
          <p:cNvSpPr/>
          <p:nvPr/>
        </p:nvSpPr>
        <p:spPr>
          <a:xfrm>
            <a:off x="7891272" y="1965960"/>
            <a:ext cx="1371600" cy="914400"/>
          </a:xfrm>
          <a:prstGeom prst="roundRect">
            <a:avLst>
              <a:gd name="adj" fmla="val 8000"/>
            </a:avLst>
          </a:prstGeom>
          <a:solidFill>
            <a:srgbClr val="2E9E6B"/>
          </a:solidFill>
          <a:ln w="19050">
            <a:solidFill>
              <a:srgbClr val="2E9E6B"/>
            </a:solidFill>
            <a:prstDash val="solid"/>
          </a:ln>
          <a:effectLst>
            <a:outerShdw sx="100000" sy="100000" kx="0" ky="0" algn="bl" rotWithShape="0" blurRad="50800" dist="12700" dir="5400000">
              <a:srgbClr val="000000">
                <a:alpha val="10000"/>
              </a:srgbClr>
            </a:outerShdw>
          </a:effectLst>
        </p:spPr>
      </p:sp>
      <p:sp>
        <p:nvSpPr>
          <p:cNvPr id="25" name="Text 22"/>
          <p:cNvSpPr/>
          <p:nvPr/>
        </p:nvSpPr>
        <p:spPr>
          <a:xfrm>
            <a:off x="7891272" y="1965960"/>
            <a:ext cx="1371600" cy="594360"/>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ali99</a:t>
            </a:r>
            <a:endParaRPr lang="en-US" sz="1400" dirty="0"/>
          </a:p>
        </p:txBody>
      </p:sp>
      <p:sp>
        <p:nvSpPr>
          <p:cNvPr id="26" name="Text 23"/>
          <p:cNvSpPr/>
          <p:nvPr/>
        </p:nvSpPr>
        <p:spPr>
          <a:xfrm>
            <a:off x="7891272" y="2487168"/>
            <a:ext cx="1371600" cy="3200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found</a:t>
            </a:r>
            <a:endParaRPr lang="en-US" sz="1000" dirty="0"/>
          </a:p>
        </p:txBody>
      </p:sp>
      <p:sp>
        <p:nvSpPr>
          <p:cNvPr id="27" name="Text 24"/>
          <p:cNvSpPr/>
          <p:nvPr/>
        </p:nvSpPr>
        <p:spPr>
          <a:xfrm>
            <a:off x="9262872" y="2194560"/>
            <a:ext cx="384048"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28" name="Shape 25"/>
          <p:cNvSpPr/>
          <p:nvPr/>
        </p:nvSpPr>
        <p:spPr>
          <a:xfrm>
            <a:off x="9646920" y="1965960"/>
            <a:ext cx="1371600" cy="914400"/>
          </a:xfrm>
          <a:prstGeom prst="roundRect">
            <a:avLst>
              <a:gd name="adj" fmla="val 8000"/>
            </a:avLst>
          </a:prstGeom>
          <a:solidFill>
            <a:srgbClr val="FFFFFF"/>
          </a:solidFill>
          <a:ln w="19050">
            <a:solidFill>
              <a:srgbClr val="E1674C"/>
            </a:solidFill>
            <a:prstDash val="solid"/>
          </a:ln>
          <a:effectLst>
            <a:outerShdw sx="100000" sy="100000" kx="0" ky="0" algn="bl" rotWithShape="0" blurRad="50800" dist="12700" dir="5400000">
              <a:srgbClr val="000000">
                <a:alpha val="10000"/>
              </a:srgbClr>
            </a:outerShdw>
          </a:effectLst>
        </p:spPr>
      </p:sp>
      <p:sp>
        <p:nvSpPr>
          <p:cNvPr id="29" name="Text 26"/>
          <p:cNvSpPr/>
          <p:nvPr/>
        </p:nvSpPr>
        <p:spPr>
          <a:xfrm>
            <a:off x="9646920" y="1965960"/>
            <a:ext cx="1371600" cy="594360"/>
          </a:xfrm>
          <a:prstGeom prst="rect">
            <a:avLst/>
          </a:prstGeom>
          <a:noFill/>
          <a:ln/>
        </p:spPr>
        <p:txBody>
          <a:bodyPr wrap="square" rtlCol="0" anchor="ctr"/>
          <a:lstStyle/>
          <a:p>
            <a:pPr algn="ctr" indent="0" marL="0">
              <a:buNone/>
            </a:pPr>
            <a:r>
              <a:rPr lang="en-US" sz="1400" b="1" dirty="0">
                <a:solidFill>
                  <a:srgbClr val="16283B"/>
                </a:solidFill>
                <a:latin typeface="Courier New" pitchFamily="34" charset="0"/>
                <a:ea typeface="Courier New" pitchFamily="34" charset="-122"/>
                <a:cs typeface="Courier New" pitchFamily="34" charset="-120"/>
              </a:rPr>
              <a:t>zoe</a:t>
            </a:r>
            <a:endParaRPr lang="en-US" sz="1400" dirty="0"/>
          </a:p>
        </p:txBody>
      </p:sp>
      <p:sp>
        <p:nvSpPr>
          <p:cNvPr id="30" name="Text 27"/>
          <p:cNvSpPr/>
          <p:nvPr/>
        </p:nvSpPr>
        <p:spPr>
          <a:xfrm>
            <a:off x="9646920" y="2487168"/>
            <a:ext cx="1371600" cy="320040"/>
          </a:xfrm>
          <a:prstGeom prst="rect">
            <a:avLst/>
          </a:prstGeom>
          <a:noFill/>
          <a:ln/>
        </p:spPr>
        <p:txBody>
          <a:bodyPr wrap="square" rtlCol="0" anchor="ctr"/>
          <a:lstStyle/>
          <a:p>
            <a:pPr algn="ctr" indent="0" marL="0">
              <a:buNone/>
            </a:pPr>
            <a:r>
              <a:rPr lang="en-US" sz="1000" dirty="0">
                <a:solidFill>
                  <a:srgbClr val="E1674C"/>
                </a:solidFill>
                <a:latin typeface="Calibri" pitchFamily="34" charset="0"/>
                <a:ea typeface="Calibri" pitchFamily="34" charset="-122"/>
                <a:cs typeface="Calibri" pitchFamily="34" charset="-120"/>
              </a:rPr>
              <a:t>check 6</a:t>
            </a:r>
            <a:endParaRPr lang="en-US" sz="1000" dirty="0"/>
          </a:p>
        </p:txBody>
      </p:sp>
      <p:sp>
        <p:nvSpPr>
          <p:cNvPr id="31" name="Text 28"/>
          <p:cNvSpPr/>
          <p:nvPr/>
        </p:nvSpPr>
        <p:spPr>
          <a:xfrm>
            <a:off x="777240" y="3063240"/>
            <a:ext cx="10607040" cy="320040"/>
          </a:xfrm>
          <a:prstGeom prst="rect">
            <a:avLst/>
          </a:prstGeom>
          <a:noFill/>
          <a:ln/>
        </p:spPr>
        <p:txBody>
          <a:bodyPr wrap="square" rtlCol="0" anchor="ctr"/>
          <a:lstStyle/>
          <a:p>
            <a:pPr indent="0" marL="0">
              <a:buNone/>
            </a:pPr>
            <a:r>
              <a:rPr lang="en-US" sz="1250" i="1" dirty="0">
                <a:solidFill>
                  <a:srgbClr val="5C7488"/>
                </a:solidFill>
                <a:latin typeface="Calibri" pitchFamily="34" charset="0"/>
                <a:ea typeface="Calibri" pitchFamily="34" charset="-122"/>
                <a:cs typeface="Calibri" pitchFamily="34" charset="-120"/>
              </a:rPr>
              <a:t>5 comparisons before a match — and this is only 6 items.</a:t>
            </a:r>
            <a:endParaRPr lang="en-US" sz="1250" dirty="0"/>
          </a:p>
        </p:txBody>
      </p:sp>
      <p:sp>
        <p:nvSpPr>
          <p:cNvPr id="32" name="Shape 29"/>
          <p:cNvSpPr/>
          <p:nvPr/>
        </p:nvSpPr>
        <p:spPr>
          <a:xfrm>
            <a:off x="548640" y="3703320"/>
            <a:ext cx="11091672" cy="2148840"/>
          </a:xfrm>
          <a:prstGeom prst="roundRect">
            <a:avLst>
              <a:gd name="adj" fmla="val 3830"/>
            </a:avLst>
          </a:prstGeom>
          <a:solidFill>
            <a:srgbClr val="E9F5EE"/>
          </a:solidFill>
          <a:ln/>
          <a:effectLst>
            <a:outerShdw sx="100000" sy="100000" kx="0" ky="0" algn="bl" rotWithShape="0" blurRad="76200" dist="25400" dir="5400000">
              <a:srgbClr val="000000">
                <a:alpha val="12000"/>
              </a:srgbClr>
            </a:outerShdw>
          </a:effectLst>
        </p:spPr>
      </p:sp>
      <p:sp>
        <p:nvSpPr>
          <p:cNvPr id="33" name="Text 30"/>
          <p:cNvSpPr/>
          <p:nvPr/>
        </p:nvSpPr>
        <p:spPr>
          <a:xfrm>
            <a:off x="777240" y="3813048"/>
            <a:ext cx="10607040" cy="320040"/>
          </a:xfrm>
          <a:prstGeom prst="rect">
            <a:avLst/>
          </a:prstGeom>
          <a:noFill/>
          <a:ln/>
        </p:spPr>
        <p:txBody>
          <a:bodyPr wrap="square" rtlCol="0" anchor="ctr"/>
          <a:lstStyle/>
          <a:p>
            <a:pPr indent="0" marL="0">
              <a:buNone/>
            </a:pPr>
            <a:r>
              <a:rPr lang="en-US" sz="1400" b="1" dirty="0">
                <a:solidFill>
                  <a:srgbClr val="2E9E6B"/>
                </a:solidFill>
                <a:latin typeface="Calibri" pitchFamily="34" charset="0"/>
                <a:ea typeface="Calibri" pitchFamily="34" charset="-122"/>
                <a:cs typeface="Calibri" pitchFamily="34" charset="-120"/>
              </a:rPr>
              <a:t>Hashing  —  jump straight to the answer</a:t>
            </a:r>
            <a:endParaRPr lang="en-US" sz="1400" dirty="0"/>
          </a:p>
        </p:txBody>
      </p:sp>
      <p:sp>
        <p:nvSpPr>
          <p:cNvPr id="34" name="Shape 31"/>
          <p:cNvSpPr/>
          <p:nvPr/>
        </p:nvSpPr>
        <p:spPr>
          <a:xfrm>
            <a:off x="868680" y="4315968"/>
            <a:ext cx="1737360" cy="914400"/>
          </a:xfrm>
          <a:prstGeom prst="roundRect">
            <a:avLst>
              <a:gd name="adj" fmla="val 7000"/>
            </a:avLst>
          </a:prstGeom>
          <a:solidFill>
            <a:srgbClr val="E8F1F9"/>
          </a:solidFill>
          <a:ln/>
          <a:effectLst>
            <a:outerShdw sx="100000" sy="100000" kx="0" ky="0" algn="bl" rotWithShape="0" blurRad="63500" dist="25400" dir="5400000">
              <a:srgbClr val="000000">
                <a:alpha val="14000"/>
              </a:srgbClr>
            </a:outerShdw>
          </a:effectLst>
        </p:spPr>
      </p:sp>
      <p:sp>
        <p:nvSpPr>
          <p:cNvPr id="35" name="Text 32"/>
          <p:cNvSpPr/>
          <p:nvPr/>
        </p:nvSpPr>
        <p:spPr>
          <a:xfrm>
            <a:off x="914400" y="4315968"/>
            <a:ext cx="1645920" cy="91440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"ali99"</a:t>
            </a:r>
            <a:endParaRPr lang="en-US" sz="1500" dirty="0"/>
          </a:p>
        </p:txBody>
      </p:sp>
      <p:sp>
        <p:nvSpPr>
          <p:cNvPr id="36" name="Text 33"/>
          <p:cNvSpPr/>
          <p:nvPr/>
        </p:nvSpPr>
        <p:spPr>
          <a:xfrm>
            <a:off x="2697480" y="4572000"/>
            <a:ext cx="457200" cy="457200"/>
          </a:xfrm>
          <a:prstGeom prst="rect">
            <a:avLst/>
          </a:prstGeom>
          <a:noFill/>
          <a:ln/>
        </p:spPr>
        <p:txBody>
          <a:bodyPr wrap="square" lIns="0" tIns="0" rIns="0" bIns="0" rtlCol="0" anchor="ctr"/>
          <a:lstStyle/>
          <a:p>
            <a:pPr algn="ctr" indent="0" marL="0">
              <a:buNone/>
            </a:pPr>
            <a:r>
              <a:rPr lang="en-US" sz="2600" b="1" dirty="0">
                <a:solidFill>
                  <a:srgbClr val="2E9E6B"/>
                </a:solidFill>
                <a:latin typeface="Calibri" pitchFamily="34" charset="0"/>
                <a:ea typeface="Calibri" pitchFamily="34" charset="-122"/>
                <a:cs typeface="Calibri" pitchFamily="34" charset="-120"/>
              </a:rPr>
              <a:t>→</a:t>
            </a:r>
            <a:endParaRPr lang="en-US" sz="2600" dirty="0"/>
          </a:p>
        </p:txBody>
      </p:sp>
      <p:sp>
        <p:nvSpPr>
          <p:cNvPr id="37" name="Shape 34"/>
          <p:cNvSpPr/>
          <p:nvPr/>
        </p:nvSpPr>
        <p:spPr>
          <a:xfrm>
            <a:off x="3246120" y="4315968"/>
            <a:ext cx="2286000" cy="914400"/>
          </a:xfrm>
          <a:prstGeom prst="roundRect">
            <a:avLst>
              <a:gd name="adj" fmla="val 7000"/>
            </a:avLst>
          </a:prstGeom>
          <a:solidFill>
            <a:srgbClr val="1C5D99"/>
          </a:solidFill>
          <a:ln/>
          <a:effectLst>
            <a:outerShdw sx="100000" sy="100000" kx="0" ky="0" algn="bl" rotWithShape="0" blurRad="63500" dist="25400" dir="5400000">
              <a:srgbClr val="000000">
                <a:alpha val="14000"/>
              </a:srgbClr>
            </a:outerShdw>
          </a:effectLst>
        </p:spPr>
      </p:sp>
      <p:sp>
        <p:nvSpPr>
          <p:cNvPr id="38" name="Text 35"/>
          <p:cNvSpPr/>
          <p:nvPr/>
        </p:nvSpPr>
        <p:spPr>
          <a:xfrm>
            <a:off x="3291840" y="4315968"/>
            <a:ext cx="219456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 → slot 4</a:t>
            </a:r>
            <a:endParaRPr lang="en-US" sz="1400" dirty="0"/>
          </a:p>
        </p:txBody>
      </p:sp>
      <p:sp>
        <p:nvSpPr>
          <p:cNvPr id="39" name="Text 36"/>
          <p:cNvSpPr/>
          <p:nvPr/>
        </p:nvSpPr>
        <p:spPr>
          <a:xfrm>
            <a:off x="5623560" y="4572000"/>
            <a:ext cx="457200" cy="457200"/>
          </a:xfrm>
          <a:prstGeom prst="rect">
            <a:avLst/>
          </a:prstGeom>
          <a:noFill/>
          <a:ln/>
        </p:spPr>
        <p:txBody>
          <a:bodyPr wrap="square" lIns="0" tIns="0" rIns="0" bIns="0" rtlCol="0" anchor="ctr"/>
          <a:lstStyle/>
          <a:p>
            <a:pPr algn="ctr" indent="0" marL="0">
              <a:buNone/>
            </a:pPr>
            <a:r>
              <a:rPr lang="en-US" sz="2600" b="1" dirty="0">
                <a:solidFill>
                  <a:srgbClr val="2E9E6B"/>
                </a:solidFill>
                <a:latin typeface="Calibri" pitchFamily="34" charset="0"/>
                <a:ea typeface="Calibri" pitchFamily="34" charset="-122"/>
                <a:cs typeface="Calibri" pitchFamily="34" charset="-120"/>
              </a:rPr>
              <a:t>→</a:t>
            </a:r>
            <a:endParaRPr lang="en-US" sz="2600" dirty="0"/>
          </a:p>
        </p:txBody>
      </p:sp>
      <p:sp>
        <p:nvSpPr>
          <p:cNvPr id="40" name="Shape 37"/>
          <p:cNvSpPr/>
          <p:nvPr/>
        </p:nvSpPr>
        <p:spPr>
          <a:xfrm>
            <a:off x="6172200" y="4315968"/>
            <a:ext cx="2103120" cy="914400"/>
          </a:xfrm>
          <a:prstGeom prst="roundRect">
            <a:avLst>
              <a:gd name="adj" fmla="val 7000"/>
            </a:avLst>
          </a:prstGeom>
          <a:solidFill>
            <a:srgbClr val="12395B"/>
          </a:solidFill>
          <a:ln/>
          <a:effectLst>
            <a:outerShdw sx="100000" sy="100000" kx="0" ky="0" algn="bl" rotWithShape="0" blurRad="63500" dist="25400" dir="5400000">
              <a:srgbClr val="000000">
                <a:alpha val="14000"/>
              </a:srgbClr>
            </a:outerShdw>
          </a:effectLst>
        </p:spPr>
      </p:sp>
      <p:sp>
        <p:nvSpPr>
          <p:cNvPr id="41" name="Text 38"/>
          <p:cNvSpPr/>
          <p:nvPr/>
        </p:nvSpPr>
        <p:spPr>
          <a:xfrm>
            <a:off x="6217920" y="4315968"/>
            <a:ext cx="20116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go to slot 4</a:t>
            </a:r>
            <a:endParaRPr lang="en-US" sz="1400" dirty="0"/>
          </a:p>
        </p:txBody>
      </p:sp>
      <p:sp>
        <p:nvSpPr>
          <p:cNvPr id="42" name="Text 39"/>
          <p:cNvSpPr/>
          <p:nvPr/>
        </p:nvSpPr>
        <p:spPr>
          <a:xfrm>
            <a:off x="8366760" y="4572000"/>
            <a:ext cx="457200" cy="457200"/>
          </a:xfrm>
          <a:prstGeom prst="rect">
            <a:avLst/>
          </a:prstGeom>
          <a:noFill/>
          <a:ln/>
        </p:spPr>
        <p:txBody>
          <a:bodyPr wrap="square" lIns="0" tIns="0" rIns="0" bIns="0" rtlCol="0" anchor="ctr"/>
          <a:lstStyle/>
          <a:p>
            <a:pPr algn="ctr" indent="0" marL="0">
              <a:buNone/>
            </a:pPr>
            <a:r>
              <a:rPr lang="en-US" sz="2600" b="1" dirty="0">
                <a:solidFill>
                  <a:srgbClr val="2E9E6B"/>
                </a:solidFill>
                <a:latin typeface="Calibri" pitchFamily="34" charset="0"/>
                <a:ea typeface="Calibri" pitchFamily="34" charset="-122"/>
                <a:cs typeface="Calibri" pitchFamily="34" charset="-120"/>
              </a:rPr>
              <a:t>→</a:t>
            </a:r>
            <a:endParaRPr lang="en-US" sz="2600" dirty="0"/>
          </a:p>
        </p:txBody>
      </p:sp>
      <p:sp>
        <p:nvSpPr>
          <p:cNvPr id="43" name="Shape 40"/>
          <p:cNvSpPr/>
          <p:nvPr/>
        </p:nvSpPr>
        <p:spPr>
          <a:xfrm>
            <a:off x="8915400" y="4315968"/>
            <a:ext cx="2377440" cy="914400"/>
          </a:xfrm>
          <a:prstGeom prst="roundRect">
            <a:avLst>
              <a:gd name="adj" fmla="val 7000"/>
            </a:avLst>
          </a:prstGeom>
          <a:solidFill>
            <a:srgbClr val="2E9E6B"/>
          </a:solidFill>
          <a:ln/>
          <a:effectLst>
            <a:outerShdw sx="100000" sy="100000" kx="0" ky="0" algn="bl" rotWithShape="0" blurRad="63500" dist="25400" dir="5400000">
              <a:srgbClr val="000000">
                <a:alpha val="14000"/>
              </a:srgbClr>
            </a:outerShdw>
          </a:effectLst>
        </p:spPr>
      </p:sp>
      <p:sp>
        <p:nvSpPr>
          <p:cNvPr id="44" name="Text 41"/>
          <p:cNvSpPr/>
          <p:nvPr/>
        </p:nvSpPr>
        <p:spPr>
          <a:xfrm>
            <a:off x="8961120" y="4315968"/>
            <a:ext cx="22860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found instantly</a:t>
            </a:r>
            <a:endParaRPr lang="en-US" sz="1400" dirty="0"/>
          </a:p>
        </p:txBody>
      </p:sp>
      <p:sp>
        <p:nvSpPr>
          <p:cNvPr id="45" name="Text 42"/>
          <p:cNvSpPr/>
          <p:nvPr/>
        </p:nvSpPr>
        <p:spPr>
          <a:xfrm>
            <a:off x="777240" y="5394960"/>
            <a:ext cx="10607040" cy="320040"/>
          </a:xfrm>
          <a:prstGeom prst="rect">
            <a:avLst/>
          </a:prstGeom>
          <a:noFill/>
          <a:ln/>
        </p:spPr>
        <p:txBody>
          <a:bodyPr wrap="square" rtlCol="0" anchor="ctr"/>
          <a:lstStyle/>
          <a:p>
            <a:pPr indent="0" marL="0">
              <a:buNone/>
            </a:pPr>
            <a:r>
              <a:rPr lang="en-US" sz="1250" i="1" dirty="0">
                <a:solidFill>
                  <a:srgbClr val="5C7488"/>
                </a:solidFill>
                <a:latin typeface="Calibri" pitchFamily="34" charset="0"/>
                <a:ea typeface="Calibri" pitchFamily="34" charset="-122"/>
                <a:cs typeface="Calibri" pitchFamily="34" charset="-120"/>
              </a:rPr>
              <a:t>1 step — and it stays 1 step even with a million items.</a:t>
            </a:r>
            <a:endParaRPr lang="en-US" sz="1250" dirty="0"/>
          </a:p>
        </p:txBody>
      </p:sp>
      <p:sp>
        <p:nvSpPr>
          <p:cNvPr id="46" name="Text 43"/>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7" name="Text 44"/>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2 · UNDERSTANDING HASH</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What Is a Hash? Meet hash()</a:t>
            </a:r>
            <a:endParaRPr lang="en-US" sz="2600" dirty="0"/>
          </a:p>
        </p:txBody>
      </p:sp>
      <p:sp>
        <p:nvSpPr>
          <p:cNvPr id="6" name="Shape 3"/>
          <p:cNvSpPr/>
          <p:nvPr/>
        </p:nvSpPr>
        <p:spPr>
          <a:xfrm>
            <a:off x="548640" y="1371600"/>
            <a:ext cx="4937760" cy="4480560"/>
          </a:xfrm>
          <a:prstGeom prst="roundRect">
            <a:avLst>
              <a:gd name="adj" fmla="val 1837"/>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822960" y="1572768"/>
            <a:ext cx="438912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A hash is a number</a:t>
            </a:r>
            <a:endParaRPr lang="en-US" sz="1400" dirty="0"/>
          </a:p>
        </p:txBody>
      </p:sp>
      <p:sp>
        <p:nvSpPr>
          <p:cNvPr id="8" name="Text 5"/>
          <p:cNvSpPr/>
          <p:nvPr/>
        </p:nvSpPr>
        <p:spPr>
          <a:xfrm>
            <a:off x="822960" y="1901952"/>
            <a:ext cx="4389120" cy="822960"/>
          </a:xfrm>
          <a:prstGeom prst="rect">
            <a:avLst/>
          </a:prstGeom>
          <a:noFill/>
          <a:ln/>
        </p:spPr>
        <p:txBody>
          <a:bodyPr wrap="square" rtlCol="0" anchor="t"/>
          <a:lstStyle/>
          <a:p>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A </a:t>
            </a:r>
            <a:pPr indent="0" marL="0">
              <a:lnSpc>
                <a:spcPct val="115000"/>
              </a:lnSpc>
              <a:buNone/>
            </a:pPr>
            <a:r>
              <a:rPr lang="en-US" sz="1550" b="1" dirty="0">
                <a:solidFill>
                  <a:srgbClr val="0A2540"/>
                </a:solidFill>
                <a:latin typeface="Calibri" pitchFamily="34" charset="0"/>
                <a:ea typeface="Calibri" pitchFamily="34" charset="-122"/>
                <a:cs typeface="Calibri" pitchFamily="34" charset="-120"/>
              </a:rPr>
              <a:t>hash</a:t>
            </a:r>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 is an integer produced from your data by a </a:t>
            </a:r>
            <a:pPr indent="0" marL="0">
              <a:lnSpc>
                <a:spcPct val="115000"/>
              </a:lnSpc>
              <a:buNone/>
            </a:pPr>
            <a:r>
              <a:rPr lang="en-US" sz="1550" b="1" dirty="0">
                <a:solidFill>
                  <a:srgbClr val="1C5D99"/>
                </a:solidFill>
                <a:latin typeface="Calibri" pitchFamily="34" charset="0"/>
                <a:ea typeface="Calibri" pitchFamily="34" charset="-122"/>
                <a:cs typeface="Calibri" pitchFamily="34" charset="-120"/>
              </a:rPr>
              <a:t>hash function</a:t>
            </a:r>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a:t>
            </a:r>
            <a:endParaRPr lang="en-US" sz="1550" dirty="0"/>
          </a:p>
        </p:txBody>
      </p:sp>
      <p:sp>
        <p:nvSpPr>
          <p:cNvPr id="9" name="Text 6"/>
          <p:cNvSpPr/>
          <p:nvPr/>
        </p:nvSpPr>
        <p:spPr>
          <a:xfrm>
            <a:off x="822960" y="2788920"/>
            <a:ext cx="4389120" cy="731520"/>
          </a:xfrm>
          <a:prstGeom prst="rect">
            <a:avLst/>
          </a:prstGeom>
          <a:noFill/>
          <a:ln/>
        </p:spPr>
        <p:txBody>
          <a:bodyPr wrap="square" rtlCol="0" anchor="t"/>
          <a:lstStyle/>
          <a:p>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Python gives you the built-in </a:t>
            </a:r>
            <a:pPr indent="0" marL="0">
              <a:lnSpc>
                <a:spcPct val="115000"/>
              </a:lnSpc>
              <a:buNone/>
            </a:pPr>
            <a:r>
              <a:rPr lang="en-US" sz="1550" b="1" dirty="0">
                <a:solidFill>
                  <a:srgbClr val="1C5D99"/>
                </a:solidFill>
                <a:latin typeface="Courier New" pitchFamily="34" charset="0"/>
                <a:ea typeface="Courier New" pitchFamily="34" charset="-122"/>
                <a:cs typeface="Courier New" pitchFamily="34" charset="-120"/>
              </a:rPr>
              <a:t>hash()</a:t>
            </a:r>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 function to see it yourself.</a:t>
            </a:r>
            <a:endParaRPr lang="en-US" sz="1550" dirty="0"/>
          </a:p>
        </p:txBody>
      </p:sp>
      <p:sp>
        <p:nvSpPr>
          <p:cNvPr id="10" name="Text 7"/>
          <p:cNvSpPr/>
          <p:nvPr/>
        </p:nvSpPr>
        <p:spPr>
          <a:xfrm>
            <a:off x="868680" y="3657600"/>
            <a:ext cx="4389120" cy="1463040"/>
          </a:xfrm>
          <a:prstGeom prst="rect">
            <a:avLst/>
          </a:prstGeom>
          <a:noFill/>
          <a:ln/>
        </p:spPr>
        <p:txBody>
          <a:bodyPr wrap="square" rtlCol="0" anchor="t"/>
          <a:lstStyle/>
          <a:p>
            <a:pPr marL="342900" indent="-342900">
              <a:spcAft>
                <a:spcPts val="700"/>
              </a:spcAft>
              <a:buSzPct val="100000"/>
              <a:buChar char="✓"/>
            </a:pPr>
            <a:r>
              <a:rPr lang="en-US" sz="1350" b="1" dirty="0">
                <a:solidFill>
                  <a:srgbClr val="2E9E6B"/>
                </a:solidFill>
                <a:latin typeface="Calibri" pitchFamily="34" charset="0"/>
                <a:ea typeface="Calibri" pitchFamily="34" charset="-122"/>
                <a:cs typeface="Calibri" pitchFamily="34" charset="-120"/>
              </a:rPr>
              <a:t>Same input  →  same hash</a:t>
            </a:r>
            <a:endParaRPr lang="en-US" sz="1350" dirty="0"/>
          </a:p>
          <a:p>
            <a:pPr marL="342900" indent="-342900">
              <a:spcAft>
                <a:spcPts val="700"/>
              </a:spcAft>
              <a:buSzPct val="100000"/>
              <a:buChar char="✓"/>
            </a:pPr>
            <a:r>
              <a:rPr lang="en-US" sz="1350" b="1" dirty="0">
                <a:solidFill>
                  <a:srgbClr val="2E9E6B"/>
                </a:solidFill>
                <a:latin typeface="Calibri" pitchFamily="34" charset="0"/>
                <a:ea typeface="Calibri" pitchFamily="34" charset="-122"/>
                <a:cs typeface="Calibri" pitchFamily="34" charset="-120"/>
              </a:rPr>
              <a:t>Different input  →  usually different hash</a:t>
            </a:r>
            <a:endParaRPr lang="en-US" sz="1350" dirty="0"/>
          </a:p>
          <a:p>
            <a:pPr marL="342900" indent="-342900">
              <a:buSzPct val="100000"/>
              <a:buChar char="✓"/>
            </a:pPr>
            <a:r>
              <a:rPr lang="en-US" sz="1350" dirty="0">
                <a:solidFill>
                  <a:srgbClr val="16283B"/>
                </a:solidFill>
                <a:latin typeface="Calibri" pitchFamily="34" charset="0"/>
                <a:ea typeface="Calibri" pitchFamily="34" charset="-122"/>
                <a:cs typeface="Calibri" pitchFamily="34" charset="-120"/>
              </a:rPr>
              <a:t>The number itself looks random &amp; meaningless</a:t>
            </a:r>
            <a:endParaRPr lang="en-US" sz="1350" dirty="0"/>
          </a:p>
        </p:txBody>
      </p:sp>
      <p:sp>
        <p:nvSpPr>
          <p:cNvPr id="11" name="Shape 8"/>
          <p:cNvSpPr/>
          <p:nvPr/>
        </p:nvSpPr>
        <p:spPr>
          <a:xfrm>
            <a:off x="5715000" y="1371600"/>
            <a:ext cx="5925312" cy="4480560"/>
          </a:xfrm>
          <a:prstGeom prst="roundRect">
            <a:avLst>
              <a:gd name="adj" fmla="val 1837"/>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2" name="Text 9"/>
          <p:cNvSpPr/>
          <p:nvPr/>
        </p:nvSpPr>
        <p:spPr>
          <a:xfrm>
            <a:off x="5989320" y="1572768"/>
            <a:ext cx="5303520" cy="32004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Try it in Python</a:t>
            </a:r>
            <a:endParaRPr lang="en-US" sz="1300" dirty="0"/>
          </a:p>
        </p:txBody>
      </p:sp>
      <p:sp>
        <p:nvSpPr>
          <p:cNvPr id="13" name="Shape 10"/>
          <p:cNvSpPr/>
          <p:nvPr/>
        </p:nvSpPr>
        <p:spPr>
          <a:xfrm>
            <a:off x="5989320" y="1965960"/>
            <a:ext cx="5349240" cy="1965960"/>
          </a:xfrm>
          <a:prstGeom prst="roundRect">
            <a:avLst>
              <a:gd name="adj" fmla="val 2791"/>
            </a:avLst>
          </a:prstGeom>
          <a:solidFill>
            <a:srgbClr val="0E2E4A"/>
          </a:solidFill>
          <a:ln/>
          <a:effectLst>
            <a:outerShdw sx="100000" sy="100000" kx="0" ky="0" algn="bl" rotWithShape="0" blurRad="63500" dist="25400" dir="5400000">
              <a:srgbClr val="000000">
                <a:alpha val="18000"/>
              </a:srgbClr>
            </a:outerShdw>
          </a:effectLst>
        </p:spPr>
      </p:sp>
      <p:sp>
        <p:nvSpPr>
          <p:cNvPr id="14" name="Text 11"/>
          <p:cNvSpPr/>
          <p:nvPr/>
        </p:nvSpPr>
        <p:spPr>
          <a:xfrm>
            <a:off x="6172200" y="2075688"/>
            <a:ext cx="4983480" cy="1746504"/>
          </a:xfrm>
          <a:prstGeom prst="rect">
            <a:avLst/>
          </a:prstGeom>
          <a:noFill/>
          <a:ln/>
        </p:spPr>
        <p:txBody>
          <a:bodyPr wrap="square" rtlCol="0" anchor="t"/>
          <a:lstStyle/>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hash("Ali")</a:t>
            </a:r>
            <a:endParaRPr lang="en-US" sz="1250" dirty="0"/>
          </a:p>
          <a:p>
            <a:pPr algn="l" indent="0" marL="0">
              <a:lnSpc>
                <a:spcPct val="115000"/>
              </a:lnSpc>
              <a:buNone/>
            </a:pPr>
            <a:r>
              <a:rPr lang="en-US" sz="1250" dirty="0">
                <a:solidFill>
                  <a:srgbClr val="DDEBF7"/>
                </a:solidFill>
                <a:latin typeface="Courier New" pitchFamily="34" charset="0"/>
                <a:ea typeface="Courier New" pitchFamily="34" charset="-122"/>
                <a:cs typeface="Courier New" pitchFamily="34" charset="-120"/>
              </a:rPr>
              <a:t>641... (a big integer)</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hash("Ahmed")</a:t>
            </a:r>
            <a:endParaRPr lang="en-US" sz="1250" dirty="0"/>
          </a:p>
          <a:p>
            <a:pPr algn="l" indent="0" marL="0">
              <a:lnSpc>
                <a:spcPct val="115000"/>
              </a:lnSpc>
              <a:buNone/>
            </a:pPr>
            <a:r>
              <a:rPr lang="en-US" sz="1250" dirty="0">
                <a:solidFill>
                  <a:srgbClr val="DDEBF7"/>
                </a:solidFill>
                <a:latin typeface="Courier New" pitchFamily="34" charset="0"/>
                <a:ea typeface="Courier New" pitchFamily="34" charset="-122"/>
                <a:cs typeface="Courier New" pitchFamily="34" charset="-120"/>
              </a:rPr>
              <a:t>-238... (different number)</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hash("Salman")</a:t>
            </a:r>
            <a:endParaRPr lang="en-US" sz="1250" dirty="0"/>
          </a:p>
          <a:p>
            <a:pPr algn="l" indent="0" marL="0">
              <a:lnSpc>
                <a:spcPct val="115000"/>
              </a:lnSpc>
              <a:buNone/>
            </a:pPr>
            <a:r>
              <a:rPr lang="en-US" sz="1250" dirty="0">
                <a:solidFill>
                  <a:srgbClr val="DDEBF7"/>
                </a:solidFill>
                <a:latin typeface="Courier New" pitchFamily="34" charset="0"/>
                <a:ea typeface="Courier New" pitchFamily="34" charset="-122"/>
                <a:cs typeface="Courier New" pitchFamily="34" charset="-120"/>
              </a:rPr>
              <a:t>915... (another number)</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hash(10)      # ints hash to themselves</a:t>
            </a:r>
            <a:endParaRPr lang="en-US" sz="1250" dirty="0"/>
          </a:p>
          <a:p>
            <a:pPr algn="l" indent="0" marL="0">
              <a:lnSpc>
                <a:spcPct val="115000"/>
              </a:lnSpc>
              <a:buNone/>
            </a:pPr>
            <a:r>
              <a:rPr lang="en-US" sz="1250" dirty="0">
                <a:solidFill>
                  <a:srgbClr val="DDEBF7"/>
                </a:solidFill>
                <a:latin typeface="Courier New" pitchFamily="34" charset="0"/>
                <a:ea typeface="Courier New" pitchFamily="34" charset="-122"/>
                <a:cs typeface="Courier New" pitchFamily="34" charset="-120"/>
              </a:rPr>
              <a:t>10</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hash((1, 2))  # tuples are hashable</a:t>
            </a:r>
            <a:endParaRPr lang="en-US" sz="1250" dirty="0"/>
          </a:p>
          <a:p>
            <a:pPr algn="l" indent="0" marL="0">
              <a:lnSpc>
                <a:spcPct val="115000"/>
              </a:lnSpc>
              <a:buNone/>
            </a:pPr>
            <a:r>
              <a:rPr lang="en-US" sz="1250" dirty="0">
                <a:solidFill>
                  <a:srgbClr val="DDEBF7"/>
                </a:solidFill>
                <a:latin typeface="Courier New" pitchFamily="34" charset="0"/>
                <a:ea typeface="Courier New" pitchFamily="34" charset="-122"/>
                <a:cs typeface="Courier New" pitchFamily="34" charset="-120"/>
              </a:rPr>
              <a:t>-3550...</a:t>
            </a:r>
            <a:endParaRPr lang="en-US" sz="1250" dirty="0"/>
          </a:p>
        </p:txBody>
      </p:sp>
      <p:sp>
        <p:nvSpPr>
          <p:cNvPr id="15" name="Text 12"/>
          <p:cNvSpPr/>
          <p:nvPr/>
        </p:nvSpPr>
        <p:spPr>
          <a:xfrm>
            <a:off x="5989320" y="4114800"/>
            <a:ext cx="5349240" cy="914400"/>
          </a:xfrm>
          <a:prstGeom prst="rect">
            <a:avLst/>
          </a:prstGeom>
          <a:noFill/>
          <a:ln/>
        </p:spPr>
        <p:txBody>
          <a:bodyPr wrap="square" rtlCol="0" anchor="t"/>
          <a:lstStyle/>
          <a:p>
            <a:pPr indent="0" marL="0">
              <a:lnSpc>
                <a:spcPct val="110000"/>
              </a:lnSpc>
              <a:buNone/>
            </a:pPr>
            <a:r>
              <a:rPr lang="en-US" sz="1300" b="1" dirty="0">
                <a:solidFill>
                  <a:srgbClr val="0A2540"/>
                </a:solidFill>
                <a:latin typeface="Calibri" pitchFamily="34" charset="0"/>
                <a:ea typeface="Calibri" pitchFamily="34" charset="-122"/>
                <a:cs typeface="Calibri" pitchFamily="34" charset="-120"/>
              </a:rPr>
              <a:t>Note:  </a:t>
            </a:r>
            <a:pPr indent="0" marL="0">
              <a:lnSpc>
                <a:spcPct val="110000"/>
              </a:lnSpc>
              <a:buNone/>
            </a:pPr>
            <a:r>
              <a:rPr lang="en-US" sz="1300" dirty="0">
                <a:solidFill>
                  <a:srgbClr val="16283B"/>
                </a:solidFill>
                <a:latin typeface="Calibri" pitchFamily="34" charset="0"/>
                <a:ea typeface="Calibri" pitchFamily="34" charset="-122"/>
                <a:cs typeface="Calibri" pitchFamily="34" charset="-120"/>
              </a:rPr>
              <a:t>the exact digits differ on each computer and each run — don't memorise them. What matters is the </a:t>
            </a:r>
            <a:pPr indent="0" marL="0">
              <a:lnSpc>
                <a:spcPct val="110000"/>
              </a:lnSpc>
              <a:buNone/>
            </a:pPr>
            <a:r>
              <a:rPr lang="en-US" sz="1300" b="1" dirty="0">
                <a:solidFill>
                  <a:srgbClr val="1C5D99"/>
                </a:solidFill>
                <a:latin typeface="Calibri" pitchFamily="34" charset="0"/>
                <a:ea typeface="Calibri" pitchFamily="34" charset="-122"/>
                <a:cs typeface="Calibri" pitchFamily="34" charset="-120"/>
              </a:rPr>
              <a:t>behaviour</a:t>
            </a:r>
            <a:pPr indent="0" marL="0">
              <a:lnSpc>
                <a:spcPct val="110000"/>
              </a:lnSpc>
              <a:buNone/>
            </a:pPr>
            <a:r>
              <a:rPr lang="en-US" sz="1300" dirty="0">
                <a:solidFill>
                  <a:srgbClr val="16283B"/>
                </a:solidFill>
                <a:latin typeface="Calibri" pitchFamily="34" charset="0"/>
                <a:ea typeface="Calibri" pitchFamily="34" charset="-122"/>
                <a:cs typeface="Calibri" pitchFamily="34" charset="-120"/>
              </a:rPr>
              <a:t>, not the value.</a:t>
            </a:r>
            <a:endParaRPr lang="en-US" sz="1300" dirty="0"/>
          </a:p>
        </p:txBody>
      </p:sp>
      <p:sp>
        <p:nvSpPr>
          <p:cNvPr id="16" name="Text 13"/>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17" name="Text 14"/>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2 · UNDERSTANDING HASH</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Hashes Change Between Sessions</a:t>
            </a:r>
            <a:endParaRPr lang="en-US" sz="2600" dirty="0"/>
          </a:p>
        </p:txBody>
      </p:sp>
      <p:sp>
        <p:nvSpPr>
          <p:cNvPr id="6" name="Text 3"/>
          <p:cNvSpPr/>
          <p:nvPr/>
        </p:nvSpPr>
        <p:spPr>
          <a:xfrm>
            <a:off x="548640" y="1325880"/>
            <a:ext cx="11064240" cy="50292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For strings, Python deliberately randomises the hash each time the program starts. This is a security feature, not a bug.</a:t>
            </a:r>
            <a:endParaRPr lang="en-US" sz="1500" dirty="0"/>
          </a:p>
        </p:txBody>
      </p:sp>
      <p:sp>
        <p:nvSpPr>
          <p:cNvPr id="7" name="Shape 4"/>
          <p:cNvSpPr/>
          <p:nvPr/>
        </p:nvSpPr>
        <p:spPr>
          <a:xfrm>
            <a:off x="548640" y="1965960"/>
            <a:ext cx="5486400" cy="2880360"/>
          </a:xfrm>
          <a:prstGeom prst="roundRect">
            <a:avLst>
              <a:gd name="adj" fmla="val 2857"/>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8" name="Text 5"/>
          <p:cNvSpPr/>
          <p:nvPr/>
        </p:nvSpPr>
        <p:spPr>
          <a:xfrm>
            <a:off x="777240" y="2121408"/>
            <a:ext cx="5029200" cy="32004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Run #1  (morning)</a:t>
            </a:r>
            <a:endParaRPr lang="en-US" sz="1300" dirty="0"/>
          </a:p>
        </p:txBody>
      </p:sp>
      <p:sp>
        <p:nvSpPr>
          <p:cNvPr id="9" name="Shape 6"/>
          <p:cNvSpPr/>
          <p:nvPr/>
        </p:nvSpPr>
        <p:spPr>
          <a:xfrm>
            <a:off x="777240" y="2514600"/>
            <a:ext cx="5029200" cy="2103120"/>
          </a:xfrm>
          <a:prstGeom prst="roundRect">
            <a:avLst>
              <a:gd name="adj" fmla="val 2609"/>
            </a:avLst>
          </a:prstGeom>
          <a:solidFill>
            <a:srgbClr val="0E2E4A"/>
          </a:solidFill>
          <a:ln/>
          <a:effectLst>
            <a:outerShdw sx="100000" sy="100000" kx="0" ky="0" algn="bl" rotWithShape="0" blurRad="63500" dist="25400" dir="5400000">
              <a:srgbClr val="000000">
                <a:alpha val="18000"/>
              </a:srgbClr>
            </a:outerShdw>
          </a:effectLst>
        </p:spPr>
      </p:sp>
      <p:sp>
        <p:nvSpPr>
          <p:cNvPr id="10" name="Text 7"/>
          <p:cNvSpPr/>
          <p:nvPr/>
        </p:nvSpPr>
        <p:spPr>
          <a:xfrm>
            <a:off x="960120" y="2624328"/>
            <a:ext cx="4663440" cy="1883664"/>
          </a:xfrm>
          <a:prstGeom prst="rect">
            <a:avLst/>
          </a:prstGeom>
          <a:noFill/>
          <a:ln/>
        </p:spPr>
        <p:txBody>
          <a:bodyPr wrap="square" rtlCol="0" anchor="t"/>
          <a:lstStyle/>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hash("Ali")</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8472613905...</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8FB6D6"/>
                </a:solidFill>
                <a:latin typeface="Courier New" pitchFamily="34" charset="0"/>
                <a:ea typeface="Courier New" pitchFamily="34" charset="-122"/>
                <a:cs typeface="Courier New" pitchFamily="34" charset="-120"/>
              </a:rPr>
              <a:t># same within this run</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hash("Ali")</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8472613905...</a:t>
            </a:r>
            <a:endParaRPr lang="en-US" sz="1250" dirty="0"/>
          </a:p>
        </p:txBody>
      </p:sp>
      <p:sp>
        <p:nvSpPr>
          <p:cNvPr id="11" name="Shape 8"/>
          <p:cNvSpPr/>
          <p:nvPr/>
        </p:nvSpPr>
        <p:spPr>
          <a:xfrm>
            <a:off x="6126480" y="1965960"/>
            <a:ext cx="5513832" cy="2880360"/>
          </a:xfrm>
          <a:prstGeom prst="roundRect">
            <a:avLst>
              <a:gd name="adj" fmla="val 2857"/>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2" name="Text 9"/>
          <p:cNvSpPr/>
          <p:nvPr/>
        </p:nvSpPr>
        <p:spPr>
          <a:xfrm>
            <a:off x="6355080" y="2121408"/>
            <a:ext cx="5029200" cy="32004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Run #2  (afternoon, restarted)</a:t>
            </a:r>
            <a:endParaRPr lang="en-US" sz="1300" dirty="0"/>
          </a:p>
        </p:txBody>
      </p:sp>
      <p:sp>
        <p:nvSpPr>
          <p:cNvPr id="13" name="Shape 10"/>
          <p:cNvSpPr/>
          <p:nvPr/>
        </p:nvSpPr>
        <p:spPr>
          <a:xfrm>
            <a:off x="6355080" y="2514600"/>
            <a:ext cx="5029200" cy="2103120"/>
          </a:xfrm>
          <a:prstGeom prst="roundRect">
            <a:avLst>
              <a:gd name="adj" fmla="val 2609"/>
            </a:avLst>
          </a:prstGeom>
          <a:solidFill>
            <a:srgbClr val="0E2E4A"/>
          </a:solidFill>
          <a:ln/>
          <a:effectLst>
            <a:outerShdw sx="100000" sy="100000" kx="0" ky="0" algn="bl" rotWithShape="0" blurRad="63500" dist="25400" dir="5400000">
              <a:srgbClr val="000000">
                <a:alpha val="18000"/>
              </a:srgbClr>
            </a:outerShdw>
          </a:effectLst>
        </p:spPr>
      </p:sp>
      <p:sp>
        <p:nvSpPr>
          <p:cNvPr id="14" name="Text 11"/>
          <p:cNvSpPr/>
          <p:nvPr/>
        </p:nvSpPr>
        <p:spPr>
          <a:xfrm>
            <a:off x="6537960" y="2624328"/>
            <a:ext cx="4663440" cy="1883664"/>
          </a:xfrm>
          <a:prstGeom prst="rect">
            <a:avLst/>
          </a:prstGeom>
          <a:noFill/>
          <a:ln/>
        </p:spPr>
        <p:txBody>
          <a:bodyPr wrap="square" rtlCol="0" anchor="t"/>
          <a:lstStyle/>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hash("Ali")</a:t>
            </a:r>
            <a:endParaRPr lang="en-US" sz="1250" dirty="0"/>
          </a:p>
          <a:p>
            <a:pPr algn="l" indent="0" marL="0">
              <a:lnSpc>
                <a:spcPct val="115000"/>
              </a:lnSpc>
              <a:buNone/>
            </a:pPr>
            <a:r>
              <a:rPr lang="en-US" sz="1250" dirty="0">
                <a:solidFill>
                  <a:srgbClr val="F2A98C"/>
                </a:solidFill>
                <a:latin typeface="Courier New" pitchFamily="34" charset="0"/>
                <a:ea typeface="Courier New" pitchFamily="34" charset="-122"/>
                <a:cs typeface="Courier New" pitchFamily="34" charset="-120"/>
              </a:rPr>
              <a:t>1930548712...</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8FB6D6"/>
                </a:solidFill>
                <a:latin typeface="Courier New" pitchFamily="34" charset="0"/>
                <a:ea typeface="Courier New" pitchFamily="34" charset="-122"/>
                <a:cs typeface="Courier New" pitchFamily="34" charset="-120"/>
              </a:rPr>
              <a:t># different from Run #1!</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hash("Ali")</a:t>
            </a:r>
            <a:endParaRPr lang="en-US" sz="1250" dirty="0"/>
          </a:p>
          <a:p>
            <a:pPr algn="l" indent="0" marL="0">
              <a:lnSpc>
                <a:spcPct val="115000"/>
              </a:lnSpc>
              <a:buNone/>
            </a:pPr>
            <a:r>
              <a:rPr lang="en-US" sz="1250" dirty="0">
                <a:solidFill>
                  <a:srgbClr val="F2A98C"/>
                </a:solidFill>
                <a:latin typeface="Courier New" pitchFamily="34" charset="0"/>
                <a:ea typeface="Courier New" pitchFamily="34" charset="-122"/>
                <a:cs typeface="Courier New" pitchFamily="34" charset="-120"/>
              </a:rPr>
              <a:t>1930548712...</a:t>
            </a:r>
            <a:endParaRPr lang="en-US" sz="1250" dirty="0"/>
          </a:p>
        </p:txBody>
      </p:sp>
      <p:sp>
        <p:nvSpPr>
          <p:cNvPr id="15" name="Shape 12"/>
          <p:cNvSpPr/>
          <p:nvPr/>
        </p:nvSpPr>
        <p:spPr>
          <a:xfrm>
            <a:off x="548640" y="5074920"/>
            <a:ext cx="11091672" cy="1097280"/>
          </a:xfrm>
          <a:prstGeom prst="roundRect">
            <a:avLst>
              <a:gd name="adj" fmla="val 7500"/>
            </a:avLst>
          </a:prstGeom>
          <a:solidFill>
            <a:srgbClr val="E8F1F9"/>
          </a:solidFill>
          <a:ln/>
          <a:effectLst>
            <a:outerShdw sx="100000" sy="100000" kx="0" ky="0" algn="bl" rotWithShape="0" blurRad="76200" dist="25400" dir="54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777240" y="5285232"/>
            <a:ext cx="457200" cy="457200"/>
          </a:xfrm>
          <a:prstGeom prst="rect">
            <a:avLst/>
          </a:prstGeom>
        </p:spPr>
      </p:pic>
      <p:sp>
        <p:nvSpPr>
          <p:cNvPr id="17" name="Text 13"/>
          <p:cNvSpPr/>
          <p:nvPr/>
        </p:nvSpPr>
        <p:spPr>
          <a:xfrm>
            <a:off x="1371600" y="5193792"/>
            <a:ext cx="10058400" cy="914400"/>
          </a:xfrm>
          <a:prstGeom prst="rect">
            <a:avLst/>
          </a:prstGeom>
          <a:noFill/>
          <a:ln/>
        </p:spPr>
        <p:txBody>
          <a:bodyPr wrap="square" rtlCol="0" anchor="ctr"/>
          <a:lstStyle/>
          <a:p>
            <a:pPr indent="0" marL="0">
              <a:lnSpc>
                <a:spcPct val="110000"/>
              </a:lnSpc>
              <a:buNone/>
            </a:pPr>
            <a:r>
              <a:rPr lang="en-US" sz="1350" b="1" dirty="0">
                <a:solidFill>
                  <a:srgbClr val="0A2540"/>
                </a:solidFill>
                <a:latin typeface="Calibri" pitchFamily="34" charset="0"/>
                <a:ea typeface="Calibri" pitchFamily="34" charset="-122"/>
                <a:cs typeface="Calibri" pitchFamily="34" charset="-120"/>
              </a:rPr>
              <a:t>Why?  </a:t>
            </a:r>
            <a:pPr indent="0" marL="0">
              <a:lnSpc>
                <a:spcPct val="110000"/>
              </a:lnSpc>
              <a:buNone/>
            </a:pPr>
            <a:r>
              <a:rPr lang="en-US" sz="1350" dirty="0">
                <a:solidFill>
                  <a:srgbClr val="16283B"/>
                </a:solidFill>
                <a:latin typeface="Calibri" pitchFamily="34" charset="0"/>
                <a:ea typeface="Calibri" pitchFamily="34" charset="-122"/>
                <a:cs typeface="Calibri" pitchFamily="34" charset="-120"/>
              </a:rPr>
              <a:t>Randomised string hashing stops attackers from crafting inputs that all land in the same slot (a denial-of-service trick). </a:t>
            </a:r>
            <a:pPr indent="0" marL="0">
              <a:lnSpc>
                <a:spcPct val="110000"/>
              </a:lnSpc>
              <a:buNone/>
            </a:pPr>
            <a:r>
              <a:rPr lang="en-US" sz="1350" b="1" dirty="0">
                <a:solidFill>
                  <a:srgbClr val="1C5D99"/>
                </a:solidFill>
                <a:latin typeface="Calibri" pitchFamily="34" charset="0"/>
                <a:ea typeface="Calibri" pitchFamily="34" charset="-122"/>
                <a:cs typeface="Calibri" pitchFamily="34" charset="-120"/>
              </a:rPr>
              <a:t>Consistent within one run, different across runs.</a:t>
            </a:r>
            <a:endParaRPr lang="en-US" sz="1350" dirty="0"/>
          </a:p>
        </p:txBody>
      </p:sp>
      <p:sp>
        <p:nvSpPr>
          <p:cNvPr id="18" name="Text 14"/>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19" name="Text 15"/>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3 · HASHABLE VS UNHASHABLE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Which Objects Can Be Hashed?</a:t>
            </a:r>
            <a:endParaRPr lang="en-US" sz="2600" dirty="0"/>
          </a:p>
        </p:txBody>
      </p:sp>
      <p:sp>
        <p:nvSpPr>
          <p:cNvPr id="6" name="Text 3"/>
          <p:cNvSpPr/>
          <p:nvPr/>
        </p:nvSpPr>
        <p:spPr>
          <a:xfrm>
            <a:off x="548640" y="1325880"/>
            <a:ext cx="11064240" cy="41148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Rule of thumb:  </a:t>
            </a:r>
            <a:pPr indent="0" marL="0">
              <a:buNone/>
            </a:pPr>
            <a:r>
              <a:rPr lang="en-US" sz="1500" dirty="0">
                <a:solidFill>
                  <a:srgbClr val="16283B"/>
                </a:solidFill>
                <a:latin typeface="Calibri" pitchFamily="34" charset="0"/>
                <a:ea typeface="Calibri" pitchFamily="34" charset="-122"/>
                <a:cs typeface="Calibri" pitchFamily="34" charset="-120"/>
              </a:rPr>
              <a:t>if a value </a:t>
            </a:r>
            <a:pPr indent="0" marL="0">
              <a:buNone/>
            </a:pPr>
            <a:r>
              <a:rPr lang="en-US" sz="1500" b="1" dirty="0">
                <a:solidFill>
                  <a:srgbClr val="2E9E6B"/>
                </a:solidFill>
                <a:latin typeface="Calibri" pitchFamily="34" charset="0"/>
                <a:ea typeface="Calibri" pitchFamily="34" charset="-122"/>
                <a:cs typeface="Calibri" pitchFamily="34" charset="-120"/>
              </a:rPr>
              <a:t>cannot change</a:t>
            </a:r>
            <a:pPr indent="0" marL="0">
              <a:buNone/>
            </a:pPr>
            <a:r>
              <a:rPr lang="en-US" sz="1500" dirty="0">
                <a:solidFill>
                  <a:srgbClr val="16283B"/>
                </a:solidFill>
                <a:latin typeface="Calibri" pitchFamily="34" charset="0"/>
                <a:ea typeface="Calibri" pitchFamily="34" charset="-122"/>
                <a:cs typeface="Calibri" pitchFamily="34" charset="-120"/>
              </a:rPr>
              <a:t> (immutable), it's hashable. If it </a:t>
            </a:r>
            <a:pPr indent="0" marL="0">
              <a:buNone/>
            </a:pPr>
            <a:r>
              <a:rPr lang="en-US" sz="1500" b="1" dirty="0">
                <a:solidFill>
                  <a:srgbClr val="E1674C"/>
                </a:solidFill>
                <a:latin typeface="Calibri" pitchFamily="34" charset="0"/>
                <a:ea typeface="Calibri" pitchFamily="34" charset="-122"/>
                <a:cs typeface="Calibri" pitchFamily="34" charset="-120"/>
              </a:rPr>
              <a:t>can change</a:t>
            </a:r>
            <a:pPr indent="0" marL="0">
              <a:buNone/>
            </a:pPr>
            <a:r>
              <a:rPr lang="en-US" sz="1500" dirty="0">
                <a:solidFill>
                  <a:srgbClr val="16283B"/>
                </a:solidFill>
                <a:latin typeface="Calibri" pitchFamily="34" charset="0"/>
                <a:ea typeface="Calibri" pitchFamily="34" charset="-122"/>
                <a:cs typeface="Calibri" pitchFamily="34" charset="-120"/>
              </a:rPr>
              <a:t> (mutable), it's not.</a:t>
            </a:r>
            <a:endParaRPr lang="en-US" sz="1500" dirty="0"/>
          </a:p>
        </p:txBody>
      </p:sp>
      <p:sp>
        <p:nvSpPr>
          <p:cNvPr id="7" name="Shape 4"/>
          <p:cNvSpPr/>
          <p:nvPr/>
        </p:nvSpPr>
        <p:spPr>
          <a:xfrm>
            <a:off x="548640" y="1874520"/>
            <a:ext cx="5486400" cy="3977640"/>
          </a:xfrm>
          <a:prstGeom prst="roundRect">
            <a:avLst>
              <a:gd name="adj" fmla="val 2069"/>
            </a:avLst>
          </a:prstGeom>
          <a:solidFill>
            <a:srgbClr val="E9F5EE"/>
          </a:solidFill>
          <a:ln/>
          <a:effectLst>
            <a:outerShdw sx="100000" sy="100000" kx="0" ky="0" algn="bl" rotWithShape="0" blurRad="76200" dist="25400" dir="5400000">
              <a:srgbClr val="000000">
                <a:alpha val="12000"/>
              </a:srgbClr>
            </a:outerShdw>
          </a:effectLst>
        </p:spPr>
      </p:sp>
      <p:sp>
        <p:nvSpPr>
          <p:cNvPr id="8" name="Shape 5"/>
          <p:cNvSpPr/>
          <p:nvPr/>
        </p:nvSpPr>
        <p:spPr>
          <a:xfrm>
            <a:off x="777240" y="2084832"/>
            <a:ext cx="502920" cy="502920"/>
          </a:xfrm>
          <a:prstGeom prst="roundRect">
            <a:avLst>
              <a:gd name="adj" fmla="val 18182"/>
            </a:avLst>
          </a:prstGeom>
          <a:solidFill>
            <a:srgbClr val="2E9E6B"/>
          </a:solidFill>
          <a:ln/>
        </p:spPr>
      </p:sp>
      <p:pic>
        <p:nvPicPr>
          <p:cNvPr id="9" name="Image 1" descr="preencoded.png">    </p:cNvPr>
          <p:cNvPicPr>
            <a:picLocks noChangeAspect="1"/>
          </p:cNvPicPr>
          <p:nvPr/>
        </p:nvPicPr>
        <p:blipFill>
          <a:blip r:embed="rId2"/>
          <a:stretch>
            <a:fillRect/>
          </a:stretch>
        </p:blipFill>
        <p:spPr>
          <a:xfrm>
            <a:off x="886968" y="2194560"/>
            <a:ext cx="283464" cy="283464"/>
          </a:xfrm>
          <a:prstGeom prst="rect">
            <a:avLst/>
          </a:prstGeom>
        </p:spPr>
      </p:pic>
      <p:sp>
        <p:nvSpPr>
          <p:cNvPr id="10" name="Text 6"/>
          <p:cNvSpPr/>
          <p:nvPr/>
        </p:nvSpPr>
        <p:spPr>
          <a:xfrm>
            <a:off x="1417320" y="2103120"/>
            <a:ext cx="4389120" cy="457200"/>
          </a:xfrm>
          <a:prstGeom prst="rect">
            <a:avLst/>
          </a:prstGeom>
          <a:noFill/>
          <a:ln/>
        </p:spPr>
        <p:txBody>
          <a:bodyPr wrap="square" rtlCol="0" anchor="ctr"/>
          <a:lstStyle/>
          <a:p>
            <a:pPr indent="0" marL="0">
              <a:buNone/>
            </a:pPr>
            <a:r>
              <a:rPr lang="en-US" sz="1700" b="1" dirty="0">
                <a:solidFill>
                  <a:srgbClr val="2E9E6B"/>
                </a:solidFill>
                <a:latin typeface="Calibri" pitchFamily="34" charset="0"/>
                <a:ea typeface="Calibri" pitchFamily="34" charset="-122"/>
                <a:cs typeface="Calibri" pitchFamily="34" charset="-120"/>
              </a:rPr>
              <a:t>Hashable  (immutable)</a:t>
            </a:r>
            <a:endParaRPr lang="en-US" sz="1700" dirty="0"/>
          </a:p>
        </p:txBody>
      </p:sp>
      <p:sp>
        <p:nvSpPr>
          <p:cNvPr id="11" name="Shape 7"/>
          <p:cNvSpPr/>
          <p:nvPr/>
        </p:nvSpPr>
        <p:spPr>
          <a:xfrm>
            <a:off x="777240" y="2743200"/>
            <a:ext cx="1463040" cy="420624"/>
          </a:xfrm>
          <a:prstGeom prst="roundRect">
            <a:avLst>
              <a:gd name="adj" fmla="val 50000"/>
            </a:avLst>
          </a:prstGeom>
          <a:solidFill>
            <a:srgbClr val="FFFFFF"/>
          </a:solidFill>
          <a:ln w="12700">
            <a:solidFill>
              <a:srgbClr val="2E9E6B"/>
            </a:solidFill>
            <a:prstDash val="solid"/>
          </a:ln>
        </p:spPr>
      </p:sp>
      <p:sp>
        <p:nvSpPr>
          <p:cNvPr id="12" name="Text 8"/>
          <p:cNvSpPr/>
          <p:nvPr/>
        </p:nvSpPr>
        <p:spPr>
          <a:xfrm>
            <a:off x="777240" y="2743200"/>
            <a:ext cx="1463040" cy="420624"/>
          </a:xfrm>
          <a:prstGeom prst="rect">
            <a:avLst/>
          </a:prstGeom>
          <a:noFill/>
          <a:ln/>
        </p:spPr>
        <p:txBody>
          <a:bodyPr wrap="square"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int</a:t>
            </a:r>
            <a:endParaRPr lang="en-US" sz="1300" dirty="0"/>
          </a:p>
        </p:txBody>
      </p:sp>
      <p:sp>
        <p:nvSpPr>
          <p:cNvPr id="13" name="Text 9"/>
          <p:cNvSpPr/>
          <p:nvPr/>
        </p:nvSpPr>
        <p:spPr>
          <a:xfrm>
            <a:off x="2377440" y="2743200"/>
            <a:ext cx="3566160" cy="420624"/>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hash(10)</a:t>
            </a:r>
            <a:endParaRPr lang="en-US" sz="1250" dirty="0"/>
          </a:p>
        </p:txBody>
      </p:sp>
      <p:sp>
        <p:nvSpPr>
          <p:cNvPr id="14" name="Shape 10"/>
          <p:cNvSpPr/>
          <p:nvPr/>
        </p:nvSpPr>
        <p:spPr>
          <a:xfrm>
            <a:off x="777240" y="3246120"/>
            <a:ext cx="1463040" cy="420624"/>
          </a:xfrm>
          <a:prstGeom prst="roundRect">
            <a:avLst>
              <a:gd name="adj" fmla="val 50000"/>
            </a:avLst>
          </a:prstGeom>
          <a:solidFill>
            <a:srgbClr val="FFFFFF"/>
          </a:solidFill>
          <a:ln w="12700">
            <a:solidFill>
              <a:srgbClr val="2E9E6B"/>
            </a:solidFill>
            <a:prstDash val="solid"/>
          </a:ln>
        </p:spPr>
      </p:sp>
      <p:sp>
        <p:nvSpPr>
          <p:cNvPr id="15" name="Text 11"/>
          <p:cNvSpPr/>
          <p:nvPr/>
        </p:nvSpPr>
        <p:spPr>
          <a:xfrm>
            <a:off x="777240" y="3246120"/>
            <a:ext cx="1463040" cy="420624"/>
          </a:xfrm>
          <a:prstGeom prst="rect">
            <a:avLst/>
          </a:prstGeom>
          <a:noFill/>
          <a:ln/>
        </p:spPr>
        <p:txBody>
          <a:bodyPr wrap="square"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float</a:t>
            </a:r>
            <a:endParaRPr lang="en-US" sz="1300" dirty="0"/>
          </a:p>
        </p:txBody>
      </p:sp>
      <p:sp>
        <p:nvSpPr>
          <p:cNvPr id="16" name="Text 12"/>
          <p:cNvSpPr/>
          <p:nvPr/>
        </p:nvSpPr>
        <p:spPr>
          <a:xfrm>
            <a:off x="2377440" y="3246120"/>
            <a:ext cx="3566160" cy="420624"/>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hash(3.14)</a:t>
            </a:r>
            <a:endParaRPr lang="en-US" sz="1250" dirty="0"/>
          </a:p>
        </p:txBody>
      </p:sp>
      <p:sp>
        <p:nvSpPr>
          <p:cNvPr id="17" name="Shape 13"/>
          <p:cNvSpPr/>
          <p:nvPr/>
        </p:nvSpPr>
        <p:spPr>
          <a:xfrm>
            <a:off x="777240" y="3749040"/>
            <a:ext cx="1463040" cy="420624"/>
          </a:xfrm>
          <a:prstGeom prst="roundRect">
            <a:avLst>
              <a:gd name="adj" fmla="val 50000"/>
            </a:avLst>
          </a:prstGeom>
          <a:solidFill>
            <a:srgbClr val="FFFFFF"/>
          </a:solidFill>
          <a:ln w="12700">
            <a:solidFill>
              <a:srgbClr val="2E9E6B"/>
            </a:solidFill>
            <a:prstDash val="solid"/>
          </a:ln>
        </p:spPr>
      </p:sp>
      <p:sp>
        <p:nvSpPr>
          <p:cNvPr id="18" name="Text 14"/>
          <p:cNvSpPr/>
          <p:nvPr/>
        </p:nvSpPr>
        <p:spPr>
          <a:xfrm>
            <a:off x="777240" y="3749040"/>
            <a:ext cx="1463040" cy="420624"/>
          </a:xfrm>
          <a:prstGeom prst="rect">
            <a:avLst/>
          </a:prstGeom>
          <a:noFill/>
          <a:ln/>
        </p:spPr>
        <p:txBody>
          <a:bodyPr wrap="square"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bool</a:t>
            </a:r>
            <a:endParaRPr lang="en-US" sz="1300" dirty="0"/>
          </a:p>
        </p:txBody>
      </p:sp>
      <p:sp>
        <p:nvSpPr>
          <p:cNvPr id="19" name="Text 15"/>
          <p:cNvSpPr/>
          <p:nvPr/>
        </p:nvSpPr>
        <p:spPr>
          <a:xfrm>
            <a:off x="2377440" y="3749040"/>
            <a:ext cx="3566160" cy="420624"/>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hash(True)</a:t>
            </a:r>
            <a:endParaRPr lang="en-US" sz="1250" dirty="0"/>
          </a:p>
        </p:txBody>
      </p:sp>
      <p:sp>
        <p:nvSpPr>
          <p:cNvPr id="20" name="Shape 16"/>
          <p:cNvSpPr/>
          <p:nvPr/>
        </p:nvSpPr>
        <p:spPr>
          <a:xfrm>
            <a:off x="777240" y="4251960"/>
            <a:ext cx="1463040" cy="420624"/>
          </a:xfrm>
          <a:prstGeom prst="roundRect">
            <a:avLst>
              <a:gd name="adj" fmla="val 50000"/>
            </a:avLst>
          </a:prstGeom>
          <a:solidFill>
            <a:srgbClr val="FFFFFF"/>
          </a:solidFill>
          <a:ln w="12700">
            <a:solidFill>
              <a:srgbClr val="2E9E6B"/>
            </a:solidFill>
            <a:prstDash val="solid"/>
          </a:ln>
        </p:spPr>
      </p:sp>
      <p:sp>
        <p:nvSpPr>
          <p:cNvPr id="21" name="Text 17"/>
          <p:cNvSpPr/>
          <p:nvPr/>
        </p:nvSpPr>
        <p:spPr>
          <a:xfrm>
            <a:off x="777240" y="4251960"/>
            <a:ext cx="1463040" cy="420624"/>
          </a:xfrm>
          <a:prstGeom prst="rect">
            <a:avLst/>
          </a:prstGeom>
          <a:noFill/>
          <a:ln/>
        </p:spPr>
        <p:txBody>
          <a:bodyPr wrap="square"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str</a:t>
            </a:r>
            <a:endParaRPr lang="en-US" sz="1300" dirty="0"/>
          </a:p>
        </p:txBody>
      </p:sp>
      <p:sp>
        <p:nvSpPr>
          <p:cNvPr id="22" name="Text 18"/>
          <p:cNvSpPr/>
          <p:nvPr/>
        </p:nvSpPr>
        <p:spPr>
          <a:xfrm>
            <a:off x="2377440" y="4251960"/>
            <a:ext cx="3566160" cy="420624"/>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hash("Ali")</a:t>
            </a:r>
            <a:endParaRPr lang="en-US" sz="1250" dirty="0"/>
          </a:p>
        </p:txBody>
      </p:sp>
      <p:sp>
        <p:nvSpPr>
          <p:cNvPr id="23" name="Shape 19"/>
          <p:cNvSpPr/>
          <p:nvPr/>
        </p:nvSpPr>
        <p:spPr>
          <a:xfrm>
            <a:off x="777240" y="4754880"/>
            <a:ext cx="1463040" cy="420624"/>
          </a:xfrm>
          <a:prstGeom prst="roundRect">
            <a:avLst>
              <a:gd name="adj" fmla="val 50000"/>
            </a:avLst>
          </a:prstGeom>
          <a:solidFill>
            <a:srgbClr val="FFFFFF"/>
          </a:solidFill>
          <a:ln w="12700">
            <a:solidFill>
              <a:srgbClr val="2E9E6B"/>
            </a:solidFill>
            <a:prstDash val="solid"/>
          </a:ln>
        </p:spPr>
      </p:sp>
      <p:sp>
        <p:nvSpPr>
          <p:cNvPr id="24" name="Text 20"/>
          <p:cNvSpPr/>
          <p:nvPr/>
        </p:nvSpPr>
        <p:spPr>
          <a:xfrm>
            <a:off x="777240" y="4754880"/>
            <a:ext cx="1463040" cy="420624"/>
          </a:xfrm>
          <a:prstGeom prst="rect">
            <a:avLst/>
          </a:prstGeom>
          <a:noFill/>
          <a:ln/>
        </p:spPr>
        <p:txBody>
          <a:bodyPr wrap="square"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tuple</a:t>
            </a:r>
            <a:endParaRPr lang="en-US" sz="1300" dirty="0"/>
          </a:p>
        </p:txBody>
      </p:sp>
      <p:sp>
        <p:nvSpPr>
          <p:cNvPr id="25" name="Text 21"/>
          <p:cNvSpPr/>
          <p:nvPr/>
        </p:nvSpPr>
        <p:spPr>
          <a:xfrm>
            <a:off x="2377440" y="4754880"/>
            <a:ext cx="3566160" cy="420624"/>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hash((1, 2))</a:t>
            </a:r>
            <a:endParaRPr lang="en-US" sz="1250" dirty="0"/>
          </a:p>
        </p:txBody>
      </p:sp>
      <p:sp>
        <p:nvSpPr>
          <p:cNvPr id="26" name="Shape 22"/>
          <p:cNvSpPr/>
          <p:nvPr/>
        </p:nvSpPr>
        <p:spPr>
          <a:xfrm>
            <a:off x="777240" y="5257800"/>
            <a:ext cx="1463040" cy="420624"/>
          </a:xfrm>
          <a:prstGeom prst="roundRect">
            <a:avLst>
              <a:gd name="adj" fmla="val 50000"/>
            </a:avLst>
          </a:prstGeom>
          <a:solidFill>
            <a:srgbClr val="FFFFFF"/>
          </a:solidFill>
          <a:ln w="12700">
            <a:solidFill>
              <a:srgbClr val="2E9E6B"/>
            </a:solidFill>
            <a:prstDash val="solid"/>
          </a:ln>
        </p:spPr>
      </p:sp>
      <p:sp>
        <p:nvSpPr>
          <p:cNvPr id="27" name="Text 23"/>
          <p:cNvSpPr/>
          <p:nvPr/>
        </p:nvSpPr>
        <p:spPr>
          <a:xfrm>
            <a:off x="777240" y="5257800"/>
            <a:ext cx="1463040" cy="420624"/>
          </a:xfrm>
          <a:prstGeom prst="rect">
            <a:avLst/>
          </a:prstGeom>
          <a:noFill/>
          <a:ln/>
        </p:spPr>
        <p:txBody>
          <a:bodyPr wrap="square" rtlCol="0" anchor="ctr"/>
          <a:lstStyle/>
          <a:p>
            <a:pPr algn="ctr" indent="0" marL="0">
              <a:buNone/>
            </a:pPr>
            <a:r>
              <a:rPr lang="en-US" sz="1300" b="1" dirty="0">
                <a:solidFill>
                  <a:srgbClr val="2E9E6B"/>
                </a:solidFill>
                <a:latin typeface="Courier New" pitchFamily="34" charset="0"/>
                <a:ea typeface="Courier New" pitchFamily="34" charset="-122"/>
                <a:cs typeface="Courier New" pitchFamily="34" charset="-120"/>
              </a:rPr>
              <a:t>frozenset</a:t>
            </a:r>
            <a:endParaRPr lang="en-US" sz="1300" dirty="0"/>
          </a:p>
        </p:txBody>
      </p:sp>
      <p:sp>
        <p:nvSpPr>
          <p:cNvPr id="28" name="Text 24"/>
          <p:cNvSpPr/>
          <p:nvPr/>
        </p:nvSpPr>
        <p:spPr>
          <a:xfrm>
            <a:off x="2377440" y="5257800"/>
            <a:ext cx="3566160" cy="420624"/>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hash(frozenset({1,2}))</a:t>
            </a:r>
            <a:endParaRPr lang="en-US" sz="1250" dirty="0"/>
          </a:p>
        </p:txBody>
      </p:sp>
      <p:sp>
        <p:nvSpPr>
          <p:cNvPr id="29" name="Shape 25"/>
          <p:cNvSpPr/>
          <p:nvPr/>
        </p:nvSpPr>
        <p:spPr>
          <a:xfrm>
            <a:off x="6217920" y="1874520"/>
            <a:ext cx="5422392" cy="3977640"/>
          </a:xfrm>
          <a:prstGeom prst="roundRect">
            <a:avLst>
              <a:gd name="adj" fmla="val 2069"/>
            </a:avLst>
          </a:prstGeom>
          <a:solidFill>
            <a:srgbClr val="FBEDE9"/>
          </a:solidFill>
          <a:ln/>
          <a:effectLst>
            <a:outerShdw sx="100000" sy="100000" kx="0" ky="0" algn="bl" rotWithShape="0" blurRad="76200" dist="25400" dir="5400000">
              <a:srgbClr val="000000">
                <a:alpha val="12000"/>
              </a:srgbClr>
            </a:outerShdw>
          </a:effectLst>
        </p:spPr>
      </p:sp>
      <p:sp>
        <p:nvSpPr>
          <p:cNvPr id="30" name="Shape 26"/>
          <p:cNvSpPr/>
          <p:nvPr/>
        </p:nvSpPr>
        <p:spPr>
          <a:xfrm>
            <a:off x="6446520" y="2084832"/>
            <a:ext cx="502920" cy="502920"/>
          </a:xfrm>
          <a:prstGeom prst="roundRect">
            <a:avLst>
              <a:gd name="adj" fmla="val 18182"/>
            </a:avLst>
          </a:prstGeom>
          <a:solidFill>
            <a:srgbClr val="E1674C"/>
          </a:solidFill>
          <a:ln/>
        </p:spPr>
      </p:sp>
      <p:pic>
        <p:nvPicPr>
          <p:cNvPr id="31" name="Image 2" descr="preencoded.png">    </p:cNvPr>
          <p:cNvPicPr>
            <a:picLocks noChangeAspect="1"/>
          </p:cNvPicPr>
          <p:nvPr/>
        </p:nvPicPr>
        <p:blipFill>
          <a:blip r:embed="rId3"/>
          <a:stretch>
            <a:fillRect/>
          </a:stretch>
        </p:blipFill>
        <p:spPr>
          <a:xfrm>
            <a:off x="6556248" y="2194560"/>
            <a:ext cx="283464" cy="283464"/>
          </a:xfrm>
          <a:prstGeom prst="rect">
            <a:avLst/>
          </a:prstGeom>
        </p:spPr>
      </p:pic>
      <p:sp>
        <p:nvSpPr>
          <p:cNvPr id="32" name="Text 27"/>
          <p:cNvSpPr/>
          <p:nvPr/>
        </p:nvSpPr>
        <p:spPr>
          <a:xfrm>
            <a:off x="7086600" y="2103120"/>
            <a:ext cx="4297680" cy="457200"/>
          </a:xfrm>
          <a:prstGeom prst="rect">
            <a:avLst/>
          </a:prstGeom>
          <a:noFill/>
          <a:ln/>
        </p:spPr>
        <p:txBody>
          <a:bodyPr wrap="square" rtlCol="0" anchor="ctr"/>
          <a:lstStyle/>
          <a:p>
            <a:pPr indent="0" marL="0">
              <a:buNone/>
            </a:pPr>
            <a:r>
              <a:rPr lang="en-US" sz="1700" b="1" dirty="0">
                <a:solidFill>
                  <a:srgbClr val="E1674C"/>
                </a:solidFill>
                <a:latin typeface="Calibri" pitchFamily="34" charset="0"/>
                <a:ea typeface="Calibri" pitchFamily="34" charset="-122"/>
                <a:cs typeface="Calibri" pitchFamily="34" charset="-120"/>
              </a:rPr>
              <a:t>Unhashable  (mutable)</a:t>
            </a:r>
            <a:endParaRPr lang="en-US" sz="1700" dirty="0"/>
          </a:p>
        </p:txBody>
      </p:sp>
      <p:sp>
        <p:nvSpPr>
          <p:cNvPr id="33" name="Shape 28"/>
          <p:cNvSpPr/>
          <p:nvPr/>
        </p:nvSpPr>
        <p:spPr>
          <a:xfrm>
            <a:off x="6446520" y="2834640"/>
            <a:ext cx="1371600" cy="457200"/>
          </a:xfrm>
          <a:prstGeom prst="roundRect">
            <a:avLst>
              <a:gd name="adj" fmla="val 50000"/>
            </a:avLst>
          </a:prstGeom>
          <a:solidFill>
            <a:srgbClr val="FFFFFF"/>
          </a:solidFill>
          <a:ln w="12700">
            <a:solidFill>
              <a:srgbClr val="E1674C"/>
            </a:solidFill>
            <a:prstDash val="solid"/>
          </a:ln>
        </p:spPr>
      </p:sp>
      <p:sp>
        <p:nvSpPr>
          <p:cNvPr id="34" name="Text 29"/>
          <p:cNvSpPr/>
          <p:nvPr/>
        </p:nvSpPr>
        <p:spPr>
          <a:xfrm>
            <a:off x="6446520" y="2834640"/>
            <a:ext cx="1371600" cy="457200"/>
          </a:xfrm>
          <a:prstGeom prst="rect">
            <a:avLst/>
          </a:prstGeom>
          <a:noFill/>
          <a:ln/>
        </p:spPr>
        <p:txBody>
          <a:bodyPr wrap="square" rtlCol="0" anchor="ctr"/>
          <a:lstStyle/>
          <a:p>
            <a:pPr algn="ctr" indent="0" marL="0">
              <a:buNone/>
            </a:pPr>
            <a:r>
              <a:rPr lang="en-US" sz="1300" b="1" dirty="0">
                <a:solidFill>
                  <a:srgbClr val="E1674C"/>
                </a:solidFill>
                <a:latin typeface="Courier New" pitchFamily="34" charset="0"/>
                <a:ea typeface="Courier New" pitchFamily="34" charset="-122"/>
                <a:cs typeface="Courier New" pitchFamily="34" charset="-120"/>
              </a:rPr>
              <a:t>list</a:t>
            </a:r>
            <a:endParaRPr lang="en-US" sz="1300" dirty="0"/>
          </a:p>
        </p:txBody>
      </p:sp>
      <p:sp>
        <p:nvSpPr>
          <p:cNvPr id="35" name="Text 30"/>
          <p:cNvSpPr/>
          <p:nvPr/>
        </p:nvSpPr>
        <p:spPr>
          <a:xfrm>
            <a:off x="7909560" y="2834640"/>
            <a:ext cx="2103120" cy="457200"/>
          </a:xfrm>
          <a:prstGeom prst="rect">
            <a:avLst/>
          </a:prstGeom>
          <a:noFill/>
          <a:ln/>
        </p:spPr>
        <p:txBody>
          <a:bodyPr wrap="square" rtlCol="0" anchor="ctr"/>
          <a:lstStyle/>
          <a:p>
            <a:pPr indent="0" marL="0">
              <a:buNone/>
            </a:pPr>
            <a:r>
              <a:rPr lang="en-US" sz="1200" dirty="0">
                <a:solidFill>
                  <a:srgbClr val="16283B"/>
                </a:solidFill>
                <a:latin typeface="Courier New" pitchFamily="34" charset="0"/>
                <a:ea typeface="Courier New" pitchFamily="34" charset="-122"/>
                <a:cs typeface="Courier New" pitchFamily="34" charset="-120"/>
              </a:rPr>
              <a:t>hash([1, 2])</a:t>
            </a:r>
            <a:endParaRPr lang="en-US" sz="1200" dirty="0"/>
          </a:p>
        </p:txBody>
      </p:sp>
      <p:sp>
        <p:nvSpPr>
          <p:cNvPr id="36" name="Text 31"/>
          <p:cNvSpPr/>
          <p:nvPr/>
        </p:nvSpPr>
        <p:spPr>
          <a:xfrm>
            <a:off x="9966960" y="2834640"/>
            <a:ext cx="1554480" cy="457200"/>
          </a:xfrm>
          <a:prstGeom prst="rect">
            <a:avLst/>
          </a:prstGeom>
          <a:noFill/>
          <a:ln/>
        </p:spPr>
        <p:txBody>
          <a:bodyPr wrap="square" rtlCol="0" anchor="ctr"/>
          <a:lstStyle/>
          <a:p>
            <a:pPr indent="0" marL="0">
              <a:buNone/>
            </a:pPr>
            <a:r>
              <a:rPr lang="en-US" sz="1150" b="1" dirty="0">
                <a:solidFill>
                  <a:srgbClr val="D9534F"/>
                </a:solidFill>
                <a:latin typeface="Courier New" pitchFamily="34" charset="0"/>
                <a:ea typeface="Courier New" pitchFamily="34" charset="-122"/>
                <a:cs typeface="Courier New" pitchFamily="34" charset="-120"/>
              </a:rPr>
              <a:t>→ TypeError</a:t>
            </a:r>
            <a:endParaRPr lang="en-US" sz="1150" dirty="0"/>
          </a:p>
        </p:txBody>
      </p:sp>
      <p:sp>
        <p:nvSpPr>
          <p:cNvPr id="37" name="Shape 32"/>
          <p:cNvSpPr/>
          <p:nvPr/>
        </p:nvSpPr>
        <p:spPr>
          <a:xfrm>
            <a:off x="6446520" y="3474720"/>
            <a:ext cx="1371600" cy="457200"/>
          </a:xfrm>
          <a:prstGeom prst="roundRect">
            <a:avLst>
              <a:gd name="adj" fmla="val 50000"/>
            </a:avLst>
          </a:prstGeom>
          <a:solidFill>
            <a:srgbClr val="FFFFFF"/>
          </a:solidFill>
          <a:ln w="12700">
            <a:solidFill>
              <a:srgbClr val="E1674C"/>
            </a:solidFill>
            <a:prstDash val="solid"/>
          </a:ln>
        </p:spPr>
      </p:sp>
      <p:sp>
        <p:nvSpPr>
          <p:cNvPr id="38" name="Text 33"/>
          <p:cNvSpPr/>
          <p:nvPr/>
        </p:nvSpPr>
        <p:spPr>
          <a:xfrm>
            <a:off x="6446520" y="3474720"/>
            <a:ext cx="1371600" cy="457200"/>
          </a:xfrm>
          <a:prstGeom prst="rect">
            <a:avLst/>
          </a:prstGeom>
          <a:noFill/>
          <a:ln/>
        </p:spPr>
        <p:txBody>
          <a:bodyPr wrap="square" rtlCol="0" anchor="ctr"/>
          <a:lstStyle/>
          <a:p>
            <a:pPr algn="ctr" indent="0" marL="0">
              <a:buNone/>
            </a:pPr>
            <a:r>
              <a:rPr lang="en-US" sz="1300" b="1" dirty="0">
                <a:solidFill>
                  <a:srgbClr val="E1674C"/>
                </a:solidFill>
                <a:latin typeface="Courier New" pitchFamily="34" charset="0"/>
                <a:ea typeface="Courier New" pitchFamily="34" charset="-122"/>
                <a:cs typeface="Courier New" pitchFamily="34" charset="-120"/>
              </a:rPr>
              <a:t>dict</a:t>
            </a:r>
            <a:endParaRPr lang="en-US" sz="1300" dirty="0"/>
          </a:p>
        </p:txBody>
      </p:sp>
      <p:sp>
        <p:nvSpPr>
          <p:cNvPr id="39" name="Text 34"/>
          <p:cNvSpPr/>
          <p:nvPr/>
        </p:nvSpPr>
        <p:spPr>
          <a:xfrm>
            <a:off x="7909560" y="3474720"/>
            <a:ext cx="2103120" cy="457200"/>
          </a:xfrm>
          <a:prstGeom prst="rect">
            <a:avLst/>
          </a:prstGeom>
          <a:noFill/>
          <a:ln/>
        </p:spPr>
        <p:txBody>
          <a:bodyPr wrap="square" rtlCol="0" anchor="ctr"/>
          <a:lstStyle/>
          <a:p>
            <a:pPr indent="0" marL="0">
              <a:buNone/>
            </a:pPr>
            <a:r>
              <a:rPr lang="en-US" sz="1200" dirty="0">
                <a:solidFill>
                  <a:srgbClr val="16283B"/>
                </a:solidFill>
                <a:latin typeface="Courier New" pitchFamily="34" charset="0"/>
                <a:ea typeface="Courier New" pitchFamily="34" charset="-122"/>
                <a:cs typeface="Courier New" pitchFamily="34" charset="-120"/>
              </a:rPr>
              <a:t>hash({1: 2})</a:t>
            </a:r>
            <a:endParaRPr lang="en-US" sz="1200" dirty="0"/>
          </a:p>
        </p:txBody>
      </p:sp>
      <p:sp>
        <p:nvSpPr>
          <p:cNvPr id="40" name="Text 35"/>
          <p:cNvSpPr/>
          <p:nvPr/>
        </p:nvSpPr>
        <p:spPr>
          <a:xfrm>
            <a:off x="9966960" y="3474720"/>
            <a:ext cx="1554480" cy="457200"/>
          </a:xfrm>
          <a:prstGeom prst="rect">
            <a:avLst/>
          </a:prstGeom>
          <a:noFill/>
          <a:ln/>
        </p:spPr>
        <p:txBody>
          <a:bodyPr wrap="square" rtlCol="0" anchor="ctr"/>
          <a:lstStyle/>
          <a:p>
            <a:pPr indent="0" marL="0">
              <a:buNone/>
            </a:pPr>
            <a:r>
              <a:rPr lang="en-US" sz="1150" b="1" dirty="0">
                <a:solidFill>
                  <a:srgbClr val="D9534F"/>
                </a:solidFill>
                <a:latin typeface="Courier New" pitchFamily="34" charset="0"/>
                <a:ea typeface="Courier New" pitchFamily="34" charset="-122"/>
                <a:cs typeface="Courier New" pitchFamily="34" charset="-120"/>
              </a:rPr>
              <a:t>→ TypeError</a:t>
            </a:r>
            <a:endParaRPr lang="en-US" sz="1150" dirty="0"/>
          </a:p>
        </p:txBody>
      </p:sp>
      <p:sp>
        <p:nvSpPr>
          <p:cNvPr id="41" name="Shape 36"/>
          <p:cNvSpPr/>
          <p:nvPr/>
        </p:nvSpPr>
        <p:spPr>
          <a:xfrm>
            <a:off x="6446520" y="4114800"/>
            <a:ext cx="1371600" cy="457200"/>
          </a:xfrm>
          <a:prstGeom prst="roundRect">
            <a:avLst>
              <a:gd name="adj" fmla="val 50000"/>
            </a:avLst>
          </a:prstGeom>
          <a:solidFill>
            <a:srgbClr val="FFFFFF"/>
          </a:solidFill>
          <a:ln w="12700">
            <a:solidFill>
              <a:srgbClr val="E1674C"/>
            </a:solidFill>
            <a:prstDash val="solid"/>
          </a:ln>
        </p:spPr>
      </p:sp>
      <p:sp>
        <p:nvSpPr>
          <p:cNvPr id="42" name="Text 37"/>
          <p:cNvSpPr/>
          <p:nvPr/>
        </p:nvSpPr>
        <p:spPr>
          <a:xfrm>
            <a:off x="6446520" y="4114800"/>
            <a:ext cx="1371600" cy="457200"/>
          </a:xfrm>
          <a:prstGeom prst="rect">
            <a:avLst/>
          </a:prstGeom>
          <a:noFill/>
          <a:ln/>
        </p:spPr>
        <p:txBody>
          <a:bodyPr wrap="square" rtlCol="0" anchor="ctr"/>
          <a:lstStyle/>
          <a:p>
            <a:pPr algn="ctr" indent="0" marL="0">
              <a:buNone/>
            </a:pPr>
            <a:r>
              <a:rPr lang="en-US" sz="1300" b="1" dirty="0">
                <a:solidFill>
                  <a:srgbClr val="E1674C"/>
                </a:solidFill>
                <a:latin typeface="Courier New" pitchFamily="34" charset="0"/>
                <a:ea typeface="Courier New" pitchFamily="34" charset="-122"/>
                <a:cs typeface="Courier New" pitchFamily="34" charset="-120"/>
              </a:rPr>
              <a:t>set</a:t>
            </a:r>
            <a:endParaRPr lang="en-US" sz="1300" dirty="0"/>
          </a:p>
        </p:txBody>
      </p:sp>
      <p:sp>
        <p:nvSpPr>
          <p:cNvPr id="43" name="Text 38"/>
          <p:cNvSpPr/>
          <p:nvPr/>
        </p:nvSpPr>
        <p:spPr>
          <a:xfrm>
            <a:off x="7909560" y="4114800"/>
            <a:ext cx="2103120" cy="457200"/>
          </a:xfrm>
          <a:prstGeom prst="rect">
            <a:avLst/>
          </a:prstGeom>
          <a:noFill/>
          <a:ln/>
        </p:spPr>
        <p:txBody>
          <a:bodyPr wrap="square" rtlCol="0" anchor="ctr"/>
          <a:lstStyle/>
          <a:p>
            <a:pPr indent="0" marL="0">
              <a:buNone/>
            </a:pPr>
            <a:r>
              <a:rPr lang="en-US" sz="1200" dirty="0">
                <a:solidFill>
                  <a:srgbClr val="16283B"/>
                </a:solidFill>
                <a:latin typeface="Courier New" pitchFamily="34" charset="0"/>
                <a:ea typeface="Courier New" pitchFamily="34" charset="-122"/>
                <a:cs typeface="Courier New" pitchFamily="34" charset="-120"/>
              </a:rPr>
              <a:t>hash({1, 2})</a:t>
            </a:r>
            <a:endParaRPr lang="en-US" sz="1200" dirty="0"/>
          </a:p>
        </p:txBody>
      </p:sp>
      <p:sp>
        <p:nvSpPr>
          <p:cNvPr id="44" name="Text 39"/>
          <p:cNvSpPr/>
          <p:nvPr/>
        </p:nvSpPr>
        <p:spPr>
          <a:xfrm>
            <a:off x="9966960" y="4114800"/>
            <a:ext cx="1554480" cy="457200"/>
          </a:xfrm>
          <a:prstGeom prst="rect">
            <a:avLst/>
          </a:prstGeom>
          <a:noFill/>
          <a:ln/>
        </p:spPr>
        <p:txBody>
          <a:bodyPr wrap="square" rtlCol="0" anchor="ctr"/>
          <a:lstStyle/>
          <a:p>
            <a:pPr indent="0" marL="0">
              <a:buNone/>
            </a:pPr>
            <a:r>
              <a:rPr lang="en-US" sz="1150" b="1" dirty="0">
                <a:solidFill>
                  <a:srgbClr val="D9534F"/>
                </a:solidFill>
                <a:latin typeface="Courier New" pitchFamily="34" charset="0"/>
                <a:ea typeface="Courier New" pitchFamily="34" charset="-122"/>
                <a:cs typeface="Courier New" pitchFamily="34" charset="-120"/>
              </a:rPr>
              <a:t>→ TypeError</a:t>
            </a:r>
            <a:endParaRPr lang="en-US" sz="1150" dirty="0"/>
          </a:p>
        </p:txBody>
      </p:sp>
      <p:sp>
        <p:nvSpPr>
          <p:cNvPr id="45" name="Text 40"/>
          <p:cNvSpPr/>
          <p:nvPr/>
        </p:nvSpPr>
        <p:spPr>
          <a:xfrm>
            <a:off x="6446520" y="4800600"/>
            <a:ext cx="4983480" cy="914400"/>
          </a:xfrm>
          <a:prstGeom prst="rect">
            <a:avLst/>
          </a:prstGeom>
          <a:noFill/>
          <a:ln/>
        </p:spPr>
        <p:txBody>
          <a:bodyPr wrap="square" rtlCol="0" anchor="t"/>
          <a:lstStyle/>
          <a:p>
            <a:pPr indent="0" marL="0">
              <a:lnSpc>
                <a:spcPct val="112000"/>
              </a:lnSpc>
              <a:buNone/>
            </a:pPr>
            <a:r>
              <a:rPr lang="en-US" sz="1300" dirty="0">
                <a:solidFill>
                  <a:srgbClr val="16283B"/>
                </a:solidFill>
                <a:latin typeface="Calibri" pitchFamily="34" charset="0"/>
                <a:ea typeface="Calibri" pitchFamily="34" charset="-122"/>
                <a:cs typeface="Calibri" pitchFamily="34" charset="-120"/>
              </a:rPr>
              <a:t>These are containers that can grow or shrink, so their contents — and therefore their hash — could change. Python refuses to hash them.</a:t>
            </a:r>
            <a:endParaRPr lang="en-US" sz="1300" dirty="0"/>
          </a:p>
        </p:txBody>
      </p:sp>
      <p:sp>
        <p:nvSpPr>
          <p:cNvPr id="46" name="Text 41"/>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7" name="Text 42"/>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3 · HASHABLE VS UNHASHABLE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Why Mutable Objects Can't Be Keys</a:t>
            </a:r>
            <a:endParaRPr lang="en-US" sz="2600" dirty="0"/>
          </a:p>
        </p:txBody>
      </p:sp>
      <p:sp>
        <p:nvSpPr>
          <p:cNvPr id="6" name="Text 3"/>
          <p:cNvSpPr/>
          <p:nvPr/>
        </p:nvSpPr>
        <p:spPr>
          <a:xfrm>
            <a:off x="548640" y="1325880"/>
            <a:ext cx="11064240" cy="45720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A key's hash decides its slot. If the key could change, its hash would change — and Python would look in the wrong slot.</a:t>
            </a:r>
            <a:endParaRPr lang="en-US" sz="1500" dirty="0"/>
          </a:p>
        </p:txBody>
      </p:sp>
      <p:sp>
        <p:nvSpPr>
          <p:cNvPr id="7" name="Shape 4"/>
          <p:cNvSpPr/>
          <p:nvPr/>
        </p:nvSpPr>
        <p:spPr>
          <a:xfrm>
            <a:off x="548640" y="1920240"/>
            <a:ext cx="11091672" cy="3931920"/>
          </a:xfrm>
          <a:prstGeom prst="roundRect">
            <a:avLst>
              <a:gd name="adj" fmla="val 2093"/>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914400" y="2331720"/>
            <a:ext cx="2743200" cy="868680"/>
          </a:xfrm>
          <a:prstGeom prst="roundRect">
            <a:avLst>
              <a:gd name="adj" fmla="val 7368"/>
            </a:avLst>
          </a:prstGeom>
          <a:solidFill>
            <a:srgbClr val="2E9E6B"/>
          </a:solidFill>
          <a:ln/>
          <a:effectLst>
            <a:outerShdw sx="100000" sy="100000" kx="0" ky="0" algn="bl" rotWithShape="0" blurRad="63500" dist="25400" dir="5400000">
              <a:srgbClr val="000000">
                <a:alpha val="14000"/>
              </a:srgbClr>
            </a:outerShdw>
          </a:effectLst>
        </p:spPr>
      </p:sp>
      <p:sp>
        <p:nvSpPr>
          <p:cNvPr id="9" name="Text 6"/>
          <p:cNvSpPr/>
          <p:nvPr/>
        </p:nvSpPr>
        <p:spPr>
          <a:xfrm>
            <a:off x="960120" y="2331720"/>
            <a:ext cx="2651760"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 [1, 2]</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hash → slot 3</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(stored here)</a:t>
            </a:r>
            <a:endParaRPr lang="en-US" sz="1250" dirty="0"/>
          </a:p>
        </p:txBody>
      </p:sp>
      <p:sp>
        <p:nvSpPr>
          <p:cNvPr id="10" name="Text 7"/>
          <p:cNvSpPr/>
          <p:nvPr/>
        </p:nvSpPr>
        <p:spPr>
          <a:xfrm>
            <a:off x="3703320" y="2560320"/>
            <a:ext cx="502920" cy="457200"/>
          </a:xfrm>
          <a:prstGeom prst="rect">
            <a:avLst/>
          </a:prstGeom>
          <a:noFill/>
          <a:ln/>
        </p:spPr>
        <p:txBody>
          <a:bodyPr wrap="square" lIns="0" tIns="0" rIns="0" bIns="0" rtlCol="0" anchor="ctr"/>
          <a:lstStyle/>
          <a:p>
            <a:pPr algn="ctr" indent="0" marL="0">
              <a:buNone/>
            </a:pPr>
            <a:r>
              <a:rPr lang="en-US" sz="2600" b="1" dirty="0">
                <a:solidFill>
                  <a:srgbClr val="5C7488"/>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4297680" y="2331720"/>
            <a:ext cx="3108960" cy="868680"/>
          </a:xfrm>
          <a:prstGeom prst="roundRect">
            <a:avLst>
              <a:gd name="adj" fmla="val 7368"/>
            </a:avLst>
          </a:prstGeom>
          <a:solidFill>
            <a:srgbClr val="F2B138"/>
          </a:solidFill>
          <a:ln/>
          <a:effectLst>
            <a:outerShdw sx="100000" sy="100000" kx="0" ky="0" algn="bl" rotWithShape="0" blurRad="63500" dist="25400" dir="5400000">
              <a:srgbClr val="000000">
                <a:alpha val="14000"/>
              </a:srgbClr>
            </a:outerShdw>
          </a:effectLst>
        </p:spPr>
      </p:sp>
      <p:sp>
        <p:nvSpPr>
          <p:cNvPr id="12" name="Text 9"/>
          <p:cNvSpPr/>
          <p:nvPr/>
        </p:nvSpPr>
        <p:spPr>
          <a:xfrm>
            <a:off x="4343400" y="2331720"/>
            <a:ext cx="3017520" cy="868680"/>
          </a:xfrm>
          <a:prstGeom prst="rect">
            <a:avLst/>
          </a:prstGeom>
          <a:noFill/>
          <a:ln/>
        </p:spPr>
        <p:txBody>
          <a:bodyPr wrap="square" rtlCol="0" anchor="ctr"/>
          <a:lstStyle/>
          <a:p>
            <a:pPr algn="ctr" indent="0" marL="0">
              <a:buNone/>
            </a:pPr>
            <a:r>
              <a:rPr lang="en-US" sz="1250" b="1" dirty="0">
                <a:solidFill>
                  <a:srgbClr val="16283B"/>
                </a:solidFill>
                <a:latin typeface="Calibri" pitchFamily="34" charset="0"/>
                <a:ea typeface="Calibri" pitchFamily="34" charset="-122"/>
                <a:cs typeface="Calibri" pitchFamily="34" charset="-120"/>
              </a:rPr>
              <a:t>You change the list:</a:t>
            </a:r>
            <a:endParaRPr lang="en-US" sz="1250" dirty="0"/>
          </a:p>
          <a:p>
            <a:pPr algn="ctr" indent="0" marL="0">
              <a:buNone/>
            </a:pPr>
            <a:r>
              <a:rPr lang="en-US" sz="1250" b="1" dirty="0">
                <a:solidFill>
                  <a:srgbClr val="16283B"/>
                </a:solidFill>
                <a:latin typeface="Calibri" pitchFamily="34" charset="0"/>
                <a:ea typeface="Calibri" pitchFamily="34" charset="-122"/>
                <a:cs typeface="Calibri" pitchFamily="34" charset="-120"/>
              </a:rPr>
              <a:t>key.append(9)</a:t>
            </a:r>
            <a:endParaRPr lang="en-US" sz="1250" dirty="0"/>
          </a:p>
          <a:p>
            <a:pPr algn="ctr" indent="0" marL="0">
              <a:buNone/>
            </a:pPr>
            <a:r>
              <a:rPr lang="en-US" sz="1250" b="1" dirty="0">
                <a:solidFill>
                  <a:srgbClr val="16283B"/>
                </a:solidFill>
                <a:latin typeface="Calibri" pitchFamily="34" charset="0"/>
                <a:ea typeface="Calibri" pitchFamily="34" charset="-122"/>
                <a:cs typeface="Calibri" pitchFamily="34" charset="-120"/>
              </a:rPr>
              <a:t>→ [1, 2, 9]</a:t>
            </a:r>
            <a:endParaRPr lang="en-US" sz="1250" dirty="0"/>
          </a:p>
        </p:txBody>
      </p:sp>
      <p:sp>
        <p:nvSpPr>
          <p:cNvPr id="13" name="Text 10"/>
          <p:cNvSpPr/>
          <p:nvPr/>
        </p:nvSpPr>
        <p:spPr>
          <a:xfrm>
            <a:off x="7452360" y="2560320"/>
            <a:ext cx="502920" cy="457200"/>
          </a:xfrm>
          <a:prstGeom prst="rect">
            <a:avLst/>
          </a:prstGeom>
          <a:noFill/>
          <a:ln/>
        </p:spPr>
        <p:txBody>
          <a:bodyPr wrap="square" lIns="0" tIns="0" rIns="0" bIns="0" rtlCol="0" anchor="ctr"/>
          <a:lstStyle/>
          <a:p>
            <a:pPr algn="ctr" indent="0" marL="0">
              <a:buNone/>
            </a:pPr>
            <a:r>
              <a:rPr lang="en-US" sz="2600" b="1" dirty="0">
                <a:solidFill>
                  <a:srgbClr val="5C7488"/>
                </a:solidFill>
                <a:latin typeface="Calibri" pitchFamily="34" charset="0"/>
                <a:ea typeface="Calibri" pitchFamily="34" charset="-122"/>
                <a:cs typeface="Calibri" pitchFamily="34" charset="-120"/>
              </a:rPr>
              <a:t>→</a:t>
            </a:r>
            <a:endParaRPr lang="en-US" sz="2600" dirty="0"/>
          </a:p>
        </p:txBody>
      </p:sp>
      <p:sp>
        <p:nvSpPr>
          <p:cNvPr id="14" name="Shape 11"/>
          <p:cNvSpPr/>
          <p:nvPr/>
        </p:nvSpPr>
        <p:spPr>
          <a:xfrm>
            <a:off x="8046720" y="2331720"/>
            <a:ext cx="3200400" cy="868680"/>
          </a:xfrm>
          <a:prstGeom prst="roundRect">
            <a:avLst>
              <a:gd name="adj" fmla="val 7368"/>
            </a:avLst>
          </a:prstGeom>
          <a:solidFill>
            <a:srgbClr val="E1674C"/>
          </a:solidFill>
          <a:ln/>
          <a:effectLst>
            <a:outerShdw sx="100000" sy="100000" kx="0" ky="0" algn="bl" rotWithShape="0" blurRad="63500" dist="25400" dir="5400000">
              <a:srgbClr val="000000">
                <a:alpha val="14000"/>
              </a:srgbClr>
            </a:outerShdw>
          </a:effectLst>
        </p:spPr>
      </p:sp>
      <p:sp>
        <p:nvSpPr>
          <p:cNvPr id="15" name="Text 12"/>
          <p:cNvSpPr/>
          <p:nvPr/>
        </p:nvSpPr>
        <p:spPr>
          <a:xfrm>
            <a:off x="8092440" y="2331720"/>
            <a:ext cx="3108960" cy="8686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New hash → slot 7</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but item is still</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in slot 3!</a:t>
            </a:r>
            <a:endParaRPr lang="en-US" sz="1250" dirty="0"/>
          </a:p>
        </p:txBody>
      </p:sp>
      <p:sp>
        <p:nvSpPr>
          <p:cNvPr id="16" name="Text 13"/>
          <p:cNvSpPr/>
          <p:nvPr/>
        </p:nvSpPr>
        <p:spPr>
          <a:xfrm>
            <a:off x="914400" y="3429000"/>
            <a:ext cx="10332720" cy="365760"/>
          </a:xfrm>
          <a:prstGeom prst="rect">
            <a:avLst/>
          </a:prstGeom>
          <a:noFill/>
          <a:ln/>
        </p:spPr>
        <p:txBody>
          <a:bodyPr wrap="square" rtlCol="0" anchor="ctr"/>
          <a:lstStyle/>
          <a:p>
            <a:pPr algn="ctr" indent="0" marL="0">
              <a:buNone/>
            </a:pPr>
            <a:r>
              <a:rPr lang="en-US" sz="1500" b="1" dirty="0">
                <a:solidFill>
                  <a:srgbClr val="E1674C"/>
                </a:solidFill>
                <a:latin typeface="Calibri" pitchFamily="34" charset="0"/>
                <a:ea typeface="Calibri" pitchFamily="34" charset="-122"/>
                <a:cs typeface="Calibri" pitchFamily="34" charset="-120"/>
              </a:rPr>
              <a:t>Result:  the object is lost.</a:t>
            </a:r>
            <a:endParaRPr lang="en-US" sz="1500" dirty="0"/>
          </a:p>
        </p:txBody>
      </p:sp>
      <p:sp>
        <p:nvSpPr>
          <p:cNvPr id="17" name="Text 14"/>
          <p:cNvSpPr/>
          <p:nvPr/>
        </p:nvSpPr>
        <p:spPr>
          <a:xfrm>
            <a:off x="1371600" y="3840480"/>
            <a:ext cx="9418320" cy="548640"/>
          </a:xfrm>
          <a:prstGeom prst="rect">
            <a:avLst/>
          </a:prstGeom>
          <a:noFill/>
          <a:ln/>
        </p:spPr>
        <p:txBody>
          <a:bodyPr wrap="square" rtlCol="0" anchor="ctr"/>
          <a:lstStyle/>
          <a:p>
            <a:pPr algn="ctr" indent="0" marL="0">
              <a:lnSpc>
                <a:spcPct val="110000"/>
              </a:lnSpc>
              <a:buNone/>
            </a:pPr>
            <a:r>
              <a:rPr lang="en-US" sz="1350" dirty="0">
                <a:solidFill>
                  <a:srgbClr val="16283B"/>
                </a:solidFill>
                <a:latin typeface="Calibri" pitchFamily="34" charset="0"/>
                <a:ea typeface="Calibri" pitchFamily="34" charset="-122"/>
                <a:cs typeface="Calibri" pitchFamily="34" charset="-120"/>
              </a:rPr>
              <a:t>Python looks in slot 7 (the new hash) and finds nothing, even though the data sits safely in slot 3. The dictionary would silently break.</a:t>
            </a:r>
            <a:endParaRPr lang="en-US" sz="1350" dirty="0"/>
          </a:p>
        </p:txBody>
      </p:sp>
      <p:sp>
        <p:nvSpPr>
          <p:cNvPr id="18" name="Shape 15"/>
          <p:cNvSpPr/>
          <p:nvPr/>
        </p:nvSpPr>
        <p:spPr>
          <a:xfrm>
            <a:off x="1371600" y="4572000"/>
            <a:ext cx="9445752" cy="1051560"/>
          </a:xfrm>
          <a:prstGeom prst="roundRect">
            <a:avLst>
              <a:gd name="adj" fmla="val 7826"/>
            </a:avLst>
          </a:prstGeom>
          <a:solidFill>
            <a:srgbClr val="E8F1F9"/>
          </a:solidFill>
          <a:ln/>
          <a:effectLst>
            <a:outerShdw sx="100000" sy="100000" kx="0" ky="0" algn="bl" rotWithShape="0" blurRad="76200" dist="25400" dir="5400000">
              <a:srgbClr val="000000">
                <a:alpha val="12000"/>
              </a:srgbClr>
            </a:outerShdw>
          </a:effectLst>
        </p:spPr>
      </p:sp>
      <p:pic>
        <p:nvPicPr>
          <p:cNvPr id="19" name="Image 1" descr="preencoded.png">    </p:cNvPr>
          <p:cNvPicPr>
            <a:picLocks noChangeAspect="1"/>
          </p:cNvPicPr>
          <p:nvPr/>
        </p:nvPicPr>
        <p:blipFill>
          <a:blip r:embed="rId2"/>
          <a:stretch>
            <a:fillRect/>
          </a:stretch>
        </p:blipFill>
        <p:spPr>
          <a:xfrm>
            <a:off x="1600200" y="4828032"/>
            <a:ext cx="384048" cy="384048"/>
          </a:xfrm>
          <a:prstGeom prst="rect">
            <a:avLst/>
          </a:prstGeom>
        </p:spPr>
      </p:pic>
      <p:sp>
        <p:nvSpPr>
          <p:cNvPr id="20" name="Text 16"/>
          <p:cNvSpPr/>
          <p:nvPr/>
        </p:nvSpPr>
        <p:spPr>
          <a:xfrm>
            <a:off x="2148840" y="4617720"/>
            <a:ext cx="8503920" cy="960120"/>
          </a:xfrm>
          <a:prstGeom prst="rect">
            <a:avLst/>
          </a:prstGeom>
          <a:noFill/>
          <a:ln/>
        </p:spPr>
        <p:txBody>
          <a:bodyPr wrap="square" rtlCol="0" anchor="ctr"/>
          <a:lstStyle/>
          <a:p>
            <a:pPr indent="0" marL="0">
              <a:lnSpc>
                <a:spcPct val="110000"/>
              </a:lnSpc>
              <a:buNone/>
            </a:pPr>
            <a:r>
              <a:rPr lang="en-US" sz="1350" b="1" dirty="0">
                <a:solidFill>
                  <a:srgbClr val="0A2540"/>
                </a:solidFill>
                <a:latin typeface="Calibri" pitchFamily="34" charset="0"/>
                <a:ea typeface="Calibri" pitchFamily="34" charset="-122"/>
                <a:cs typeface="Calibri" pitchFamily="34" charset="-120"/>
              </a:rPr>
              <a:t>The safety rule:  </a:t>
            </a:r>
            <a:pPr indent="0" marL="0">
              <a:lnSpc>
                <a:spcPct val="110000"/>
              </a:lnSpc>
              <a:buNone/>
            </a:pPr>
            <a:r>
              <a:rPr lang="en-US" sz="1350" dirty="0">
                <a:solidFill>
                  <a:srgbClr val="16283B"/>
                </a:solidFill>
                <a:latin typeface="Calibri" pitchFamily="34" charset="0"/>
                <a:ea typeface="Calibri" pitchFamily="34" charset="-122"/>
                <a:cs typeface="Calibri" pitchFamily="34" charset="-120"/>
              </a:rPr>
              <a:t>a dictionary key must promise never to change. Only immutable objects can make that promise — which is exactly why lists, dicts and sets are banned as keys.</a:t>
            </a:r>
            <a:endParaRPr lang="en-US" sz="1350" dirty="0"/>
          </a:p>
        </p:txBody>
      </p:sp>
      <p:sp>
        <p:nvSpPr>
          <p:cNvPr id="21" name="Text 17"/>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2" name="Text 18"/>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4 · DICTIONARY INTERNALS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Inside a Dictionary: The Journey</a:t>
            </a:r>
            <a:endParaRPr lang="en-US" sz="2600" dirty="0"/>
          </a:p>
        </p:txBody>
      </p:sp>
      <p:sp>
        <p:nvSpPr>
          <p:cNvPr id="6" name="Shape 3"/>
          <p:cNvSpPr/>
          <p:nvPr/>
        </p:nvSpPr>
        <p:spPr>
          <a:xfrm>
            <a:off x="685800" y="1325880"/>
            <a:ext cx="3383280" cy="566928"/>
          </a:xfrm>
          <a:prstGeom prst="roundRect">
            <a:avLst>
              <a:gd name="adj" fmla="val 11290"/>
            </a:avLst>
          </a:prstGeom>
          <a:solidFill>
            <a:srgbClr val="E8F1F9"/>
          </a:solidFill>
          <a:ln/>
          <a:effectLst>
            <a:outerShdw sx="100000" sy="100000" kx="0" ky="0" algn="bl" rotWithShape="0" blurRad="50800" dist="12700" dir="5400000">
              <a:srgbClr val="000000">
                <a:alpha val="12000"/>
              </a:srgbClr>
            </a:outerShdw>
          </a:effectLst>
        </p:spPr>
      </p:sp>
      <p:sp>
        <p:nvSpPr>
          <p:cNvPr id="7" name="Text 4"/>
          <p:cNvSpPr/>
          <p:nvPr/>
        </p:nvSpPr>
        <p:spPr>
          <a:xfrm>
            <a:off x="822960" y="1325880"/>
            <a:ext cx="3154680" cy="566928"/>
          </a:xfrm>
          <a:prstGeom prst="rect">
            <a:avLst/>
          </a:prstGeom>
          <a:noFill/>
          <a:ln/>
        </p:spPr>
        <p:txBody>
          <a:bodyPr wrap="square" rtlCol="0" anchor="ctr"/>
          <a:lstStyle/>
          <a:p>
            <a:pPr indent="0" marL="0">
              <a:buNone/>
            </a:pPr>
            <a:r>
              <a:rPr lang="en-US" sz="1400" b="1" dirty="0">
                <a:solidFill>
                  <a:srgbClr val="16283B"/>
                </a:solidFill>
                <a:latin typeface="Calibri" pitchFamily="34" charset="0"/>
                <a:ea typeface="Calibri" pitchFamily="34" charset="-122"/>
                <a:cs typeface="Calibri" pitchFamily="34" charset="-120"/>
              </a:rPr>
              <a:t>Variable   </a:t>
            </a:r>
            <a:pPr indent="0" marL="0">
              <a:buNone/>
            </a:pPr>
            <a:r>
              <a:rPr lang="en-US" sz="1200" i="1" dirty="0">
                <a:solidFill>
                  <a:srgbClr val="16283B"/>
                </a:solidFill>
                <a:latin typeface="Courier New" pitchFamily="34" charset="0"/>
                <a:ea typeface="Courier New" pitchFamily="34" charset="-122"/>
                <a:cs typeface="Courier New" pitchFamily="34" charset="-120"/>
              </a:rPr>
              <a:t>student</a:t>
            </a:r>
            <a:endParaRPr lang="en-US" sz="1400" dirty="0"/>
          </a:p>
        </p:txBody>
      </p:sp>
      <p:sp>
        <p:nvSpPr>
          <p:cNvPr id="8" name="Text 5"/>
          <p:cNvSpPr/>
          <p:nvPr/>
        </p:nvSpPr>
        <p:spPr>
          <a:xfrm>
            <a:off x="2148840" y="1837944"/>
            <a:ext cx="457200" cy="256032"/>
          </a:xfrm>
          <a:prstGeom prst="rect">
            <a:avLst/>
          </a:prstGeom>
          <a:noFill/>
          <a:ln/>
        </p:spPr>
        <p:txBody>
          <a:bodyPr wrap="square" lIns="0" tIns="0" rIns="0" bIns="0" rtlCol="0" anchor="ctr"/>
          <a:lstStyle/>
          <a:p>
            <a:pPr algn="ctr" indent="0" marL="0">
              <a:buNone/>
            </a:pPr>
            <a:r>
              <a:rPr lang="en-US" sz="1800" b="1" dirty="0">
                <a:solidFill>
                  <a:srgbClr val="5C7488"/>
                </a:solidFill>
              </a:rPr>
              <a:t>↓</a:t>
            </a:r>
            <a:endParaRPr lang="en-US" sz="1800" dirty="0"/>
          </a:p>
        </p:txBody>
      </p:sp>
      <p:sp>
        <p:nvSpPr>
          <p:cNvPr id="9" name="Shape 6"/>
          <p:cNvSpPr/>
          <p:nvPr/>
        </p:nvSpPr>
        <p:spPr>
          <a:xfrm>
            <a:off x="685800" y="2093976"/>
            <a:ext cx="3383280" cy="566928"/>
          </a:xfrm>
          <a:prstGeom prst="roundRect">
            <a:avLst>
              <a:gd name="adj" fmla="val 11290"/>
            </a:avLst>
          </a:prstGeom>
          <a:solidFill>
            <a:srgbClr val="E8F1F9"/>
          </a:solidFill>
          <a:ln/>
          <a:effectLst>
            <a:outerShdw sx="100000" sy="100000" kx="0" ky="0" algn="bl" rotWithShape="0" blurRad="50800" dist="12700" dir="5400000">
              <a:srgbClr val="000000">
                <a:alpha val="12000"/>
              </a:srgbClr>
            </a:outerShdw>
          </a:effectLst>
        </p:spPr>
      </p:sp>
      <p:sp>
        <p:nvSpPr>
          <p:cNvPr id="10" name="Text 7"/>
          <p:cNvSpPr/>
          <p:nvPr/>
        </p:nvSpPr>
        <p:spPr>
          <a:xfrm>
            <a:off x="822960" y="2093976"/>
            <a:ext cx="3154680" cy="566928"/>
          </a:xfrm>
          <a:prstGeom prst="rect">
            <a:avLst/>
          </a:prstGeom>
          <a:noFill/>
          <a:ln/>
        </p:spPr>
        <p:txBody>
          <a:bodyPr wrap="square" rtlCol="0" anchor="ctr"/>
          <a:lstStyle/>
          <a:p>
            <a:pPr indent="0" marL="0">
              <a:buNone/>
            </a:pPr>
            <a:r>
              <a:rPr lang="en-US" sz="1400" b="1" dirty="0">
                <a:solidFill>
                  <a:srgbClr val="16283B"/>
                </a:solidFill>
                <a:latin typeface="Calibri" pitchFamily="34" charset="0"/>
                <a:ea typeface="Calibri" pitchFamily="34" charset="-122"/>
                <a:cs typeface="Calibri" pitchFamily="34" charset="-120"/>
              </a:rPr>
              <a:t>Object   </a:t>
            </a:r>
            <a:pPr indent="0" marL="0">
              <a:buNone/>
            </a:pPr>
            <a:r>
              <a:rPr lang="en-US" sz="1200" i="1" dirty="0">
                <a:solidFill>
                  <a:srgbClr val="16283B"/>
                </a:solidFill>
                <a:latin typeface="Courier New" pitchFamily="34" charset="0"/>
                <a:ea typeface="Courier New" pitchFamily="34" charset="-122"/>
                <a:cs typeface="Courier New" pitchFamily="34" charset="-120"/>
              </a:rPr>
              <a:t>"Ali"</a:t>
            </a:r>
            <a:endParaRPr lang="en-US" sz="1400" dirty="0"/>
          </a:p>
        </p:txBody>
      </p:sp>
      <p:sp>
        <p:nvSpPr>
          <p:cNvPr id="11" name="Text 8"/>
          <p:cNvSpPr/>
          <p:nvPr/>
        </p:nvSpPr>
        <p:spPr>
          <a:xfrm>
            <a:off x="2148840" y="2606040"/>
            <a:ext cx="457200" cy="256032"/>
          </a:xfrm>
          <a:prstGeom prst="rect">
            <a:avLst/>
          </a:prstGeom>
          <a:noFill/>
          <a:ln/>
        </p:spPr>
        <p:txBody>
          <a:bodyPr wrap="square" lIns="0" tIns="0" rIns="0" bIns="0" rtlCol="0" anchor="ctr"/>
          <a:lstStyle/>
          <a:p>
            <a:pPr algn="ctr" indent="0" marL="0">
              <a:buNone/>
            </a:pPr>
            <a:r>
              <a:rPr lang="en-US" sz="1800" b="1" dirty="0">
                <a:solidFill>
                  <a:srgbClr val="5C7488"/>
                </a:solidFill>
              </a:rPr>
              <a:t>↓</a:t>
            </a:r>
            <a:endParaRPr lang="en-US" sz="1800" dirty="0"/>
          </a:p>
        </p:txBody>
      </p:sp>
      <p:sp>
        <p:nvSpPr>
          <p:cNvPr id="12" name="Shape 9"/>
          <p:cNvSpPr/>
          <p:nvPr/>
        </p:nvSpPr>
        <p:spPr>
          <a:xfrm>
            <a:off x="685800" y="2862072"/>
            <a:ext cx="3383280" cy="566928"/>
          </a:xfrm>
          <a:prstGeom prst="roundRect">
            <a:avLst>
              <a:gd name="adj" fmla="val 11290"/>
            </a:avLst>
          </a:prstGeom>
          <a:solidFill>
            <a:srgbClr val="1C5D99"/>
          </a:solidFill>
          <a:ln/>
          <a:effectLst>
            <a:outerShdw sx="100000" sy="100000" kx="0" ky="0" algn="bl" rotWithShape="0" blurRad="50800" dist="12700" dir="5400000">
              <a:srgbClr val="000000">
                <a:alpha val="12000"/>
              </a:srgbClr>
            </a:outerShdw>
          </a:effectLst>
        </p:spPr>
      </p:sp>
      <p:sp>
        <p:nvSpPr>
          <p:cNvPr id="13" name="Text 10"/>
          <p:cNvSpPr/>
          <p:nvPr/>
        </p:nvSpPr>
        <p:spPr>
          <a:xfrm>
            <a:off x="822960" y="2862072"/>
            <a:ext cx="315468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Hash   </a:t>
            </a:r>
            <a:pPr indent="0" marL="0">
              <a:buNone/>
            </a:pPr>
            <a:r>
              <a:rPr lang="en-US" sz="1200" i="1" dirty="0">
                <a:solidFill>
                  <a:srgbClr val="FFFFFF"/>
                </a:solidFill>
                <a:latin typeface="Courier New" pitchFamily="34" charset="0"/>
                <a:ea typeface="Courier New" pitchFamily="34" charset="-122"/>
                <a:cs typeface="Courier New" pitchFamily="34" charset="-120"/>
              </a:rPr>
              <a:t>hash("Ali")</a:t>
            </a:r>
            <a:endParaRPr lang="en-US" sz="1400" dirty="0"/>
          </a:p>
        </p:txBody>
      </p:sp>
      <p:sp>
        <p:nvSpPr>
          <p:cNvPr id="14" name="Text 11"/>
          <p:cNvSpPr/>
          <p:nvPr/>
        </p:nvSpPr>
        <p:spPr>
          <a:xfrm>
            <a:off x="2148840" y="3374136"/>
            <a:ext cx="457200" cy="256032"/>
          </a:xfrm>
          <a:prstGeom prst="rect">
            <a:avLst/>
          </a:prstGeom>
          <a:noFill/>
          <a:ln/>
        </p:spPr>
        <p:txBody>
          <a:bodyPr wrap="square" lIns="0" tIns="0" rIns="0" bIns="0" rtlCol="0" anchor="ctr"/>
          <a:lstStyle/>
          <a:p>
            <a:pPr algn="ctr" indent="0" marL="0">
              <a:buNone/>
            </a:pPr>
            <a:r>
              <a:rPr lang="en-US" sz="1800" b="1" dirty="0">
                <a:solidFill>
                  <a:srgbClr val="5C7488"/>
                </a:solidFill>
              </a:rPr>
              <a:t>↓</a:t>
            </a:r>
            <a:endParaRPr lang="en-US" sz="1800" dirty="0"/>
          </a:p>
        </p:txBody>
      </p:sp>
      <p:sp>
        <p:nvSpPr>
          <p:cNvPr id="15" name="Shape 12"/>
          <p:cNvSpPr/>
          <p:nvPr/>
        </p:nvSpPr>
        <p:spPr>
          <a:xfrm>
            <a:off x="685800" y="3630168"/>
            <a:ext cx="3383280" cy="566928"/>
          </a:xfrm>
          <a:prstGeom prst="roundRect">
            <a:avLst>
              <a:gd name="adj" fmla="val 11290"/>
            </a:avLst>
          </a:prstGeom>
          <a:solidFill>
            <a:srgbClr val="12395B"/>
          </a:solidFill>
          <a:ln/>
          <a:effectLst>
            <a:outerShdw sx="100000" sy="100000" kx="0" ky="0" algn="bl" rotWithShape="0" blurRad="50800" dist="12700" dir="5400000">
              <a:srgbClr val="000000">
                <a:alpha val="12000"/>
              </a:srgbClr>
            </a:outerShdw>
          </a:effectLst>
        </p:spPr>
      </p:sp>
      <p:sp>
        <p:nvSpPr>
          <p:cNvPr id="16" name="Text 13"/>
          <p:cNvSpPr/>
          <p:nvPr/>
        </p:nvSpPr>
        <p:spPr>
          <a:xfrm>
            <a:off x="822960" y="3630168"/>
            <a:ext cx="315468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Hash Table   </a:t>
            </a:r>
            <a:pPr indent="0" marL="0">
              <a:buNone/>
            </a:pPr>
            <a:r>
              <a:rPr lang="en-US" sz="1200" i="1" dirty="0">
                <a:solidFill>
                  <a:srgbClr val="FFFFFF"/>
                </a:solidFill>
                <a:latin typeface="Courier New" pitchFamily="34" charset="0"/>
                <a:ea typeface="Courier New" pitchFamily="34" charset="-122"/>
                <a:cs typeface="Courier New" pitchFamily="34" charset="-120"/>
              </a:rPr>
              <a:t>the storage array</a:t>
            </a:r>
            <a:endParaRPr lang="en-US" sz="1400" dirty="0"/>
          </a:p>
        </p:txBody>
      </p:sp>
      <p:sp>
        <p:nvSpPr>
          <p:cNvPr id="17" name="Text 14"/>
          <p:cNvSpPr/>
          <p:nvPr/>
        </p:nvSpPr>
        <p:spPr>
          <a:xfrm>
            <a:off x="2148840" y="4142232"/>
            <a:ext cx="457200" cy="256032"/>
          </a:xfrm>
          <a:prstGeom prst="rect">
            <a:avLst/>
          </a:prstGeom>
          <a:noFill/>
          <a:ln/>
        </p:spPr>
        <p:txBody>
          <a:bodyPr wrap="square" lIns="0" tIns="0" rIns="0" bIns="0" rtlCol="0" anchor="ctr"/>
          <a:lstStyle/>
          <a:p>
            <a:pPr algn="ctr" indent="0" marL="0">
              <a:buNone/>
            </a:pPr>
            <a:r>
              <a:rPr lang="en-US" sz="1800" b="1" dirty="0">
                <a:solidFill>
                  <a:srgbClr val="5C7488"/>
                </a:solidFill>
              </a:rPr>
              <a:t>↓</a:t>
            </a:r>
            <a:endParaRPr lang="en-US" sz="1800" dirty="0"/>
          </a:p>
        </p:txBody>
      </p:sp>
      <p:sp>
        <p:nvSpPr>
          <p:cNvPr id="18" name="Shape 15"/>
          <p:cNvSpPr/>
          <p:nvPr/>
        </p:nvSpPr>
        <p:spPr>
          <a:xfrm>
            <a:off x="685800" y="4398264"/>
            <a:ext cx="3383280" cy="566928"/>
          </a:xfrm>
          <a:prstGeom prst="roundRect">
            <a:avLst>
              <a:gd name="adj" fmla="val 11290"/>
            </a:avLst>
          </a:prstGeom>
          <a:solidFill>
            <a:srgbClr val="5B8FB9"/>
          </a:solidFill>
          <a:ln/>
          <a:effectLst>
            <a:outerShdw sx="100000" sy="100000" kx="0" ky="0" algn="bl" rotWithShape="0" blurRad="50800" dist="12700" dir="5400000">
              <a:srgbClr val="000000">
                <a:alpha val="12000"/>
              </a:srgbClr>
            </a:outerShdw>
          </a:effectLst>
        </p:spPr>
      </p:sp>
      <p:sp>
        <p:nvSpPr>
          <p:cNvPr id="19" name="Text 16"/>
          <p:cNvSpPr/>
          <p:nvPr/>
        </p:nvSpPr>
        <p:spPr>
          <a:xfrm>
            <a:off x="822960" y="4398264"/>
            <a:ext cx="315468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Bucket   </a:t>
            </a:r>
            <a:pPr indent="0" marL="0">
              <a:buNone/>
            </a:pPr>
            <a:r>
              <a:rPr lang="en-US" sz="1200" i="1" dirty="0">
                <a:solidFill>
                  <a:srgbClr val="FFFFFF"/>
                </a:solidFill>
                <a:latin typeface="Courier New" pitchFamily="34" charset="0"/>
                <a:ea typeface="Courier New" pitchFamily="34" charset="-122"/>
                <a:cs typeface="Courier New" pitchFamily="34" charset="-120"/>
              </a:rPr>
              <a:t>slot index</a:t>
            </a:r>
            <a:endParaRPr lang="en-US" sz="1400" dirty="0"/>
          </a:p>
        </p:txBody>
      </p:sp>
      <p:sp>
        <p:nvSpPr>
          <p:cNvPr id="20" name="Text 17"/>
          <p:cNvSpPr/>
          <p:nvPr/>
        </p:nvSpPr>
        <p:spPr>
          <a:xfrm>
            <a:off x="2148840" y="4910328"/>
            <a:ext cx="457200" cy="256032"/>
          </a:xfrm>
          <a:prstGeom prst="rect">
            <a:avLst/>
          </a:prstGeom>
          <a:noFill/>
          <a:ln/>
        </p:spPr>
        <p:txBody>
          <a:bodyPr wrap="square" lIns="0" tIns="0" rIns="0" bIns="0" rtlCol="0" anchor="ctr"/>
          <a:lstStyle/>
          <a:p>
            <a:pPr algn="ctr" indent="0" marL="0">
              <a:buNone/>
            </a:pPr>
            <a:r>
              <a:rPr lang="en-US" sz="1800" b="1" dirty="0">
                <a:solidFill>
                  <a:srgbClr val="5C7488"/>
                </a:solidFill>
              </a:rPr>
              <a:t>↓</a:t>
            </a:r>
            <a:endParaRPr lang="en-US" sz="1800" dirty="0"/>
          </a:p>
        </p:txBody>
      </p:sp>
      <p:sp>
        <p:nvSpPr>
          <p:cNvPr id="21" name="Shape 18"/>
          <p:cNvSpPr/>
          <p:nvPr/>
        </p:nvSpPr>
        <p:spPr>
          <a:xfrm>
            <a:off x="685800" y="5166360"/>
            <a:ext cx="3383280" cy="566928"/>
          </a:xfrm>
          <a:prstGeom prst="roundRect">
            <a:avLst>
              <a:gd name="adj" fmla="val 11290"/>
            </a:avLst>
          </a:prstGeom>
          <a:solidFill>
            <a:srgbClr val="F2B138"/>
          </a:solidFill>
          <a:ln/>
          <a:effectLst>
            <a:outerShdw sx="100000" sy="100000" kx="0" ky="0" algn="bl" rotWithShape="0" blurRad="50800" dist="12700" dir="5400000">
              <a:srgbClr val="000000">
                <a:alpha val="12000"/>
              </a:srgbClr>
            </a:outerShdw>
          </a:effectLst>
        </p:spPr>
      </p:sp>
      <p:sp>
        <p:nvSpPr>
          <p:cNvPr id="22" name="Text 19"/>
          <p:cNvSpPr/>
          <p:nvPr/>
        </p:nvSpPr>
        <p:spPr>
          <a:xfrm>
            <a:off x="822960" y="5166360"/>
            <a:ext cx="3154680" cy="566928"/>
          </a:xfrm>
          <a:prstGeom prst="rect">
            <a:avLst/>
          </a:prstGeom>
          <a:noFill/>
          <a:ln/>
        </p:spPr>
        <p:txBody>
          <a:bodyPr wrap="square" rtlCol="0" anchor="ctr"/>
          <a:lstStyle/>
          <a:p>
            <a:pPr indent="0" marL="0">
              <a:buNone/>
            </a:pPr>
            <a:r>
              <a:rPr lang="en-US" sz="1400" b="1" dirty="0">
                <a:solidFill>
                  <a:srgbClr val="16283B"/>
                </a:solidFill>
                <a:latin typeface="Calibri" pitchFamily="34" charset="0"/>
                <a:ea typeface="Calibri" pitchFamily="34" charset="-122"/>
                <a:cs typeface="Calibri" pitchFamily="34" charset="-120"/>
              </a:rPr>
              <a:t>Key   </a:t>
            </a:r>
            <a:pPr indent="0" marL="0">
              <a:buNone/>
            </a:pPr>
            <a:r>
              <a:rPr lang="en-US" sz="1200" i="1" dirty="0">
                <a:solidFill>
                  <a:srgbClr val="16283B"/>
                </a:solidFill>
                <a:latin typeface="Courier New" pitchFamily="34" charset="0"/>
                <a:ea typeface="Courier New" pitchFamily="34" charset="-122"/>
                <a:cs typeface="Courier New" pitchFamily="34" charset="-120"/>
              </a:rPr>
              <a:t>"Ali" (verified)</a:t>
            </a:r>
            <a:endParaRPr lang="en-US" sz="1400" dirty="0"/>
          </a:p>
        </p:txBody>
      </p:sp>
      <p:sp>
        <p:nvSpPr>
          <p:cNvPr id="23" name="Text 20"/>
          <p:cNvSpPr/>
          <p:nvPr/>
        </p:nvSpPr>
        <p:spPr>
          <a:xfrm>
            <a:off x="2148840" y="5678424"/>
            <a:ext cx="457200" cy="256032"/>
          </a:xfrm>
          <a:prstGeom prst="rect">
            <a:avLst/>
          </a:prstGeom>
          <a:noFill/>
          <a:ln/>
        </p:spPr>
        <p:txBody>
          <a:bodyPr wrap="square" lIns="0" tIns="0" rIns="0" bIns="0" rtlCol="0" anchor="ctr"/>
          <a:lstStyle/>
          <a:p>
            <a:pPr algn="ctr" indent="0" marL="0">
              <a:buNone/>
            </a:pPr>
            <a:r>
              <a:rPr lang="en-US" sz="1800" b="1" dirty="0">
                <a:solidFill>
                  <a:srgbClr val="5C7488"/>
                </a:solidFill>
              </a:rPr>
              <a:t>↓</a:t>
            </a:r>
            <a:endParaRPr lang="en-US" sz="1800" dirty="0"/>
          </a:p>
        </p:txBody>
      </p:sp>
      <p:sp>
        <p:nvSpPr>
          <p:cNvPr id="24" name="Shape 21"/>
          <p:cNvSpPr/>
          <p:nvPr/>
        </p:nvSpPr>
        <p:spPr>
          <a:xfrm>
            <a:off x="685800" y="5934456"/>
            <a:ext cx="3383280" cy="566928"/>
          </a:xfrm>
          <a:prstGeom prst="roundRect">
            <a:avLst>
              <a:gd name="adj" fmla="val 11290"/>
            </a:avLst>
          </a:prstGeom>
          <a:solidFill>
            <a:srgbClr val="2E9E6B"/>
          </a:solidFill>
          <a:ln/>
          <a:effectLst>
            <a:outerShdw sx="100000" sy="100000" kx="0" ky="0" algn="bl" rotWithShape="0" blurRad="50800" dist="12700" dir="5400000">
              <a:srgbClr val="000000">
                <a:alpha val="12000"/>
              </a:srgbClr>
            </a:outerShdw>
          </a:effectLst>
        </p:spPr>
      </p:sp>
      <p:sp>
        <p:nvSpPr>
          <p:cNvPr id="25" name="Text 22"/>
          <p:cNvSpPr/>
          <p:nvPr/>
        </p:nvSpPr>
        <p:spPr>
          <a:xfrm>
            <a:off x="822960" y="5934456"/>
            <a:ext cx="3154680" cy="5669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Value   </a:t>
            </a:r>
            <a:pPr indent="0" marL="0">
              <a:buNone/>
            </a:pPr>
            <a:r>
              <a:rPr lang="en-US" sz="1200" i="1" dirty="0">
                <a:solidFill>
                  <a:srgbClr val="FFFFFF"/>
                </a:solidFill>
                <a:latin typeface="Courier New" pitchFamily="34" charset="0"/>
                <a:ea typeface="Courier New" pitchFamily="34" charset="-122"/>
                <a:cs typeface="Courier New" pitchFamily="34" charset="-120"/>
              </a:rPr>
              <a:t>90 (marks)</a:t>
            </a:r>
            <a:endParaRPr lang="en-US" sz="1400" dirty="0"/>
          </a:p>
        </p:txBody>
      </p:sp>
      <p:sp>
        <p:nvSpPr>
          <p:cNvPr id="26" name="Shape 23"/>
          <p:cNvSpPr/>
          <p:nvPr/>
        </p:nvSpPr>
        <p:spPr>
          <a:xfrm>
            <a:off x="4572000" y="1325880"/>
            <a:ext cx="7068312" cy="4937760"/>
          </a:xfrm>
          <a:prstGeom prst="roundRect">
            <a:avLst>
              <a:gd name="adj" fmla="val 1667"/>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27" name="Text 24"/>
          <p:cNvSpPr/>
          <p:nvPr/>
        </p:nvSpPr>
        <p:spPr>
          <a:xfrm>
            <a:off x="4846320" y="1481328"/>
            <a:ext cx="649224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Reading the chain</a:t>
            </a:r>
            <a:endParaRPr lang="en-US" sz="1400" dirty="0"/>
          </a:p>
        </p:txBody>
      </p:sp>
      <p:sp>
        <p:nvSpPr>
          <p:cNvPr id="28" name="Text 25"/>
          <p:cNvSpPr/>
          <p:nvPr/>
        </p:nvSpPr>
        <p:spPr>
          <a:xfrm>
            <a:off x="4846320" y="1874520"/>
            <a:ext cx="6537960" cy="4206240"/>
          </a:xfrm>
          <a:prstGeom prst="rect">
            <a:avLst/>
          </a:prstGeom>
          <a:noFill/>
          <a:ln/>
        </p:spPr>
        <p:txBody>
          <a:bodyPr wrap="square" rtlCol="0" anchor="t"/>
          <a:lstStyle/>
          <a:p>
            <a:pPr indent="0" marL="0">
              <a:lnSpc>
                <a:spcPct val="105000"/>
              </a:lnSpc>
              <a:spcAft>
                <a:spcPts val="1000"/>
              </a:spcAft>
              <a:buNone/>
            </a:pPr>
            <a:r>
              <a:rPr lang="en-US" sz="1400" b="1" dirty="0">
                <a:solidFill>
                  <a:srgbClr val="0A2540"/>
                </a:solidFill>
                <a:latin typeface="Courier New" pitchFamily="34" charset="0"/>
                <a:ea typeface="Courier New" pitchFamily="34" charset="-122"/>
                <a:cs typeface="Courier New" pitchFamily="34" charset="-120"/>
              </a:rPr>
              <a:t>student = {"Ali": 90}</a:t>
            </a:r>
            <a:endParaRPr lang="en-US" sz="1400" dirty="0"/>
          </a:p>
          <a:p>
            <a:pPr indent="0" marL="0">
              <a:lnSpc>
                <a:spcPct val="105000"/>
              </a:lnSpc>
              <a:spcAft>
                <a:spcPts val="600"/>
              </a:spcAft>
              <a:buNone/>
            </a:pPr>
            <a:r>
              <a:rPr lang="en-US" sz="1400" dirty="0">
                <a:solidFill>
                  <a:srgbClr val="16283B"/>
                </a:solidFill>
                <a:latin typeface="Calibri" pitchFamily="34" charset="0"/>
                <a:ea typeface="Calibri" pitchFamily="34" charset="-122"/>
                <a:cs typeface="Calibri" pitchFamily="34" charset="-120"/>
              </a:rPr>
              <a:t>1.  The variable points to a dictionary object.</a:t>
            </a:r>
            <a:endParaRPr lang="en-US" sz="1400" dirty="0"/>
          </a:p>
          <a:p>
            <a:pPr indent="0" marL="0">
              <a:lnSpc>
                <a:spcPct val="105000"/>
              </a:lnSpc>
              <a:spcAft>
                <a:spcPts val="600"/>
              </a:spcAft>
              <a:buNone/>
            </a:pPr>
            <a:r>
              <a:rPr lang="en-US" sz="1400" dirty="0">
                <a:solidFill>
                  <a:srgbClr val="16283B"/>
                </a:solidFill>
                <a:latin typeface="Calibri" pitchFamily="34" charset="0"/>
                <a:ea typeface="Calibri" pitchFamily="34" charset="-122"/>
                <a:cs typeface="Calibri" pitchFamily="34" charset="-120"/>
              </a:rPr>
              <a:t>2.  The key "Ali" is an object with a value.</a:t>
            </a:r>
            <a:endParaRPr lang="en-US" sz="1400" dirty="0"/>
          </a:p>
          <a:p>
            <a:pPr indent="0" marL="0">
              <a:lnSpc>
                <a:spcPct val="105000"/>
              </a:lnSpc>
              <a:spcAft>
                <a:spcPts val="600"/>
              </a:spcAft>
              <a:buNone/>
            </a:pPr>
            <a:r>
              <a:rPr lang="en-US" sz="1400" dirty="0">
                <a:solidFill>
                  <a:srgbClr val="16283B"/>
                </a:solidFill>
                <a:latin typeface="Calibri" pitchFamily="34" charset="0"/>
                <a:ea typeface="Calibri" pitchFamily="34" charset="-122"/>
                <a:cs typeface="Calibri" pitchFamily="34" charset="-120"/>
              </a:rPr>
              <a:t>3.  Python computes hash("Ali") — a number.</a:t>
            </a:r>
            <a:endParaRPr lang="en-US" sz="1400" dirty="0"/>
          </a:p>
          <a:p>
            <a:pPr indent="0" marL="0">
              <a:lnSpc>
                <a:spcPct val="105000"/>
              </a:lnSpc>
              <a:spcAft>
                <a:spcPts val="600"/>
              </a:spcAft>
              <a:buNone/>
            </a:pPr>
            <a:r>
              <a:rPr lang="en-US" sz="1400" dirty="0">
                <a:solidFill>
                  <a:srgbClr val="16283B"/>
                </a:solidFill>
                <a:latin typeface="Calibri" pitchFamily="34" charset="0"/>
                <a:ea typeface="Calibri" pitchFamily="34" charset="-122"/>
                <a:cs typeface="Calibri" pitchFamily="34" charset="-120"/>
              </a:rPr>
              <a:t>4.  The number is shrunk to fit the hash table (an internal array of slots).</a:t>
            </a:r>
            <a:endParaRPr lang="en-US" sz="1400" dirty="0"/>
          </a:p>
          <a:p>
            <a:pPr indent="0" marL="0">
              <a:lnSpc>
                <a:spcPct val="105000"/>
              </a:lnSpc>
              <a:spcAft>
                <a:spcPts val="600"/>
              </a:spcAft>
              <a:buNone/>
            </a:pPr>
            <a:r>
              <a:rPr lang="en-US" sz="1400" dirty="0">
                <a:solidFill>
                  <a:srgbClr val="16283B"/>
                </a:solidFill>
                <a:latin typeface="Calibri" pitchFamily="34" charset="0"/>
                <a:ea typeface="Calibri" pitchFamily="34" charset="-122"/>
                <a:cs typeface="Calibri" pitchFamily="34" charset="-120"/>
              </a:rPr>
              <a:t>5.  That gives a bucket — the exact slot to use.</a:t>
            </a:r>
            <a:endParaRPr lang="en-US" sz="1400" dirty="0"/>
          </a:p>
          <a:p>
            <a:pPr indent="0" marL="0">
              <a:lnSpc>
                <a:spcPct val="105000"/>
              </a:lnSpc>
              <a:buNone/>
            </a:pPr>
            <a:r>
              <a:rPr lang="en-US" sz="1400" dirty="0">
                <a:solidFill>
                  <a:srgbClr val="16283B"/>
                </a:solidFill>
                <a:latin typeface="Calibri" pitchFamily="34" charset="0"/>
                <a:ea typeface="Calibri" pitchFamily="34" charset="-122"/>
                <a:cs typeface="Calibri" pitchFamily="34" charset="-120"/>
              </a:rPr>
              <a:t>6.  Inside the bucket Python stores the key AND</a:t>
            </a:r>
            <a:endParaRPr lang="en-US" sz="1400" dirty="0"/>
          </a:p>
          <a:p>
            <a:pPr indent="0" marL="0">
              <a:lnSpc>
                <a:spcPct val="105000"/>
              </a:lnSpc>
              <a:spcAft>
                <a:spcPts val="600"/>
              </a:spcAft>
              <a:buNone/>
            </a:pPr>
            <a:r>
              <a:rPr lang="en-US" sz="1400" dirty="0">
                <a:solidFill>
                  <a:srgbClr val="16283B"/>
                </a:solidFill>
                <a:latin typeface="Calibri" pitchFamily="34" charset="0"/>
                <a:ea typeface="Calibri" pitchFamily="34" charset="-122"/>
                <a:cs typeface="Calibri" pitchFamily="34" charset="-120"/>
              </a:rPr>
              <a:t>     checks it matches, to be safe.</a:t>
            </a:r>
            <a:endParaRPr lang="en-US" sz="1400" dirty="0"/>
          </a:p>
          <a:p>
            <a:pPr indent="0" marL="0">
              <a:lnSpc>
                <a:spcPct val="105000"/>
              </a:lnSpc>
              <a:buNone/>
            </a:pPr>
            <a:r>
              <a:rPr lang="en-US" sz="1400" dirty="0">
                <a:solidFill>
                  <a:srgbClr val="16283B"/>
                </a:solidFill>
                <a:latin typeface="Calibri" pitchFamily="34" charset="0"/>
                <a:ea typeface="Calibri" pitchFamily="34" charset="-122"/>
                <a:cs typeface="Calibri" pitchFamily="34" charset="-120"/>
              </a:rPr>
              <a:t>7.  It returns the value stored beside the key: 90.</a:t>
            </a:r>
            <a:endParaRPr lang="en-US" sz="1400" dirty="0"/>
          </a:p>
        </p:txBody>
      </p:sp>
      <p:sp>
        <p:nvSpPr>
          <p:cNvPr id="29" name="Text 26"/>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30" name="Text 27"/>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4 · DICTIONARY INTERNALS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Why Lookup Is O(1)</a:t>
            </a:r>
            <a:endParaRPr lang="en-US" sz="2600" dirty="0"/>
          </a:p>
        </p:txBody>
      </p:sp>
      <p:sp>
        <p:nvSpPr>
          <p:cNvPr id="6" name="Text 3"/>
          <p:cNvSpPr/>
          <p:nvPr/>
        </p:nvSpPr>
        <p:spPr>
          <a:xfrm>
            <a:off x="548640" y="1325880"/>
            <a:ext cx="11064240" cy="45720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O(1) means 'constant time' — the number of steps to find an item does not grow as the dictionary grows.</a:t>
            </a:r>
            <a:endParaRPr lang="en-US" sz="1500" dirty="0"/>
          </a:p>
        </p:txBody>
      </p:sp>
      <p:sp>
        <p:nvSpPr>
          <p:cNvPr id="7" name="Shape 4"/>
          <p:cNvSpPr/>
          <p:nvPr/>
        </p:nvSpPr>
        <p:spPr>
          <a:xfrm>
            <a:off x="548640" y="1920240"/>
            <a:ext cx="5486400" cy="3931920"/>
          </a:xfrm>
          <a:prstGeom prst="roundRect">
            <a:avLst>
              <a:gd name="adj" fmla="val 2093"/>
            </a:avLst>
          </a:prstGeom>
          <a:solidFill>
            <a:srgbClr val="E8F1F9"/>
          </a:solidFill>
          <a:ln/>
          <a:effectLst>
            <a:outerShdw sx="100000" sy="100000" kx="0" ky="0" algn="bl" rotWithShape="0" blurRad="76200" dist="25400" dir="5400000">
              <a:srgbClr val="000000">
                <a:alpha val="12000"/>
              </a:srgbClr>
            </a:outerShdw>
          </a:effectLst>
        </p:spPr>
      </p:sp>
      <p:sp>
        <p:nvSpPr>
          <p:cNvPr id="8" name="Text 5"/>
          <p:cNvSpPr/>
          <p:nvPr/>
        </p:nvSpPr>
        <p:spPr>
          <a:xfrm>
            <a:off x="822960" y="2103120"/>
            <a:ext cx="493776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Why it stays fast</a:t>
            </a:r>
            <a:endParaRPr lang="en-US" sz="1400" dirty="0"/>
          </a:p>
        </p:txBody>
      </p:sp>
      <p:sp>
        <p:nvSpPr>
          <p:cNvPr id="9" name="Text 6"/>
          <p:cNvSpPr/>
          <p:nvPr/>
        </p:nvSpPr>
        <p:spPr>
          <a:xfrm>
            <a:off x="868680" y="2468880"/>
            <a:ext cx="4892040" cy="3200400"/>
          </a:xfrm>
          <a:prstGeom prst="rect">
            <a:avLst/>
          </a:prstGeom>
          <a:noFill/>
          <a:ln/>
        </p:spPr>
        <p:txBody>
          <a:bodyPr wrap="square" rtlCol="0" anchor="t"/>
          <a:lstStyle/>
          <a:p>
            <a:pPr marL="342900" indent="-342900">
              <a:spcAft>
                <a:spcPts val="1000"/>
              </a:spcAft>
              <a:buSzPct val="100000"/>
              <a:buChar char="✓"/>
            </a:pPr>
            <a:r>
              <a:rPr lang="en-US" sz="1450" dirty="0">
                <a:solidFill>
                  <a:srgbClr val="16283B"/>
                </a:solidFill>
                <a:latin typeface="Calibri" pitchFamily="34" charset="0"/>
                <a:ea typeface="Calibri" pitchFamily="34" charset="-122"/>
                <a:cs typeface="Calibri" pitchFamily="34" charset="-120"/>
              </a:rPr>
              <a:t>Computing a hash takes the same time whether the dict has 10 or 10 million keys.</a:t>
            </a:r>
            <a:endParaRPr lang="en-US" sz="1450" dirty="0"/>
          </a:p>
          <a:p>
            <a:pPr marL="342900" indent="-342900">
              <a:spcAft>
                <a:spcPts val="1000"/>
              </a:spcAft>
              <a:buSzPct val="100000"/>
              <a:buChar char="✓"/>
            </a:pPr>
            <a:r>
              <a:rPr lang="en-US" sz="1450" dirty="0">
                <a:solidFill>
                  <a:srgbClr val="16283B"/>
                </a:solidFill>
                <a:latin typeface="Calibri" pitchFamily="34" charset="0"/>
                <a:ea typeface="Calibri" pitchFamily="34" charset="-122"/>
                <a:cs typeface="Calibri" pitchFamily="34" charset="-120"/>
              </a:rPr>
              <a:t>The hash points directly to one bucket — no scanning.</a:t>
            </a:r>
            <a:endParaRPr lang="en-US" sz="1450" dirty="0"/>
          </a:p>
          <a:p>
            <a:pPr marL="342900" indent="-342900">
              <a:spcAft>
                <a:spcPts val="1000"/>
              </a:spcAft>
              <a:buSzPct val="100000"/>
              <a:buChar char="✓"/>
            </a:pPr>
            <a:r>
              <a:rPr lang="en-US" sz="1450" dirty="0">
                <a:solidFill>
                  <a:srgbClr val="16283B"/>
                </a:solidFill>
                <a:latin typeface="Calibri" pitchFamily="34" charset="0"/>
                <a:ea typeface="Calibri" pitchFamily="34" charset="-122"/>
                <a:cs typeface="Calibri" pitchFamily="34" charset="-120"/>
              </a:rPr>
              <a:t>Python checks that one bucket (and rarely a couple more if there's a clash).</a:t>
            </a:r>
            <a:endParaRPr lang="en-US" sz="1450" dirty="0"/>
          </a:p>
          <a:p>
            <a:pPr marL="342900" indent="-342900">
              <a:buSzPct val="100000"/>
              <a:buChar char="✓"/>
            </a:pPr>
            <a:r>
              <a:rPr lang="en-US" sz="1450" b="1" dirty="0">
                <a:solidFill>
                  <a:srgbClr val="2E9E6B"/>
                </a:solidFill>
                <a:latin typeface="Calibri" pitchFamily="34" charset="0"/>
                <a:ea typeface="Calibri" pitchFamily="34" charset="-122"/>
                <a:cs typeface="Calibri" pitchFamily="34" charset="-120"/>
              </a:rPr>
              <a:t>So the work is roughly constant, no matter the size.</a:t>
            </a:r>
            <a:endParaRPr lang="en-US" sz="1450" dirty="0"/>
          </a:p>
        </p:txBody>
      </p:sp>
      <p:sp>
        <p:nvSpPr>
          <p:cNvPr id="10" name="Shape 7"/>
          <p:cNvSpPr/>
          <p:nvPr/>
        </p:nvSpPr>
        <p:spPr>
          <a:xfrm>
            <a:off x="6217920" y="1920240"/>
            <a:ext cx="5422392" cy="3931920"/>
          </a:xfrm>
          <a:prstGeom prst="roundRect">
            <a:avLst>
              <a:gd name="adj" fmla="val 2093"/>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1" name="Text 8"/>
          <p:cNvSpPr/>
          <p:nvPr/>
        </p:nvSpPr>
        <p:spPr>
          <a:xfrm>
            <a:off x="6492240" y="2103120"/>
            <a:ext cx="493776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Steps to find one item</a:t>
            </a:r>
            <a:endParaRPr lang="en-US" sz="1400" dirty="0"/>
          </a:p>
        </p:txBody>
      </p:sp>
      <p:graphicFrame>
        <p:nvGraphicFramePr>
          <p:cNvPr id="12" name="Chart 0" descr=""/>
          <p:cNvGraphicFramePr/>
          <p:nvPr/>
        </p:nvGraphicFramePr>
        <p:xfrm>
          <a:off x="6400800" y="2514600"/>
          <a:ext cx="5120640" cy="320040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p:nvPr/>
        </p:nvSpPr>
        <p:spPr>
          <a:xfrm>
            <a:off x="6492240" y="5532120"/>
            <a:ext cx="4937760" cy="274320"/>
          </a:xfrm>
          <a:prstGeom prst="rect">
            <a:avLst/>
          </a:prstGeom>
          <a:noFill/>
          <a:ln/>
        </p:spPr>
        <p:txBody>
          <a:bodyPr wrap="square" rtlCol="0" anchor="ctr"/>
          <a:lstStyle/>
          <a:p>
            <a:pPr indent="0" marL="0">
              <a:buNone/>
            </a:pPr>
            <a:r>
              <a:rPr lang="en-US" sz="1050" i="1" dirty="0">
                <a:solidFill>
                  <a:srgbClr val="5C7488"/>
                </a:solidFill>
                <a:latin typeface="Calibri" pitchFamily="34" charset="0"/>
                <a:ea typeface="Calibri" pitchFamily="34" charset="-122"/>
                <a:cs typeface="Calibri" pitchFamily="34" charset="-120"/>
              </a:rPr>
              <a:t>(log scale) — the dict bar stays at 1 while the list explodes.</a:t>
            </a:r>
            <a:endParaRPr lang="en-US" sz="1050" dirty="0"/>
          </a:p>
        </p:txBody>
      </p:sp>
      <p:sp>
        <p:nvSpPr>
          <p:cNvPr id="14" name="Text 10"/>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15" name="Text 1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5 · HASH TABLE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The Hash Table &amp; Its Buckets</a:t>
            </a:r>
            <a:endParaRPr lang="en-US" sz="2600" dirty="0"/>
          </a:p>
        </p:txBody>
      </p:sp>
      <p:sp>
        <p:nvSpPr>
          <p:cNvPr id="6" name="Shape 3"/>
          <p:cNvSpPr/>
          <p:nvPr/>
        </p:nvSpPr>
        <p:spPr>
          <a:xfrm>
            <a:off x="548640" y="1371600"/>
            <a:ext cx="4572000" cy="4480560"/>
          </a:xfrm>
          <a:prstGeom prst="roundRect">
            <a:avLst>
              <a:gd name="adj" fmla="val 1837"/>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822960" y="1572768"/>
            <a:ext cx="402336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What is a hash table?</a:t>
            </a:r>
            <a:endParaRPr lang="en-US" sz="1400" dirty="0"/>
          </a:p>
        </p:txBody>
      </p:sp>
      <p:sp>
        <p:nvSpPr>
          <p:cNvPr id="8" name="Text 5"/>
          <p:cNvSpPr/>
          <p:nvPr/>
        </p:nvSpPr>
        <p:spPr>
          <a:xfrm>
            <a:off x="822960" y="1920240"/>
            <a:ext cx="4023360" cy="914400"/>
          </a:xfrm>
          <a:prstGeom prst="rect">
            <a:avLst/>
          </a:prstGeom>
          <a:noFill/>
          <a:ln/>
        </p:spPr>
        <p:txBody>
          <a:bodyPr wrap="square" rtlCol="0" anchor="t"/>
          <a:lstStyle/>
          <a:p>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A </a:t>
            </a:r>
            <a:pPr indent="0" marL="0">
              <a:lnSpc>
                <a:spcPct val="115000"/>
              </a:lnSpc>
              <a:buNone/>
            </a:pPr>
            <a:r>
              <a:rPr lang="en-US" sz="1550" b="1" dirty="0">
                <a:solidFill>
                  <a:srgbClr val="0A2540"/>
                </a:solidFill>
                <a:latin typeface="Calibri" pitchFamily="34" charset="0"/>
                <a:ea typeface="Calibri" pitchFamily="34" charset="-122"/>
                <a:cs typeface="Calibri" pitchFamily="34" charset="-120"/>
              </a:rPr>
              <a:t>hash table</a:t>
            </a:r>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 is just an array of numbered slots. Each slot is called a </a:t>
            </a:r>
            <a:pPr indent="0" marL="0">
              <a:lnSpc>
                <a:spcPct val="115000"/>
              </a:lnSpc>
              <a:buNone/>
            </a:pPr>
            <a:r>
              <a:rPr lang="en-US" sz="1550" b="1" dirty="0">
                <a:solidFill>
                  <a:srgbClr val="1C5D99"/>
                </a:solidFill>
                <a:latin typeface="Calibri" pitchFamily="34" charset="0"/>
                <a:ea typeface="Calibri" pitchFamily="34" charset="-122"/>
                <a:cs typeface="Calibri" pitchFamily="34" charset="-120"/>
              </a:rPr>
              <a:t>bucket</a:t>
            </a:r>
            <a:pPr indent="0" marL="0">
              <a:lnSpc>
                <a:spcPct val="115000"/>
              </a:lnSpc>
              <a:buNone/>
            </a:pPr>
            <a:r>
              <a:rPr lang="en-US" sz="1550" dirty="0">
                <a:solidFill>
                  <a:srgbClr val="16283B"/>
                </a:solidFill>
                <a:latin typeface="Calibri" pitchFamily="34" charset="0"/>
                <a:ea typeface="Calibri" pitchFamily="34" charset="-122"/>
                <a:cs typeface="Calibri" pitchFamily="34" charset="-120"/>
              </a:rPr>
              <a:t>.</a:t>
            </a:r>
            <a:endParaRPr lang="en-US" sz="1550" dirty="0"/>
          </a:p>
        </p:txBody>
      </p:sp>
      <p:sp>
        <p:nvSpPr>
          <p:cNvPr id="9" name="Text 6"/>
          <p:cNvSpPr/>
          <p:nvPr/>
        </p:nvSpPr>
        <p:spPr>
          <a:xfrm>
            <a:off x="868680" y="2926080"/>
            <a:ext cx="4023360" cy="2560320"/>
          </a:xfrm>
          <a:prstGeom prst="rect">
            <a:avLst/>
          </a:prstGeom>
          <a:noFill/>
          <a:ln/>
        </p:spPr>
        <p:txBody>
          <a:bodyPr wrap="square" rtlCol="0" anchor="t"/>
          <a:lstStyle/>
          <a:p>
            <a:pPr marL="342900" indent="-342900">
              <a:spcAft>
                <a:spcPts val="900"/>
              </a:spcAft>
              <a:buSzPct val="100000"/>
              <a:buChar char="✓"/>
            </a:pPr>
            <a:r>
              <a:rPr lang="en-US" sz="1350" dirty="0">
                <a:solidFill>
                  <a:srgbClr val="16283B"/>
                </a:solidFill>
                <a:latin typeface="Calibri" pitchFamily="34" charset="0"/>
                <a:ea typeface="Calibri" pitchFamily="34" charset="-122"/>
                <a:cs typeface="Calibri" pitchFamily="34" charset="-120"/>
              </a:rPr>
              <a:t>Buckets are the storage slots inside the table.</a:t>
            </a:r>
            <a:endParaRPr lang="en-US" sz="1350" dirty="0"/>
          </a:p>
          <a:p>
            <a:pPr marL="342900" indent="-342900">
              <a:spcAft>
                <a:spcPts val="900"/>
              </a:spcAft>
              <a:buSzPct val="100000"/>
              <a:buChar char="✓"/>
            </a:pPr>
            <a:r>
              <a:rPr lang="en-US" sz="1350" dirty="0">
                <a:solidFill>
                  <a:srgbClr val="16283B"/>
                </a:solidFill>
                <a:latin typeface="Calibri" pitchFamily="34" charset="0"/>
                <a:ea typeface="Calibri" pitchFamily="34" charset="-122"/>
                <a:cs typeface="Calibri" pitchFamily="34" charset="-120"/>
              </a:rPr>
              <a:t>The hash decides which bucket a key goes into.</a:t>
            </a:r>
            <a:endParaRPr lang="en-US" sz="1350" dirty="0"/>
          </a:p>
          <a:p>
            <a:pPr marL="342900" indent="-342900">
              <a:spcAft>
                <a:spcPts val="900"/>
              </a:spcAft>
              <a:buSzPct val="100000"/>
              <a:buChar char="✓"/>
            </a:pPr>
            <a:r>
              <a:rPr lang="en-US" sz="1350" dirty="0">
                <a:solidFill>
                  <a:srgbClr val="16283B"/>
                </a:solidFill>
                <a:latin typeface="Calibri" pitchFamily="34" charset="0"/>
                <a:ea typeface="Calibri" pitchFamily="34" charset="-122"/>
                <a:cs typeface="Calibri" pitchFamily="34" charset="-120"/>
              </a:rPr>
              <a:t>Each bucket can hold a key + its value.</a:t>
            </a:r>
            <a:endParaRPr lang="en-US" sz="1350" dirty="0"/>
          </a:p>
          <a:p>
            <a:pPr marL="342900" indent="-342900">
              <a:buSzPct val="100000"/>
              <a:buChar char="✓"/>
            </a:pPr>
            <a:r>
              <a:rPr lang="en-US" sz="1350" b="1" dirty="0">
                <a:solidFill>
                  <a:srgbClr val="2E9E6B"/>
                </a:solidFill>
                <a:latin typeface="Calibri" pitchFamily="34" charset="0"/>
                <a:ea typeface="Calibri" pitchFamily="34" charset="-122"/>
                <a:cs typeface="Calibri" pitchFamily="34" charset="-120"/>
              </a:rPr>
              <a:t>Both dicts and sets are built on this.</a:t>
            </a:r>
            <a:endParaRPr lang="en-US" sz="1350" dirty="0"/>
          </a:p>
        </p:txBody>
      </p:sp>
      <p:sp>
        <p:nvSpPr>
          <p:cNvPr id="10" name="Shape 7"/>
          <p:cNvSpPr/>
          <p:nvPr/>
        </p:nvSpPr>
        <p:spPr>
          <a:xfrm>
            <a:off x="5349240" y="1371600"/>
            <a:ext cx="6291072" cy="4480560"/>
          </a:xfrm>
          <a:prstGeom prst="roundRect">
            <a:avLst>
              <a:gd name="adj" fmla="val 1837"/>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1" name="Text 8"/>
          <p:cNvSpPr/>
          <p:nvPr/>
        </p:nvSpPr>
        <p:spPr>
          <a:xfrm>
            <a:off x="5623560" y="1572768"/>
            <a:ext cx="566928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Hash Table  (8 buckets)</a:t>
            </a:r>
            <a:endParaRPr lang="en-US" sz="1400" dirty="0"/>
          </a:p>
        </p:txBody>
      </p:sp>
      <p:sp>
        <p:nvSpPr>
          <p:cNvPr id="12" name="Shape 9"/>
          <p:cNvSpPr/>
          <p:nvPr/>
        </p:nvSpPr>
        <p:spPr>
          <a:xfrm>
            <a:off x="5623560" y="2011680"/>
            <a:ext cx="566928" cy="438912"/>
          </a:xfrm>
          <a:prstGeom prst="roundRect">
            <a:avLst>
              <a:gd name="adj" fmla="val 10417"/>
            </a:avLst>
          </a:prstGeom>
          <a:solidFill>
            <a:srgbClr val="0A2540"/>
          </a:solidFill>
          <a:ln/>
        </p:spPr>
      </p:sp>
      <p:sp>
        <p:nvSpPr>
          <p:cNvPr id="13" name="Text 10"/>
          <p:cNvSpPr/>
          <p:nvPr/>
        </p:nvSpPr>
        <p:spPr>
          <a:xfrm>
            <a:off x="5623560" y="2011680"/>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0</a:t>
            </a:r>
            <a:endParaRPr lang="en-US" sz="1400" dirty="0"/>
          </a:p>
        </p:txBody>
      </p:sp>
      <p:sp>
        <p:nvSpPr>
          <p:cNvPr id="14" name="Shape 11"/>
          <p:cNvSpPr/>
          <p:nvPr/>
        </p:nvSpPr>
        <p:spPr>
          <a:xfrm>
            <a:off x="6263640" y="2011680"/>
            <a:ext cx="5120640" cy="438912"/>
          </a:xfrm>
          <a:prstGeom prst="roundRect">
            <a:avLst>
              <a:gd name="adj" fmla="val 10417"/>
            </a:avLst>
          </a:prstGeom>
          <a:solidFill>
            <a:srgbClr val="F1F4F7"/>
          </a:solidFill>
          <a:ln w="12700">
            <a:solidFill>
              <a:srgbClr val="D5DDE4"/>
            </a:solidFill>
            <a:prstDash val="solid"/>
          </a:ln>
        </p:spPr>
      </p:sp>
      <p:sp>
        <p:nvSpPr>
          <p:cNvPr id="15" name="Text 12"/>
          <p:cNvSpPr/>
          <p:nvPr/>
        </p:nvSpPr>
        <p:spPr>
          <a:xfrm>
            <a:off x="6446520" y="2011680"/>
            <a:ext cx="4846320" cy="438912"/>
          </a:xfrm>
          <a:prstGeom prst="rect">
            <a:avLst/>
          </a:prstGeom>
          <a:noFill/>
          <a:ln/>
        </p:spPr>
        <p:txBody>
          <a:bodyPr wrap="square" rtlCol="0" anchor="ctr"/>
          <a:lstStyle/>
          <a:p>
            <a:pPr indent="0" marL="0">
              <a:buNone/>
            </a:pPr>
            <a:r>
              <a:rPr lang="en-US" sz="1150" i="1" dirty="0">
                <a:solidFill>
                  <a:srgbClr val="9AA8B4"/>
                </a:solidFill>
                <a:latin typeface="Calibri" pitchFamily="34" charset="0"/>
                <a:ea typeface="Calibri" pitchFamily="34" charset="-122"/>
                <a:cs typeface="Calibri" pitchFamily="34" charset="-120"/>
              </a:rPr>
              <a:t>empty</a:t>
            </a:r>
            <a:endParaRPr lang="en-US" sz="1150" dirty="0"/>
          </a:p>
        </p:txBody>
      </p:sp>
      <p:sp>
        <p:nvSpPr>
          <p:cNvPr id="16" name="Shape 13"/>
          <p:cNvSpPr/>
          <p:nvPr/>
        </p:nvSpPr>
        <p:spPr>
          <a:xfrm>
            <a:off x="5623560" y="2500884"/>
            <a:ext cx="566928" cy="438912"/>
          </a:xfrm>
          <a:prstGeom prst="roundRect">
            <a:avLst>
              <a:gd name="adj" fmla="val 10417"/>
            </a:avLst>
          </a:prstGeom>
          <a:solidFill>
            <a:srgbClr val="0A2540"/>
          </a:solidFill>
          <a:ln/>
        </p:spPr>
      </p:sp>
      <p:sp>
        <p:nvSpPr>
          <p:cNvPr id="17" name="Text 14"/>
          <p:cNvSpPr/>
          <p:nvPr/>
        </p:nvSpPr>
        <p:spPr>
          <a:xfrm>
            <a:off x="5623560" y="2500884"/>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8" name="Shape 15"/>
          <p:cNvSpPr/>
          <p:nvPr/>
        </p:nvSpPr>
        <p:spPr>
          <a:xfrm>
            <a:off x="6263640" y="2500884"/>
            <a:ext cx="5120640" cy="438912"/>
          </a:xfrm>
          <a:prstGeom prst="roundRect">
            <a:avLst>
              <a:gd name="adj" fmla="val 10417"/>
            </a:avLst>
          </a:prstGeom>
          <a:solidFill>
            <a:srgbClr val="E9F5EE"/>
          </a:solidFill>
          <a:ln w="12700">
            <a:solidFill>
              <a:srgbClr val="2E9E6B"/>
            </a:solidFill>
            <a:prstDash val="solid"/>
          </a:ln>
        </p:spPr>
      </p:sp>
      <p:sp>
        <p:nvSpPr>
          <p:cNvPr id="19" name="Text 16"/>
          <p:cNvSpPr/>
          <p:nvPr/>
        </p:nvSpPr>
        <p:spPr>
          <a:xfrm>
            <a:off x="6446520" y="2500884"/>
            <a:ext cx="4846320" cy="438912"/>
          </a:xfrm>
          <a:prstGeom prst="rect">
            <a:avLst/>
          </a:prstGeom>
          <a:noFill/>
          <a:ln/>
        </p:spPr>
        <p:txBody>
          <a:bodyPr wrap="square" rtlCol="0" anchor="ctr"/>
          <a:lstStyle/>
          <a:p>
            <a:pPr indent="0" marL="0">
              <a:buNone/>
            </a:pPr>
            <a:r>
              <a:rPr lang="en-US" sz="1250" dirty="0">
                <a:solidFill>
                  <a:srgbClr val="5C7488"/>
                </a:solidFill>
                <a:latin typeface="Calibri" pitchFamily="34" charset="0"/>
                <a:ea typeface="Calibri" pitchFamily="34" charset="-122"/>
                <a:cs typeface="Calibri" pitchFamily="34" charset="-120"/>
              </a:rPr>
              <a:t>key: </a:t>
            </a:r>
            <a:pPr indent="0" marL="0">
              <a:buNone/>
            </a:pPr>
            <a:r>
              <a:rPr lang="en-US" sz="1250" b="1" dirty="0">
                <a:solidFill>
                  <a:srgbClr val="0A2540"/>
                </a:solidFill>
                <a:latin typeface="Courier New" pitchFamily="34" charset="0"/>
                <a:ea typeface="Courier New" pitchFamily="34" charset="-122"/>
                <a:cs typeface="Courier New" pitchFamily="34" charset="-120"/>
              </a:rPr>
              <a:t>"Ali"   </a:t>
            </a:r>
            <a:pPr indent="0" marL="0">
              <a:buNone/>
            </a:pPr>
            <a:r>
              <a:rPr lang="en-US" sz="1250" dirty="0">
                <a:solidFill>
                  <a:srgbClr val="5C7488"/>
                </a:solidFill>
                <a:latin typeface="Calibri" pitchFamily="34" charset="0"/>
                <a:ea typeface="Calibri" pitchFamily="34" charset="-122"/>
                <a:cs typeface="Calibri" pitchFamily="34" charset="-120"/>
              </a:rPr>
              <a:t>value: </a:t>
            </a:r>
            <a:pPr indent="0" marL="0">
              <a:buNone/>
            </a:pPr>
            <a:r>
              <a:rPr lang="en-US" sz="1250" b="1" dirty="0">
                <a:solidFill>
                  <a:srgbClr val="2E9E6B"/>
                </a:solidFill>
                <a:latin typeface="Courier New" pitchFamily="34" charset="0"/>
                <a:ea typeface="Courier New" pitchFamily="34" charset="-122"/>
                <a:cs typeface="Courier New" pitchFamily="34" charset="-120"/>
              </a:rPr>
              <a:t>90</a:t>
            </a:r>
            <a:endParaRPr lang="en-US" sz="1250" dirty="0"/>
          </a:p>
        </p:txBody>
      </p:sp>
      <p:sp>
        <p:nvSpPr>
          <p:cNvPr id="20" name="Shape 17"/>
          <p:cNvSpPr/>
          <p:nvPr/>
        </p:nvSpPr>
        <p:spPr>
          <a:xfrm>
            <a:off x="5623560" y="2990088"/>
            <a:ext cx="566928" cy="438912"/>
          </a:xfrm>
          <a:prstGeom prst="roundRect">
            <a:avLst>
              <a:gd name="adj" fmla="val 10417"/>
            </a:avLst>
          </a:prstGeom>
          <a:solidFill>
            <a:srgbClr val="0A2540"/>
          </a:solidFill>
          <a:ln/>
        </p:spPr>
      </p:sp>
      <p:sp>
        <p:nvSpPr>
          <p:cNvPr id="21" name="Text 18"/>
          <p:cNvSpPr/>
          <p:nvPr/>
        </p:nvSpPr>
        <p:spPr>
          <a:xfrm>
            <a:off x="5623560" y="2990088"/>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2" name="Shape 19"/>
          <p:cNvSpPr/>
          <p:nvPr/>
        </p:nvSpPr>
        <p:spPr>
          <a:xfrm>
            <a:off x="6263640" y="2990088"/>
            <a:ext cx="5120640" cy="438912"/>
          </a:xfrm>
          <a:prstGeom prst="roundRect">
            <a:avLst>
              <a:gd name="adj" fmla="val 10417"/>
            </a:avLst>
          </a:prstGeom>
          <a:solidFill>
            <a:srgbClr val="F1F4F7"/>
          </a:solidFill>
          <a:ln w="12700">
            <a:solidFill>
              <a:srgbClr val="D5DDE4"/>
            </a:solidFill>
            <a:prstDash val="solid"/>
          </a:ln>
        </p:spPr>
      </p:sp>
      <p:sp>
        <p:nvSpPr>
          <p:cNvPr id="23" name="Text 20"/>
          <p:cNvSpPr/>
          <p:nvPr/>
        </p:nvSpPr>
        <p:spPr>
          <a:xfrm>
            <a:off x="6446520" y="2990088"/>
            <a:ext cx="4846320" cy="438912"/>
          </a:xfrm>
          <a:prstGeom prst="rect">
            <a:avLst/>
          </a:prstGeom>
          <a:noFill/>
          <a:ln/>
        </p:spPr>
        <p:txBody>
          <a:bodyPr wrap="square" rtlCol="0" anchor="ctr"/>
          <a:lstStyle/>
          <a:p>
            <a:pPr indent="0" marL="0">
              <a:buNone/>
            </a:pPr>
            <a:r>
              <a:rPr lang="en-US" sz="1150" i="1" dirty="0">
                <a:solidFill>
                  <a:srgbClr val="9AA8B4"/>
                </a:solidFill>
                <a:latin typeface="Calibri" pitchFamily="34" charset="0"/>
                <a:ea typeface="Calibri" pitchFamily="34" charset="-122"/>
                <a:cs typeface="Calibri" pitchFamily="34" charset="-120"/>
              </a:rPr>
              <a:t>empty</a:t>
            </a:r>
            <a:endParaRPr lang="en-US" sz="1150" dirty="0"/>
          </a:p>
        </p:txBody>
      </p:sp>
      <p:sp>
        <p:nvSpPr>
          <p:cNvPr id="24" name="Shape 21"/>
          <p:cNvSpPr/>
          <p:nvPr/>
        </p:nvSpPr>
        <p:spPr>
          <a:xfrm>
            <a:off x="5623560" y="3479292"/>
            <a:ext cx="566928" cy="438912"/>
          </a:xfrm>
          <a:prstGeom prst="roundRect">
            <a:avLst>
              <a:gd name="adj" fmla="val 10417"/>
            </a:avLst>
          </a:prstGeom>
          <a:solidFill>
            <a:srgbClr val="0A2540"/>
          </a:solidFill>
          <a:ln/>
        </p:spPr>
      </p:sp>
      <p:sp>
        <p:nvSpPr>
          <p:cNvPr id="25" name="Text 22"/>
          <p:cNvSpPr/>
          <p:nvPr/>
        </p:nvSpPr>
        <p:spPr>
          <a:xfrm>
            <a:off x="5623560" y="3479292"/>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6" name="Shape 23"/>
          <p:cNvSpPr/>
          <p:nvPr/>
        </p:nvSpPr>
        <p:spPr>
          <a:xfrm>
            <a:off x="6263640" y="3479292"/>
            <a:ext cx="5120640" cy="438912"/>
          </a:xfrm>
          <a:prstGeom prst="roundRect">
            <a:avLst>
              <a:gd name="adj" fmla="val 10417"/>
            </a:avLst>
          </a:prstGeom>
          <a:solidFill>
            <a:srgbClr val="E9F5EE"/>
          </a:solidFill>
          <a:ln w="12700">
            <a:solidFill>
              <a:srgbClr val="2E9E6B"/>
            </a:solidFill>
            <a:prstDash val="solid"/>
          </a:ln>
        </p:spPr>
      </p:sp>
      <p:sp>
        <p:nvSpPr>
          <p:cNvPr id="27" name="Text 24"/>
          <p:cNvSpPr/>
          <p:nvPr/>
        </p:nvSpPr>
        <p:spPr>
          <a:xfrm>
            <a:off x="6446520" y="3479292"/>
            <a:ext cx="4846320" cy="438912"/>
          </a:xfrm>
          <a:prstGeom prst="rect">
            <a:avLst/>
          </a:prstGeom>
          <a:noFill/>
          <a:ln/>
        </p:spPr>
        <p:txBody>
          <a:bodyPr wrap="square" rtlCol="0" anchor="ctr"/>
          <a:lstStyle/>
          <a:p>
            <a:pPr indent="0" marL="0">
              <a:buNone/>
            </a:pPr>
            <a:r>
              <a:rPr lang="en-US" sz="1250" dirty="0">
                <a:solidFill>
                  <a:srgbClr val="5C7488"/>
                </a:solidFill>
                <a:latin typeface="Calibri" pitchFamily="34" charset="0"/>
                <a:ea typeface="Calibri" pitchFamily="34" charset="-122"/>
                <a:cs typeface="Calibri" pitchFamily="34" charset="-120"/>
              </a:rPr>
              <a:t>key: </a:t>
            </a:r>
            <a:pPr indent="0" marL="0">
              <a:buNone/>
            </a:pPr>
            <a:r>
              <a:rPr lang="en-US" sz="1250" b="1" dirty="0">
                <a:solidFill>
                  <a:srgbClr val="0A2540"/>
                </a:solidFill>
                <a:latin typeface="Courier New" pitchFamily="34" charset="0"/>
                <a:ea typeface="Courier New" pitchFamily="34" charset="-122"/>
                <a:cs typeface="Courier New" pitchFamily="34" charset="-120"/>
              </a:rPr>
              <a:t>"Sara"   </a:t>
            </a:r>
            <a:pPr indent="0" marL="0">
              <a:buNone/>
            </a:pPr>
            <a:r>
              <a:rPr lang="en-US" sz="1250" dirty="0">
                <a:solidFill>
                  <a:srgbClr val="5C7488"/>
                </a:solidFill>
                <a:latin typeface="Calibri" pitchFamily="34" charset="0"/>
                <a:ea typeface="Calibri" pitchFamily="34" charset="-122"/>
                <a:cs typeface="Calibri" pitchFamily="34" charset="-120"/>
              </a:rPr>
              <a:t>value: </a:t>
            </a:r>
            <a:pPr indent="0" marL="0">
              <a:buNone/>
            </a:pPr>
            <a:r>
              <a:rPr lang="en-US" sz="1250" b="1" dirty="0">
                <a:solidFill>
                  <a:srgbClr val="2E9E6B"/>
                </a:solidFill>
                <a:latin typeface="Courier New" pitchFamily="34" charset="0"/>
                <a:ea typeface="Courier New" pitchFamily="34" charset="-122"/>
                <a:cs typeface="Courier New" pitchFamily="34" charset="-120"/>
              </a:rPr>
              <a:t>85</a:t>
            </a:r>
            <a:endParaRPr lang="en-US" sz="1250" dirty="0"/>
          </a:p>
        </p:txBody>
      </p:sp>
      <p:sp>
        <p:nvSpPr>
          <p:cNvPr id="28" name="Shape 25"/>
          <p:cNvSpPr/>
          <p:nvPr/>
        </p:nvSpPr>
        <p:spPr>
          <a:xfrm>
            <a:off x="5623560" y="3968496"/>
            <a:ext cx="566928" cy="438912"/>
          </a:xfrm>
          <a:prstGeom prst="roundRect">
            <a:avLst>
              <a:gd name="adj" fmla="val 10417"/>
            </a:avLst>
          </a:prstGeom>
          <a:solidFill>
            <a:srgbClr val="0A2540"/>
          </a:solidFill>
          <a:ln/>
        </p:spPr>
      </p:sp>
      <p:sp>
        <p:nvSpPr>
          <p:cNvPr id="29" name="Text 26"/>
          <p:cNvSpPr/>
          <p:nvPr/>
        </p:nvSpPr>
        <p:spPr>
          <a:xfrm>
            <a:off x="5623560" y="3968496"/>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30" name="Shape 27"/>
          <p:cNvSpPr/>
          <p:nvPr/>
        </p:nvSpPr>
        <p:spPr>
          <a:xfrm>
            <a:off x="6263640" y="3968496"/>
            <a:ext cx="5120640" cy="438912"/>
          </a:xfrm>
          <a:prstGeom prst="roundRect">
            <a:avLst>
              <a:gd name="adj" fmla="val 10417"/>
            </a:avLst>
          </a:prstGeom>
          <a:solidFill>
            <a:srgbClr val="F1F4F7"/>
          </a:solidFill>
          <a:ln w="12700">
            <a:solidFill>
              <a:srgbClr val="D5DDE4"/>
            </a:solidFill>
            <a:prstDash val="solid"/>
          </a:ln>
        </p:spPr>
      </p:sp>
      <p:sp>
        <p:nvSpPr>
          <p:cNvPr id="31" name="Text 28"/>
          <p:cNvSpPr/>
          <p:nvPr/>
        </p:nvSpPr>
        <p:spPr>
          <a:xfrm>
            <a:off x="6446520" y="3968496"/>
            <a:ext cx="4846320" cy="438912"/>
          </a:xfrm>
          <a:prstGeom prst="rect">
            <a:avLst/>
          </a:prstGeom>
          <a:noFill/>
          <a:ln/>
        </p:spPr>
        <p:txBody>
          <a:bodyPr wrap="square" rtlCol="0" anchor="ctr"/>
          <a:lstStyle/>
          <a:p>
            <a:pPr indent="0" marL="0">
              <a:buNone/>
            </a:pPr>
            <a:r>
              <a:rPr lang="en-US" sz="1150" i="1" dirty="0">
                <a:solidFill>
                  <a:srgbClr val="9AA8B4"/>
                </a:solidFill>
                <a:latin typeface="Calibri" pitchFamily="34" charset="0"/>
                <a:ea typeface="Calibri" pitchFamily="34" charset="-122"/>
                <a:cs typeface="Calibri" pitchFamily="34" charset="-120"/>
              </a:rPr>
              <a:t>empty</a:t>
            </a:r>
            <a:endParaRPr lang="en-US" sz="1150" dirty="0"/>
          </a:p>
        </p:txBody>
      </p:sp>
      <p:sp>
        <p:nvSpPr>
          <p:cNvPr id="32" name="Shape 29"/>
          <p:cNvSpPr/>
          <p:nvPr/>
        </p:nvSpPr>
        <p:spPr>
          <a:xfrm>
            <a:off x="5623560" y="4457700"/>
            <a:ext cx="566928" cy="438912"/>
          </a:xfrm>
          <a:prstGeom prst="roundRect">
            <a:avLst>
              <a:gd name="adj" fmla="val 10417"/>
            </a:avLst>
          </a:prstGeom>
          <a:solidFill>
            <a:srgbClr val="0A2540"/>
          </a:solidFill>
          <a:ln/>
        </p:spPr>
      </p:sp>
      <p:sp>
        <p:nvSpPr>
          <p:cNvPr id="33" name="Text 30"/>
          <p:cNvSpPr/>
          <p:nvPr/>
        </p:nvSpPr>
        <p:spPr>
          <a:xfrm>
            <a:off x="5623560" y="4457700"/>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34" name="Shape 31"/>
          <p:cNvSpPr/>
          <p:nvPr/>
        </p:nvSpPr>
        <p:spPr>
          <a:xfrm>
            <a:off x="6263640" y="4457700"/>
            <a:ext cx="5120640" cy="438912"/>
          </a:xfrm>
          <a:prstGeom prst="roundRect">
            <a:avLst>
              <a:gd name="adj" fmla="val 10417"/>
            </a:avLst>
          </a:prstGeom>
          <a:solidFill>
            <a:srgbClr val="E9F5EE"/>
          </a:solidFill>
          <a:ln w="12700">
            <a:solidFill>
              <a:srgbClr val="2E9E6B"/>
            </a:solidFill>
            <a:prstDash val="solid"/>
          </a:ln>
        </p:spPr>
      </p:sp>
      <p:sp>
        <p:nvSpPr>
          <p:cNvPr id="35" name="Text 32"/>
          <p:cNvSpPr/>
          <p:nvPr/>
        </p:nvSpPr>
        <p:spPr>
          <a:xfrm>
            <a:off x="6446520" y="4457700"/>
            <a:ext cx="4846320" cy="438912"/>
          </a:xfrm>
          <a:prstGeom prst="rect">
            <a:avLst/>
          </a:prstGeom>
          <a:noFill/>
          <a:ln/>
        </p:spPr>
        <p:txBody>
          <a:bodyPr wrap="square" rtlCol="0" anchor="ctr"/>
          <a:lstStyle/>
          <a:p>
            <a:pPr indent="0" marL="0">
              <a:buNone/>
            </a:pPr>
            <a:r>
              <a:rPr lang="en-US" sz="1250" dirty="0">
                <a:solidFill>
                  <a:srgbClr val="5C7488"/>
                </a:solidFill>
                <a:latin typeface="Calibri" pitchFamily="34" charset="0"/>
                <a:ea typeface="Calibri" pitchFamily="34" charset="-122"/>
                <a:cs typeface="Calibri" pitchFamily="34" charset="-120"/>
              </a:rPr>
              <a:t>key: </a:t>
            </a:r>
            <a:pPr indent="0" marL="0">
              <a:buNone/>
            </a:pPr>
            <a:r>
              <a:rPr lang="en-US" sz="1250" b="1" dirty="0">
                <a:solidFill>
                  <a:srgbClr val="0A2540"/>
                </a:solidFill>
                <a:latin typeface="Courier New" pitchFamily="34" charset="0"/>
                <a:ea typeface="Courier New" pitchFamily="34" charset="-122"/>
                <a:cs typeface="Courier New" pitchFamily="34" charset="-120"/>
              </a:rPr>
              <a:t>"Omar"   </a:t>
            </a:r>
            <a:pPr indent="0" marL="0">
              <a:buNone/>
            </a:pPr>
            <a:r>
              <a:rPr lang="en-US" sz="1250" dirty="0">
                <a:solidFill>
                  <a:srgbClr val="5C7488"/>
                </a:solidFill>
                <a:latin typeface="Calibri" pitchFamily="34" charset="0"/>
                <a:ea typeface="Calibri" pitchFamily="34" charset="-122"/>
                <a:cs typeface="Calibri" pitchFamily="34" charset="-120"/>
              </a:rPr>
              <a:t>value: </a:t>
            </a:r>
            <a:pPr indent="0" marL="0">
              <a:buNone/>
            </a:pPr>
            <a:r>
              <a:rPr lang="en-US" sz="1250" b="1" dirty="0">
                <a:solidFill>
                  <a:srgbClr val="2E9E6B"/>
                </a:solidFill>
                <a:latin typeface="Courier New" pitchFamily="34" charset="0"/>
                <a:ea typeface="Courier New" pitchFamily="34" charset="-122"/>
                <a:cs typeface="Courier New" pitchFamily="34" charset="-120"/>
              </a:rPr>
              <a:t>70</a:t>
            </a:r>
            <a:endParaRPr lang="en-US" sz="1250" dirty="0"/>
          </a:p>
        </p:txBody>
      </p:sp>
      <p:sp>
        <p:nvSpPr>
          <p:cNvPr id="36" name="Shape 33"/>
          <p:cNvSpPr/>
          <p:nvPr/>
        </p:nvSpPr>
        <p:spPr>
          <a:xfrm>
            <a:off x="5623560" y="4946904"/>
            <a:ext cx="566928" cy="438912"/>
          </a:xfrm>
          <a:prstGeom prst="roundRect">
            <a:avLst>
              <a:gd name="adj" fmla="val 10417"/>
            </a:avLst>
          </a:prstGeom>
          <a:solidFill>
            <a:srgbClr val="0A2540"/>
          </a:solidFill>
          <a:ln/>
        </p:spPr>
      </p:sp>
      <p:sp>
        <p:nvSpPr>
          <p:cNvPr id="37" name="Text 34"/>
          <p:cNvSpPr/>
          <p:nvPr/>
        </p:nvSpPr>
        <p:spPr>
          <a:xfrm>
            <a:off x="5623560" y="4946904"/>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6</a:t>
            </a:r>
            <a:endParaRPr lang="en-US" sz="1400" dirty="0"/>
          </a:p>
        </p:txBody>
      </p:sp>
      <p:sp>
        <p:nvSpPr>
          <p:cNvPr id="38" name="Shape 35"/>
          <p:cNvSpPr/>
          <p:nvPr/>
        </p:nvSpPr>
        <p:spPr>
          <a:xfrm>
            <a:off x="6263640" y="4946904"/>
            <a:ext cx="5120640" cy="438912"/>
          </a:xfrm>
          <a:prstGeom prst="roundRect">
            <a:avLst>
              <a:gd name="adj" fmla="val 10417"/>
            </a:avLst>
          </a:prstGeom>
          <a:solidFill>
            <a:srgbClr val="F1F4F7"/>
          </a:solidFill>
          <a:ln w="12700">
            <a:solidFill>
              <a:srgbClr val="D5DDE4"/>
            </a:solidFill>
            <a:prstDash val="solid"/>
          </a:ln>
        </p:spPr>
      </p:sp>
      <p:sp>
        <p:nvSpPr>
          <p:cNvPr id="39" name="Text 36"/>
          <p:cNvSpPr/>
          <p:nvPr/>
        </p:nvSpPr>
        <p:spPr>
          <a:xfrm>
            <a:off x="6446520" y="4946904"/>
            <a:ext cx="4846320" cy="438912"/>
          </a:xfrm>
          <a:prstGeom prst="rect">
            <a:avLst/>
          </a:prstGeom>
          <a:noFill/>
          <a:ln/>
        </p:spPr>
        <p:txBody>
          <a:bodyPr wrap="square" rtlCol="0" anchor="ctr"/>
          <a:lstStyle/>
          <a:p>
            <a:pPr indent="0" marL="0">
              <a:buNone/>
            </a:pPr>
            <a:r>
              <a:rPr lang="en-US" sz="1150" i="1" dirty="0">
                <a:solidFill>
                  <a:srgbClr val="9AA8B4"/>
                </a:solidFill>
                <a:latin typeface="Calibri" pitchFamily="34" charset="0"/>
                <a:ea typeface="Calibri" pitchFamily="34" charset="-122"/>
                <a:cs typeface="Calibri" pitchFamily="34" charset="-120"/>
              </a:rPr>
              <a:t>empty</a:t>
            </a:r>
            <a:endParaRPr lang="en-US" sz="1150" dirty="0"/>
          </a:p>
        </p:txBody>
      </p:sp>
      <p:sp>
        <p:nvSpPr>
          <p:cNvPr id="40" name="Shape 37"/>
          <p:cNvSpPr/>
          <p:nvPr/>
        </p:nvSpPr>
        <p:spPr>
          <a:xfrm>
            <a:off x="5623560" y="5436108"/>
            <a:ext cx="566928" cy="438912"/>
          </a:xfrm>
          <a:prstGeom prst="roundRect">
            <a:avLst>
              <a:gd name="adj" fmla="val 10417"/>
            </a:avLst>
          </a:prstGeom>
          <a:solidFill>
            <a:srgbClr val="0A2540"/>
          </a:solidFill>
          <a:ln/>
        </p:spPr>
      </p:sp>
      <p:sp>
        <p:nvSpPr>
          <p:cNvPr id="41" name="Text 38"/>
          <p:cNvSpPr/>
          <p:nvPr/>
        </p:nvSpPr>
        <p:spPr>
          <a:xfrm>
            <a:off x="5623560" y="5436108"/>
            <a:ext cx="566928" cy="438912"/>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7</a:t>
            </a:r>
            <a:endParaRPr lang="en-US" sz="1400" dirty="0"/>
          </a:p>
        </p:txBody>
      </p:sp>
      <p:sp>
        <p:nvSpPr>
          <p:cNvPr id="42" name="Shape 39"/>
          <p:cNvSpPr/>
          <p:nvPr/>
        </p:nvSpPr>
        <p:spPr>
          <a:xfrm>
            <a:off x="6263640" y="5436108"/>
            <a:ext cx="5120640" cy="438912"/>
          </a:xfrm>
          <a:prstGeom prst="roundRect">
            <a:avLst>
              <a:gd name="adj" fmla="val 10417"/>
            </a:avLst>
          </a:prstGeom>
          <a:solidFill>
            <a:srgbClr val="F1F4F7"/>
          </a:solidFill>
          <a:ln w="12700">
            <a:solidFill>
              <a:srgbClr val="D5DDE4"/>
            </a:solidFill>
            <a:prstDash val="solid"/>
          </a:ln>
        </p:spPr>
      </p:sp>
      <p:sp>
        <p:nvSpPr>
          <p:cNvPr id="43" name="Text 40"/>
          <p:cNvSpPr/>
          <p:nvPr/>
        </p:nvSpPr>
        <p:spPr>
          <a:xfrm>
            <a:off x="6446520" y="5436108"/>
            <a:ext cx="4846320" cy="438912"/>
          </a:xfrm>
          <a:prstGeom prst="rect">
            <a:avLst/>
          </a:prstGeom>
          <a:noFill/>
          <a:ln/>
        </p:spPr>
        <p:txBody>
          <a:bodyPr wrap="square" rtlCol="0" anchor="ctr"/>
          <a:lstStyle/>
          <a:p>
            <a:pPr indent="0" marL="0">
              <a:buNone/>
            </a:pPr>
            <a:r>
              <a:rPr lang="en-US" sz="1150" i="1" dirty="0">
                <a:solidFill>
                  <a:srgbClr val="9AA8B4"/>
                </a:solidFill>
                <a:latin typeface="Calibri" pitchFamily="34" charset="0"/>
                <a:ea typeface="Calibri" pitchFamily="34" charset="-122"/>
                <a:cs typeface="Calibri" pitchFamily="34" charset="-120"/>
              </a:rPr>
              <a:t>empty</a:t>
            </a:r>
            <a:endParaRPr lang="en-US" sz="1150" dirty="0"/>
          </a:p>
        </p:txBody>
      </p:sp>
      <p:sp>
        <p:nvSpPr>
          <p:cNvPr id="44" name="Text 41"/>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5" name="Text 42"/>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6 · LOOKUP PROCESS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The Complete Lookup Flow</a:t>
            </a:r>
            <a:endParaRPr lang="en-US" sz="2600" dirty="0"/>
          </a:p>
        </p:txBody>
      </p:sp>
      <p:sp>
        <p:nvSpPr>
          <p:cNvPr id="6" name="Text 3"/>
          <p:cNvSpPr/>
          <p:nvPr/>
        </p:nvSpPr>
        <p:spPr>
          <a:xfrm>
            <a:off x="548640" y="1298448"/>
            <a:ext cx="11064240" cy="36576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What actually happens when you write  student["Ali"]</a:t>
            </a:r>
            <a:endParaRPr lang="en-US" sz="1500" dirty="0"/>
          </a:p>
        </p:txBody>
      </p:sp>
      <p:sp>
        <p:nvSpPr>
          <p:cNvPr id="7" name="Shape 4"/>
          <p:cNvSpPr/>
          <p:nvPr/>
        </p:nvSpPr>
        <p:spPr>
          <a:xfrm>
            <a:off x="3017520" y="1783080"/>
            <a:ext cx="4023360" cy="566928"/>
          </a:xfrm>
          <a:prstGeom prst="roundRect">
            <a:avLst>
              <a:gd name="adj" fmla="val 12903"/>
            </a:avLst>
          </a:prstGeom>
          <a:solidFill>
            <a:srgbClr val="1C5D99"/>
          </a:solidFill>
          <a:ln/>
          <a:effectLst>
            <a:outerShdw sx="100000" sy="100000" kx="0" ky="0" algn="bl" rotWithShape="0" blurRad="50800" dist="12700" dir="5400000">
              <a:srgbClr val="000000">
                <a:alpha val="13000"/>
              </a:srgbClr>
            </a:outerShdw>
          </a:effectLst>
        </p:spPr>
      </p:sp>
      <p:sp>
        <p:nvSpPr>
          <p:cNvPr id="8" name="Text 5"/>
          <p:cNvSpPr/>
          <p:nvPr/>
        </p:nvSpPr>
        <p:spPr>
          <a:xfrm>
            <a:off x="3154680" y="1801368"/>
            <a:ext cx="3749040" cy="31089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student["Ali"]</a:t>
            </a:r>
            <a:endParaRPr lang="en-US" sz="1500" dirty="0"/>
          </a:p>
        </p:txBody>
      </p:sp>
      <p:sp>
        <p:nvSpPr>
          <p:cNvPr id="9" name="Text 6"/>
          <p:cNvSpPr/>
          <p:nvPr/>
        </p:nvSpPr>
        <p:spPr>
          <a:xfrm>
            <a:off x="3154680" y="2075688"/>
            <a:ext cx="3749040" cy="237744"/>
          </a:xfrm>
          <a:prstGeom prst="rect">
            <a:avLst/>
          </a:prstGeom>
          <a:noFill/>
          <a:ln/>
        </p:spPr>
        <p:txBody>
          <a:bodyPr wrap="square"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You ask for a key</a:t>
            </a:r>
            <a:endParaRPr lang="en-US" sz="1050" dirty="0"/>
          </a:p>
        </p:txBody>
      </p:sp>
      <p:sp>
        <p:nvSpPr>
          <p:cNvPr id="10" name="Text 7"/>
          <p:cNvSpPr/>
          <p:nvPr/>
        </p:nvSpPr>
        <p:spPr>
          <a:xfrm>
            <a:off x="4800600" y="2304288"/>
            <a:ext cx="457200" cy="274320"/>
          </a:xfrm>
          <a:prstGeom prst="rect">
            <a:avLst/>
          </a:prstGeom>
          <a:noFill/>
          <a:ln/>
        </p:spPr>
        <p:txBody>
          <a:bodyPr wrap="square" lIns="0" tIns="0" rIns="0" bIns="0" rtlCol="0" anchor="ctr"/>
          <a:lstStyle/>
          <a:p>
            <a:pPr algn="ctr" indent="0" marL="0">
              <a:buNone/>
            </a:pPr>
            <a:r>
              <a:rPr lang="en-US" sz="2000" b="1" dirty="0">
                <a:solidFill>
                  <a:srgbClr val="1C5D99"/>
                </a:solidFill>
              </a:rPr>
              <a:t>↓</a:t>
            </a:r>
            <a:endParaRPr lang="en-US" sz="2000" dirty="0"/>
          </a:p>
        </p:txBody>
      </p:sp>
      <p:sp>
        <p:nvSpPr>
          <p:cNvPr id="11" name="Shape 8"/>
          <p:cNvSpPr/>
          <p:nvPr/>
        </p:nvSpPr>
        <p:spPr>
          <a:xfrm>
            <a:off x="3017520" y="2606040"/>
            <a:ext cx="4023360" cy="566928"/>
          </a:xfrm>
          <a:prstGeom prst="roundRect">
            <a:avLst>
              <a:gd name="adj" fmla="val 12903"/>
            </a:avLst>
          </a:prstGeom>
          <a:solidFill>
            <a:srgbClr val="12395B"/>
          </a:solidFill>
          <a:ln/>
          <a:effectLst>
            <a:outerShdw sx="100000" sy="100000" kx="0" ky="0" algn="bl" rotWithShape="0" blurRad="50800" dist="12700" dir="5400000">
              <a:srgbClr val="000000">
                <a:alpha val="13000"/>
              </a:srgbClr>
            </a:outerShdw>
          </a:effectLst>
        </p:spPr>
      </p:sp>
      <p:sp>
        <p:nvSpPr>
          <p:cNvPr id="12" name="Text 9"/>
          <p:cNvSpPr/>
          <p:nvPr/>
        </p:nvSpPr>
        <p:spPr>
          <a:xfrm>
            <a:off x="3154680" y="2624328"/>
            <a:ext cx="3749040" cy="31089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Hash Calculation</a:t>
            </a:r>
            <a:endParaRPr lang="en-US" sz="1500" dirty="0"/>
          </a:p>
        </p:txBody>
      </p:sp>
      <p:sp>
        <p:nvSpPr>
          <p:cNvPr id="13" name="Text 10"/>
          <p:cNvSpPr/>
          <p:nvPr/>
        </p:nvSpPr>
        <p:spPr>
          <a:xfrm>
            <a:off x="3154680" y="2898648"/>
            <a:ext cx="3749040" cy="237744"/>
          </a:xfrm>
          <a:prstGeom prst="rect">
            <a:avLst/>
          </a:prstGeom>
          <a:noFill/>
          <a:ln/>
        </p:spPr>
        <p:txBody>
          <a:bodyPr wrap="square"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hash("Ali") → big number</a:t>
            </a:r>
            <a:endParaRPr lang="en-US" sz="1050" dirty="0"/>
          </a:p>
        </p:txBody>
      </p:sp>
      <p:sp>
        <p:nvSpPr>
          <p:cNvPr id="14" name="Text 11"/>
          <p:cNvSpPr/>
          <p:nvPr/>
        </p:nvSpPr>
        <p:spPr>
          <a:xfrm>
            <a:off x="4800600" y="3127248"/>
            <a:ext cx="457200" cy="274320"/>
          </a:xfrm>
          <a:prstGeom prst="rect">
            <a:avLst/>
          </a:prstGeom>
          <a:noFill/>
          <a:ln/>
        </p:spPr>
        <p:txBody>
          <a:bodyPr wrap="square" lIns="0" tIns="0" rIns="0" bIns="0" rtlCol="0" anchor="ctr"/>
          <a:lstStyle/>
          <a:p>
            <a:pPr algn="ctr" indent="0" marL="0">
              <a:buNone/>
            </a:pPr>
            <a:r>
              <a:rPr lang="en-US" sz="2000" b="1" dirty="0">
                <a:solidFill>
                  <a:srgbClr val="1C5D99"/>
                </a:solidFill>
              </a:rPr>
              <a:t>↓</a:t>
            </a:r>
            <a:endParaRPr lang="en-US" sz="2000" dirty="0"/>
          </a:p>
        </p:txBody>
      </p:sp>
      <p:sp>
        <p:nvSpPr>
          <p:cNvPr id="15" name="Shape 12"/>
          <p:cNvSpPr/>
          <p:nvPr/>
        </p:nvSpPr>
        <p:spPr>
          <a:xfrm>
            <a:off x="3017520" y="3429000"/>
            <a:ext cx="4023360" cy="566928"/>
          </a:xfrm>
          <a:prstGeom prst="roundRect">
            <a:avLst>
              <a:gd name="adj" fmla="val 12903"/>
            </a:avLst>
          </a:prstGeom>
          <a:solidFill>
            <a:srgbClr val="12395B"/>
          </a:solidFill>
          <a:ln/>
          <a:effectLst>
            <a:outerShdw sx="100000" sy="100000" kx="0" ky="0" algn="bl" rotWithShape="0" blurRad="50800" dist="12700" dir="5400000">
              <a:srgbClr val="000000">
                <a:alpha val="13000"/>
              </a:srgbClr>
            </a:outerShdw>
          </a:effectLst>
        </p:spPr>
      </p:sp>
      <p:sp>
        <p:nvSpPr>
          <p:cNvPr id="16" name="Text 13"/>
          <p:cNvSpPr/>
          <p:nvPr/>
        </p:nvSpPr>
        <p:spPr>
          <a:xfrm>
            <a:off x="3154680" y="3447288"/>
            <a:ext cx="3749040" cy="31089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Bucket Calculation</a:t>
            </a:r>
            <a:endParaRPr lang="en-US" sz="1500" dirty="0"/>
          </a:p>
        </p:txBody>
      </p:sp>
      <p:sp>
        <p:nvSpPr>
          <p:cNvPr id="17" name="Text 14"/>
          <p:cNvSpPr/>
          <p:nvPr/>
        </p:nvSpPr>
        <p:spPr>
          <a:xfrm>
            <a:off x="3154680" y="3721608"/>
            <a:ext cx="3749040" cy="237744"/>
          </a:xfrm>
          <a:prstGeom prst="rect">
            <a:avLst/>
          </a:prstGeom>
          <a:noFill/>
          <a:ln/>
        </p:spPr>
        <p:txBody>
          <a:bodyPr wrap="square"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number shrunk to a slot index</a:t>
            </a:r>
            <a:endParaRPr lang="en-US" sz="1050" dirty="0"/>
          </a:p>
        </p:txBody>
      </p:sp>
      <p:sp>
        <p:nvSpPr>
          <p:cNvPr id="18" name="Text 15"/>
          <p:cNvSpPr/>
          <p:nvPr/>
        </p:nvSpPr>
        <p:spPr>
          <a:xfrm>
            <a:off x="4800600" y="3950208"/>
            <a:ext cx="457200" cy="274320"/>
          </a:xfrm>
          <a:prstGeom prst="rect">
            <a:avLst/>
          </a:prstGeom>
          <a:noFill/>
          <a:ln/>
        </p:spPr>
        <p:txBody>
          <a:bodyPr wrap="square" lIns="0" tIns="0" rIns="0" bIns="0" rtlCol="0" anchor="ctr"/>
          <a:lstStyle/>
          <a:p>
            <a:pPr algn="ctr" indent="0" marL="0">
              <a:buNone/>
            </a:pPr>
            <a:r>
              <a:rPr lang="en-US" sz="2000" b="1" dirty="0">
                <a:solidFill>
                  <a:srgbClr val="1C5D99"/>
                </a:solidFill>
              </a:rPr>
              <a:t>↓</a:t>
            </a:r>
            <a:endParaRPr lang="en-US" sz="2000" dirty="0"/>
          </a:p>
        </p:txBody>
      </p:sp>
      <p:sp>
        <p:nvSpPr>
          <p:cNvPr id="19" name="Shape 16"/>
          <p:cNvSpPr/>
          <p:nvPr/>
        </p:nvSpPr>
        <p:spPr>
          <a:xfrm>
            <a:off x="3017520" y="4251960"/>
            <a:ext cx="4023360" cy="566928"/>
          </a:xfrm>
          <a:prstGeom prst="roundRect">
            <a:avLst>
              <a:gd name="adj" fmla="val 12903"/>
            </a:avLst>
          </a:prstGeom>
          <a:solidFill>
            <a:srgbClr val="5B8FB9"/>
          </a:solidFill>
          <a:ln/>
          <a:effectLst>
            <a:outerShdw sx="100000" sy="100000" kx="0" ky="0" algn="bl" rotWithShape="0" blurRad="50800" dist="12700" dir="5400000">
              <a:srgbClr val="000000">
                <a:alpha val="13000"/>
              </a:srgbClr>
            </a:outerShdw>
          </a:effectLst>
        </p:spPr>
      </p:sp>
      <p:sp>
        <p:nvSpPr>
          <p:cNvPr id="20" name="Text 17"/>
          <p:cNvSpPr/>
          <p:nvPr/>
        </p:nvSpPr>
        <p:spPr>
          <a:xfrm>
            <a:off x="3154680" y="4270248"/>
            <a:ext cx="3749040" cy="31089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 to Bucket</a:t>
            </a:r>
            <a:endParaRPr lang="en-US" sz="1500" dirty="0"/>
          </a:p>
        </p:txBody>
      </p:sp>
      <p:sp>
        <p:nvSpPr>
          <p:cNvPr id="21" name="Text 18"/>
          <p:cNvSpPr/>
          <p:nvPr/>
        </p:nvSpPr>
        <p:spPr>
          <a:xfrm>
            <a:off x="3154680" y="4544568"/>
            <a:ext cx="3749040" cy="237744"/>
          </a:xfrm>
          <a:prstGeom prst="rect">
            <a:avLst/>
          </a:prstGeom>
          <a:noFill/>
          <a:ln/>
        </p:spPr>
        <p:txBody>
          <a:bodyPr wrap="square"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jump straight to that slot</a:t>
            </a:r>
            <a:endParaRPr lang="en-US" sz="1050" dirty="0"/>
          </a:p>
        </p:txBody>
      </p:sp>
      <p:sp>
        <p:nvSpPr>
          <p:cNvPr id="22" name="Text 19"/>
          <p:cNvSpPr/>
          <p:nvPr/>
        </p:nvSpPr>
        <p:spPr>
          <a:xfrm>
            <a:off x="4800600" y="4773168"/>
            <a:ext cx="457200" cy="274320"/>
          </a:xfrm>
          <a:prstGeom prst="rect">
            <a:avLst/>
          </a:prstGeom>
          <a:noFill/>
          <a:ln/>
        </p:spPr>
        <p:txBody>
          <a:bodyPr wrap="square" lIns="0" tIns="0" rIns="0" bIns="0" rtlCol="0" anchor="ctr"/>
          <a:lstStyle/>
          <a:p>
            <a:pPr algn="ctr" indent="0" marL="0">
              <a:buNone/>
            </a:pPr>
            <a:r>
              <a:rPr lang="en-US" sz="2000" b="1" dirty="0">
                <a:solidFill>
                  <a:srgbClr val="1C5D99"/>
                </a:solidFill>
              </a:rPr>
              <a:t>↓</a:t>
            </a:r>
            <a:endParaRPr lang="en-US" sz="2000" dirty="0"/>
          </a:p>
        </p:txBody>
      </p:sp>
      <p:sp>
        <p:nvSpPr>
          <p:cNvPr id="23" name="Shape 20"/>
          <p:cNvSpPr/>
          <p:nvPr/>
        </p:nvSpPr>
        <p:spPr>
          <a:xfrm>
            <a:off x="3017520" y="5074920"/>
            <a:ext cx="4023360" cy="566928"/>
          </a:xfrm>
          <a:prstGeom prst="roundRect">
            <a:avLst>
              <a:gd name="adj" fmla="val 12903"/>
            </a:avLst>
          </a:prstGeom>
          <a:solidFill>
            <a:srgbClr val="F2B138"/>
          </a:solidFill>
          <a:ln/>
          <a:effectLst>
            <a:outerShdw sx="100000" sy="100000" kx="0" ky="0" algn="bl" rotWithShape="0" blurRad="50800" dist="12700" dir="5400000">
              <a:srgbClr val="000000">
                <a:alpha val="13000"/>
              </a:srgbClr>
            </a:outerShdw>
          </a:effectLst>
        </p:spPr>
      </p:sp>
      <p:sp>
        <p:nvSpPr>
          <p:cNvPr id="24" name="Text 21"/>
          <p:cNvSpPr/>
          <p:nvPr/>
        </p:nvSpPr>
        <p:spPr>
          <a:xfrm>
            <a:off x="3154680" y="5093208"/>
            <a:ext cx="3749040" cy="310896"/>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Compare Key</a:t>
            </a:r>
            <a:endParaRPr lang="en-US" sz="1500" dirty="0"/>
          </a:p>
        </p:txBody>
      </p:sp>
      <p:sp>
        <p:nvSpPr>
          <p:cNvPr id="25" name="Text 22"/>
          <p:cNvSpPr/>
          <p:nvPr/>
        </p:nvSpPr>
        <p:spPr>
          <a:xfrm>
            <a:off x="3154680" y="5367528"/>
            <a:ext cx="3749040" cy="237744"/>
          </a:xfrm>
          <a:prstGeom prst="rect">
            <a:avLst/>
          </a:prstGeom>
          <a:noFill/>
          <a:ln/>
        </p:spPr>
        <p:txBody>
          <a:bodyPr wrap="square" rtlCol="0" anchor="ctr"/>
          <a:lstStyle/>
          <a:p>
            <a:pPr algn="ctr" indent="0" marL="0">
              <a:buNone/>
            </a:pPr>
            <a:r>
              <a:rPr lang="en-US" sz="1050" i="1" dirty="0">
                <a:solidFill>
                  <a:srgbClr val="16283B"/>
                </a:solidFill>
                <a:latin typeface="Calibri" pitchFamily="34" charset="0"/>
                <a:ea typeface="Calibri" pitchFamily="34" charset="-122"/>
                <a:cs typeface="Calibri" pitchFamily="34" charset="-120"/>
              </a:rPr>
              <a:t>is the stored key really "Ali"?</a:t>
            </a:r>
            <a:endParaRPr lang="en-US" sz="1050" dirty="0"/>
          </a:p>
        </p:txBody>
      </p:sp>
      <p:sp>
        <p:nvSpPr>
          <p:cNvPr id="26" name="Text 23"/>
          <p:cNvSpPr/>
          <p:nvPr/>
        </p:nvSpPr>
        <p:spPr>
          <a:xfrm>
            <a:off x="4800600" y="5596128"/>
            <a:ext cx="457200" cy="274320"/>
          </a:xfrm>
          <a:prstGeom prst="rect">
            <a:avLst/>
          </a:prstGeom>
          <a:noFill/>
          <a:ln/>
        </p:spPr>
        <p:txBody>
          <a:bodyPr wrap="square" lIns="0" tIns="0" rIns="0" bIns="0" rtlCol="0" anchor="ctr"/>
          <a:lstStyle/>
          <a:p>
            <a:pPr algn="ctr" indent="0" marL="0">
              <a:buNone/>
            </a:pPr>
            <a:r>
              <a:rPr lang="en-US" sz="2000" b="1" dirty="0">
                <a:solidFill>
                  <a:srgbClr val="1C5D99"/>
                </a:solidFill>
              </a:rPr>
              <a:t>↓</a:t>
            </a:r>
            <a:endParaRPr lang="en-US" sz="2000" dirty="0"/>
          </a:p>
        </p:txBody>
      </p:sp>
      <p:sp>
        <p:nvSpPr>
          <p:cNvPr id="27" name="Shape 24"/>
          <p:cNvSpPr/>
          <p:nvPr/>
        </p:nvSpPr>
        <p:spPr>
          <a:xfrm>
            <a:off x="3017520" y="5897880"/>
            <a:ext cx="4023360" cy="566928"/>
          </a:xfrm>
          <a:prstGeom prst="roundRect">
            <a:avLst>
              <a:gd name="adj" fmla="val 12903"/>
            </a:avLst>
          </a:prstGeom>
          <a:solidFill>
            <a:srgbClr val="2E9E6B"/>
          </a:solidFill>
          <a:ln/>
          <a:effectLst>
            <a:outerShdw sx="100000" sy="100000" kx="0" ky="0" algn="bl" rotWithShape="0" blurRad="50800" dist="12700" dir="5400000">
              <a:srgbClr val="000000">
                <a:alpha val="13000"/>
              </a:srgbClr>
            </a:outerShdw>
          </a:effectLst>
        </p:spPr>
      </p:sp>
      <p:sp>
        <p:nvSpPr>
          <p:cNvPr id="28" name="Text 25"/>
          <p:cNvSpPr/>
          <p:nvPr/>
        </p:nvSpPr>
        <p:spPr>
          <a:xfrm>
            <a:off x="3154680" y="5916168"/>
            <a:ext cx="3749040" cy="31089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Return Value</a:t>
            </a:r>
            <a:endParaRPr lang="en-US" sz="1500" dirty="0"/>
          </a:p>
        </p:txBody>
      </p:sp>
      <p:sp>
        <p:nvSpPr>
          <p:cNvPr id="29" name="Text 26"/>
          <p:cNvSpPr/>
          <p:nvPr/>
        </p:nvSpPr>
        <p:spPr>
          <a:xfrm>
            <a:off x="3154680" y="6190488"/>
            <a:ext cx="3749040" cy="237744"/>
          </a:xfrm>
          <a:prstGeom prst="rect">
            <a:avLst/>
          </a:prstGeom>
          <a:noFill/>
          <a:ln/>
        </p:spPr>
        <p:txBody>
          <a:bodyPr wrap="square" rtlCol="0" anchor="ctr"/>
          <a:lstStyle/>
          <a:p>
            <a:pPr algn="ctr" indent="0" marL="0">
              <a:buNone/>
            </a:pPr>
            <a:r>
              <a:rPr lang="en-US" sz="1050" i="1" dirty="0">
                <a:solidFill>
                  <a:srgbClr val="FFFFFF"/>
                </a:solidFill>
                <a:latin typeface="Calibri" pitchFamily="34" charset="0"/>
                <a:ea typeface="Calibri" pitchFamily="34" charset="-122"/>
                <a:cs typeface="Calibri" pitchFamily="34" charset="-120"/>
              </a:rPr>
              <a:t>yes → give back 90</a:t>
            </a:r>
            <a:endParaRPr lang="en-US" sz="1050" dirty="0"/>
          </a:p>
        </p:txBody>
      </p:sp>
      <p:sp>
        <p:nvSpPr>
          <p:cNvPr id="30" name="Shape 27"/>
          <p:cNvSpPr/>
          <p:nvPr/>
        </p:nvSpPr>
        <p:spPr>
          <a:xfrm>
            <a:off x="7589520" y="2148840"/>
            <a:ext cx="4050792" cy="3108960"/>
          </a:xfrm>
          <a:prstGeom prst="roundRect">
            <a:avLst>
              <a:gd name="adj" fmla="val 2647"/>
            </a:avLst>
          </a:prstGeom>
          <a:solidFill>
            <a:srgbClr val="E8F1F9"/>
          </a:solidFill>
          <a:ln/>
          <a:effectLst>
            <a:outerShdw sx="100000" sy="100000" kx="0" ky="0" algn="bl" rotWithShape="0" blurRad="76200" dist="25400" dir="5400000">
              <a:srgbClr val="000000">
                <a:alpha val="12000"/>
              </a:srgbClr>
            </a:outerShdw>
          </a:effectLst>
        </p:spPr>
      </p:sp>
      <p:pic>
        <p:nvPicPr>
          <p:cNvPr id="31" name="Image 1" descr="preencoded.png">    </p:cNvPr>
          <p:cNvPicPr>
            <a:picLocks noChangeAspect="1"/>
          </p:cNvPicPr>
          <p:nvPr/>
        </p:nvPicPr>
        <p:blipFill>
          <a:blip r:embed="rId2"/>
          <a:stretch>
            <a:fillRect/>
          </a:stretch>
        </p:blipFill>
        <p:spPr>
          <a:xfrm>
            <a:off x="7818120" y="2331720"/>
            <a:ext cx="365760" cy="365760"/>
          </a:xfrm>
          <a:prstGeom prst="rect">
            <a:avLst/>
          </a:prstGeom>
        </p:spPr>
      </p:pic>
      <p:sp>
        <p:nvSpPr>
          <p:cNvPr id="32" name="Text 28"/>
          <p:cNvSpPr/>
          <p:nvPr/>
        </p:nvSpPr>
        <p:spPr>
          <a:xfrm>
            <a:off x="8275320" y="2331720"/>
            <a:ext cx="320040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Key insight</a:t>
            </a:r>
            <a:endParaRPr lang="en-US" sz="1400" dirty="0"/>
          </a:p>
        </p:txBody>
      </p:sp>
      <p:sp>
        <p:nvSpPr>
          <p:cNvPr id="33" name="Text 29"/>
          <p:cNvSpPr/>
          <p:nvPr/>
        </p:nvSpPr>
        <p:spPr>
          <a:xfrm>
            <a:off x="7818120" y="2834640"/>
            <a:ext cx="3611880" cy="2286000"/>
          </a:xfrm>
          <a:prstGeom prst="rect">
            <a:avLst/>
          </a:prstGeom>
          <a:noFill/>
          <a:ln/>
        </p:spPr>
        <p:txBody>
          <a:bodyPr wrap="square" rtlCol="0" anchor="t"/>
          <a:lstStyle/>
          <a:p>
            <a:pPr indent="0" marL="0">
              <a:lnSpc>
                <a:spcPct val="115000"/>
              </a:lnSpc>
              <a:buNone/>
            </a:pPr>
            <a:r>
              <a:rPr lang="en-US" sz="1400" dirty="0">
                <a:solidFill>
                  <a:srgbClr val="16283B"/>
                </a:solidFill>
                <a:latin typeface="Calibri" pitchFamily="34" charset="0"/>
                <a:ea typeface="Calibri" pitchFamily="34" charset="-122"/>
                <a:cs typeface="Calibri" pitchFamily="34" charset="-120"/>
              </a:rPr>
              <a:t>The hash finds the bucket, but Python still </a:t>
            </a:r>
            <a:pPr indent="0" marL="0">
              <a:lnSpc>
                <a:spcPct val="115000"/>
              </a:lnSpc>
              <a:buNone/>
            </a:pPr>
            <a:r>
              <a:rPr lang="en-US" sz="1400" b="1" dirty="0">
                <a:solidFill>
                  <a:srgbClr val="1C5D99"/>
                </a:solidFill>
                <a:latin typeface="Calibri" pitchFamily="34" charset="0"/>
                <a:ea typeface="Calibri" pitchFamily="34" charset="-122"/>
                <a:cs typeface="Calibri" pitchFamily="34" charset="-120"/>
              </a:rPr>
              <a:t>verifies the key</a:t>
            </a:r>
            <a:pPr indent="0" marL="0">
              <a:lnSpc>
                <a:spcPct val="115000"/>
              </a:lnSpc>
              <a:buNone/>
            </a:pPr>
            <a:r>
              <a:rPr lang="en-US" sz="1400" dirty="0">
                <a:solidFill>
                  <a:srgbClr val="16283B"/>
                </a:solidFill>
                <a:latin typeface="Calibri" pitchFamily="34" charset="0"/>
                <a:ea typeface="Calibri" pitchFamily="34" charset="-122"/>
                <a:cs typeface="Calibri" pitchFamily="34" charset="-120"/>
              </a:rPr>
              <a:t> before trusting it. Two different keys can share a bucket — so the compare step is essential, never skipped.</a:t>
            </a:r>
            <a:endParaRPr lang="en-US" sz="1400" dirty="0"/>
          </a:p>
        </p:txBody>
      </p:sp>
      <p:sp>
        <p:nvSpPr>
          <p:cNvPr id="34" name="Text 30"/>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35" name="Text 3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7 · HASH COLLISION</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What Is a Hash Collision?</a:t>
            </a:r>
            <a:endParaRPr lang="en-US" sz="2600" dirty="0"/>
          </a:p>
        </p:txBody>
      </p:sp>
      <p:sp>
        <p:nvSpPr>
          <p:cNvPr id="6" name="Text 3"/>
          <p:cNvSpPr/>
          <p:nvPr/>
        </p:nvSpPr>
        <p:spPr>
          <a:xfrm>
            <a:off x="548640" y="1325880"/>
            <a:ext cx="11064240" cy="45720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A collision happens when two different keys are sent to the same bucket. It's normal, expected, and Python handles it.</a:t>
            </a:r>
            <a:endParaRPr lang="en-US" sz="1500" dirty="0"/>
          </a:p>
        </p:txBody>
      </p:sp>
      <p:sp>
        <p:nvSpPr>
          <p:cNvPr id="7" name="Shape 4"/>
          <p:cNvSpPr/>
          <p:nvPr/>
        </p:nvSpPr>
        <p:spPr>
          <a:xfrm>
            <a:off x="548640" y="1920240"/>
            <a:ext cx="7498080" cy="3931920"/>
          </a:xfrm>
          <a:prstGeom prst="roundRect">
            <a:avLst>
              <a:gd name="adj" fmla="val 2093"/>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914400" y="2377440"/>
            <a:ext cx="1554480" cy="640080"/>
          </a:xfrm>
          <a:prstGeom prst="roundRect">
            <a:avLst>
              <a:gd name="adj" fmla="val 10000"/>
            </a:avLst>
          </a:prstGeom>
          <a:solidFill>
            <a:srgbClr val="E8F1F9"/>
          </a:solidFill>
          <a:ln/>
          <a:effectLst>
            <a:outerShdw sx="100000" sy="100000" kx="0" ky="0" algn="bl" rotWithShape="0" blurRad="63500" dist="25400" dir="5400000">
              <a:srgbClr val="000000">
                <a:alpha val="14000"/>
              </a:srgbClr>
            </a:outerShdw>
          </a:effectLst>
        </p:spPr>
      </p:sp>
      <p:sp>
        <p:nvSpPr>
          <p:cNvPr id="9" name="Text 6"/>
          <p:cNvSpPr/>
          <p:nvPr/>
        </p:nvSpPr>
        <p:spPr>
          <a:xfrm>
            <a:off x="960120" y="2377440"/>
            <a:ext cx="1463040" cy="64008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"Ali"</a:t>
            </a:r>
            <a:endParaRPr lang="en-US" sz="1500" dirty="0"/>
          </a:p>
        </p:txBody>
      </p:sp>
      <p:sp>
        <p:nvSpPr>
          <p:cNvPr id="10" name="Text 7"/>
          <p:cNvSpPr/>
          <p:nvPr/>
        </p:nvSpPr>
        <p:spPr>
          <a:xfrm>
            <a:off x="2514600" y="2487168"/>
            <a:ext cx="457200" cy="457200"/>
          </a:xfrm>
          <a:prstGeom prst="rect">
            <a:avLst/>
          </a:prstGeom>
          <a:noFill/>
          <a:ln/>
        </p:spPr>
        <p:txBody>
          <a:bodyPr wrap="square" lIns="0" tIns="0" rIns="0" bIns="0" rtlCol="0" anchor="ctr"/>
          <a:lstStyle/>
          <a:p>
            <a:pPr algn="ctr" indent="0" marL="0">
              <a:buNone/>
            </a:pPr>
            <a:r>
              <a:rPr lang="en-US" sz="2600" b="1" dirty="0">
                <a:solidFill>
                  <a:srgbClr val="1C5D99"/>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3063240" y="2377440"/>
            <a:ext cx="1828800" cy="640080"/>
          </a:xfrm>
          <a:prstGeom prst="roundRect">
            <a:avLst>
              <a:gd name="adj" fmla="val 10000"/>
            </a:avLst>
          </a:prstGeom>
          <a:solidFill>
            <a:srgbClr val="1C5D99"/>
          </a:solidFill>
          <a:ln/>
          <a:effectLst>
            <a:outerShdw sx="100000" sy="100000" kx="0" ky="0" algn="bl" rotWithShape="0" blurRad="63500" dist="25400" dir="5400000">
              <a:srgbClr val="000000">
                <a:alpha val="14000"/>
              </a:srgbClr>
            </a:outerShdw>
          </a:effectLst>
        </p:spPr>
      </p:sp>
      <p:sp>
        <p:nvSpPr>
          <p:cNvPr id="12" name="Text 9"/>
          <p:cNvSpPr/>
          <p:nvPr/>
        </p:nvSpPr>
        <p:spPr>
          <a:xfrm>
            <a:off x="3108960" y="2377440"/>
            <a:ext cx="173736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 → 5</a:t>
            </a:r>
            <a:endParaRPr lang="en-US" sz="1400" dirty="0"/>
          </a:p>
        </p:txBody>
      </p:sp>
      <p:sp>
        <p:nvSpPr>
          <p:cNvPr id="13" name="Text 10"/>
          <p:cNvSpPr/>
          <p:nvPr/>
        </p:nvSpPr>
        <p:spPr>
          <a:xfrm>
            <a:off x="4937760" y="2487168"/>
            <a:ext cx="457200"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14" name="Shape 11"/>
          <p:cNvSpPr/>
          <p:nvPr/>
        </p:nvSpPr>
        <p:spPr>
          <a:xfrm>
            <a:off x="914400" y="3931920"/>
            <a:ext cx="1554480" cy="640080"/>
          </a:xfrm>
          <a:prstGeom prst="roundRect">
            <a:avLst>
              <a:gd name="adj" fmla="val 10000"/>
            </a:avLst>
          </a:prstGeom>
          <a:solidFill>
            <a:srgbClr val="E8F1F9"/>
          </a:solidFill>
          <a:ln/>
          <a:effectLst>
            <a:outerShdw sx="100000" sy="100000" kx="0" ky="0" algn="bl" rotWithShape="0" blurRad="63500" dist="25400" dir="5400000">
              <a:srgbClr val="000000">
                <a:alpha val="14000"/>
              </a:srgbClr>
            </a:outerShdw>
          </a:effectLst>
        </p:spPr>
      </p:sp>
      <p:sp>
        <p:nvSpPr>
          <p:cNvPr id="15" name="Text 12"/>
          <p:cNvSpPr/>
          <p:nvPr/>
        </p:nvSpPr>
        <p:spPr>
          <a:xfrm>
            <a:off x="960120" y="3931920"/>
            <a:ext cx="1463040" cy="64008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"Sara"</a:t>
            </a:r>
            <a:endParaRPr lang="en-US" sz="1500" dirty="0"/>
          </a:p>
        </p:txBody>
      </p:sp>
      <p:sp>
        <p:nvSpPr>
          <p:cNvPr id="16" name="Text 13"/>
          <p:cNvSpPr/>
          <p:nvPr/>
        </p:nvSpPr>
        <p:spPr>
          <a:xfrm>
            <a:off x="2514600" y="4041648"/>
            <a:ext cx="457200" cy="457200"/>
          </a:xfrm>
          <a:prstGeom prst="rect">
            <a:avLst/>
          </a:prstGeom>
          <a:noFill/>
          <a:ln/>
        </p:spPr>
        <p:txBody>
          <a:bodyPr wrap="square" lIns="0" tIns="0" rIns="0" bIns="0" rtlCol="0" anchor="ctr"/>
          <a:lstStyle/>
          <a:p>
            <a:pPr algn="ctr" indent="0" marL="0">
              <a:buNone/>
            </a:pPr>
            <a:r>
              <a:rPr lang="en-US" sz="2600" b="1" dirty="0">
                <a:solidFill>
                  <a:srgbClr val="1C5D99"/>
                </a:solidFill>
                <a:latin typeface="Calibri" pitchFamily="34" charset="0"/>
                <a:ea typeface="Calibri" pitchFamily="34" charset="-122"/>
                <a:cs typeface="Calibri" pitchFamily="34" charset="-120"/>
              </a:rPr>
              <a:t>→</a:t>
            </a:r>
            <a:endParaRPr lang="en-US" sz="2600" dirty="0"/>
          </a:p>
        </p:txBody>
      </p:sp>
      <p:sp>
        <p:nvSpPr>
          <p:cNvPr id="17" name="Shape 14"/>
          <p:cNvSpPr/>
          <p:nvPr/>
        </p:nvSpPr>
        <p:spPr>
          <a:xfrm>
            <a:off x="3063240" y="3931920"/>
            <a:ext cx="1828800" cy="640080"/>
          </a:xfrm>
          <a:prstGeom prst="roundRect">
            <a:avLst>
              <a:gd name="adj" fmla="val 10000"/>
            </a:avLst>
          </a:prstGeom>
          <a:solidFill>
            <a:srgbClr val="1C5D99"/>
          </a:solidFill>
          <a:ln/>
          <a:effectLst>
            <a:outerShdw sx="100000" sy="100000" kx="0" ky="0" algn="bl" rotWithShape="0" blurRad="63500" dist="25400" dir="5400000">
              <a:srgbClr val="000000">
                <a:alpha val="14000"/>
              </a:srgbClr>
            </a:outerShdw>
          </a:effectLst>
        </p:spPr>
      </p:sp>
      <p:sp>
        <p:nvSpPr>
          <p:cNvPr id="18" name="Text 15"/>
          <p:cNvSpPr/>
          <p:nvPr/>
        </p:nvSpPr>
        <p:spPr>
          <a:xfrm>
            <a:off x="3108960" y="3931920"/>
            <a:ext cx="173736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 → 5</a:t>
            </a:r>
            <a:endParaRPr lang="en-US" sz="1400" dirty="0"/>
          </a:p>
        </p:txBody>
      </p:sp>
      <p:sp>
        <p:nvSpPr>
          <p:cNvPr id="19" name="Text 16"/>
          <p:cNvSpPr/>
          <p:nvPr/>
        </p:nvSpPr>
        <p:spPr>
          <a:xfrm>
            <a:off x="4937760" y="4041648"/>
            <a:ext cx="457200" cy="457200"/>
          </a:xfrm>
          <a:prstGeom prst="rect">
            <a:avLst/>
          </a:prstGeom>
          <a:noFill/>
          <a:ln/>
        </p:spPr>
        <p:txBody>
          <a:bodyPr wrap="square" lIns="0" tIns="0" rIns="0" bIns="0" rtlCol="0" anchor="ctr"/>
          <a:lstStyle/>
          <a:p>
            <a:pPr algn="ctr" indent="0" marL="0">
              <a:buNone/>
            </a:pPr>
            <a:r>
              <a:rPr lang="en-US" sz="2600" b="1" dirty="0">
                <a:solidFill>
                  <a:srgbClr val="E1674C"/>
                </a:solidFill>
                <a:latin typeface="Calibri" pitchFamily="34" charset="0"/>
                <a:ea typeface="Calibri" pitchFamily="34" charset="-122"/>
                <a:cs typeface="Calibri" pitchFamily="34" charset="-120"/>
              </a:rPr>
              <a:t>→</a:t>
            </a:r>
            <a:endParaRPr lang="en-US" sz="2600" dirty="0"/>
          </a:p>
        </p:txBody>
      </p:sp>
      <p:sp>
        <p:nvSpPr>
          <p:cNvPr id="20" name="Shape 17"/>
          <p:cNvSpPr/>
          <p:nvPr/>
        </p:nvSpPr>
        <p:spPr>
          <a:xfrm>
            <a:off x="5577840" y="2651760"/>
            <a:ext cx="2194560" cy="1737360"/>
          </a:xfrm>
          <a:prstGeom prst="roundRect">
            <a:avLst>
              <a:gd name="adj" fmla="val 5263"/>
            </a:avLst>
          </a:prstGeom>
          <a:solidFill>
            <a:srgbClr val="FBEDE9"/>
          </a:solidFill>
          <a:ln w="25400">
            <a:solidFill>
              <a:srgbClr val="E1674C"/>
            </a:solidFill>
            <a:prstDash val="solid"/>
          </a:ln>
          <a:effectLst>
            <a:outerShdw sx="100000" sy="100000" kx="0" ky="0" algn="bl" rotWithShape="0" blurRad="63500" dist="25400" dir="5400000">
              <a:srgbClr val="000000">
                <a:alpha val="14000"/>
              </a:srgbClr>
            </a:outerShdw>
          </a:effectLst>
        </p:spPr>
      </p:sp>
      <p:sp>
        <p:nvSpPr>
          <p:cNvPr id="21" name="Text 18"/>
          <p:cNvSpPr/>
          <p:nvPr/>
        </p:nvSpPr>
        <p:spPr>
          <a:xfrm>
            <a:off x="5577840" y="2743200"/>
            <a:ext cx="2194560" cy="365760"/>
          </a:xfrm>
          <a:prstGeom prst="rect">
            <a:avLst/>
          </a:prstGeom>
          <a:noFill/>
          <a:ln/>
        </p:spPr>
        <p:txBody>
          <a:bodyPr wrap="square" rtlCol="0" anchor="ctr"/>
          <a:lstStyle/>
          <a:p>
            <a:pPr algn="ctr" indent="0" marL="0">
              <a:buNone/>
            </a:pPr>
            <a:r>
              <a:rPr lang="en-US" sz="1500" b="1" dirty="0">
                <a:solidFill>
                  <a:srgbClr val="E1674C"/>
                </a:solidFill>
                <a:latin typeface="Calibri" pitchFamily="34" charset="0"/>
                <a:ea typeface="Calibri" pitchFamily="34" charset="-122"/>
                <a:cs typeface="Calibri" pitchFamily="34" charset="-120"/>
              </a:rPr>
              <a:t>Bucket 5</a:t>
            </a:r>
            <a:endParaRPr lang="en-US" sz="1500" dirty="0"/>
          </a:p>
        </p:txBody>
      </p:sp>
      <p:sp>
        <p:nvSpPr>
          <p:cNvPr id="22" name="Text 19"/>
          <p:cNvSpPr/>
          <p:nvPr/>
        </p:nvSpPr>
        <p:spPr>
          <a:xfrm>
            <a:off x="5577840" y="3090672"/>
            <a:ext cx="2194560" cy="274320"/>
          </a:xfrm>
          <a:prstGeom prst="rect">
            <a:avLst/>
          </a:prstGeom>
          <a:noFill/>
          <a:ln/>
        </p:spPr>
        <p:txBody>
          <a:bodyPr wrap="square" rtlCol="0" anchor="ctr"/>
          <a:lstStyle/>
          <a:p>
            <a:pPr algn="ctr" indent="0" marL="0">
              <a:buNone/>
            </a:pPr>
            <a:r>
              <a:rPr lang="en-US" sz="1100" i="1" dirty="0">
                <a:solidFill>
                  <a:srgbClr val="5C7488"/>
                </a:solidFill>
                <a:latin typeface="Calibri" pitchFamily="34" charset="0"/>
                <a:ea typeface="Calibri" pitchFamily="34" charset="-122"/>
                <a:cs typeface="Calibri" pitchFamily="34" charset="-120"/>
              </a:rPr>
              <a:t>both land here!</a:t>
            </a:r>
            <a:endParaRPr lang="en-US" sz="1100" dirty="0"/>
          </a:p>
        </p:txBody>
      </p:sp>
      <p:sp>
        <p:nvSpPr>
          <p:cNvPr id="23" name="Text 20"/>
          <p:cNvSpPr/>
          <p:nvPr/>
        </p:nvSpPr>
        <p:spPr>
          <a:xfrm>
            <a:off x="5806440" y="3429000"/>
            <a:ext cx="1737360" cy="384048"/>
          </a:xfrm>
          <a:prstGeom prst="rect">
            <a:avLst/>
          </a:prstGeom>
          <a:solidFill>
            <a:srgbClr val="FFFFFF"/>
          </a:solidFill>
          <a:ln/>
        </p:spPr>
        <p:txBody>
          <a:bodyPr wrap="square" lIns="25400" tIns="25400" rIns="25400" bIns="25400" rtlCol="0" anchor="ctr"/>
          <a:lstStyle/>
          <a:p>
            <a:pPr algn="ctr" indent="0" marL="0">
              <a:buNone/>
            </a:pPr>
            <a:r>
              <a:rPr lang="en-US" sz="1200" b="1" dirty="0">
                <a:solidFill>
                  <a:srgbClr val="16283B"/>
                </a:solidFill>
                <a:latin typeface="Calibri" pitchFamily="34" charset="0"/>
                <a:ea typeface="Calibri" pitchFamily="34" charset="-122"/>
                <a:cs typeface="Calibri" pitchFamily="34" charset="-120"/>
              </a:rPr>
              <a:t>"Ali" → 90</a:t>
            </a:r>
            <a:endParaRPr lang="en-US" sz="1200" dirty="0"/>
          </a:p>
        </p:txBody>
      </p:sp>
      <p:sp>
        <p:nvSpPr>
          <p:cNvPr id="24" name="Text 21"/>
          <p:cNvSpPr/>
          <p:nvPr/>
        </p:nvSpPr>
        <p:spPr>
          <a:xfrm>
            <a:off x="5806440" y="3886200"/>
            <a:ext cx="1737360" cy="384048"/>
          </a:xfrm>
          <a:prstGeom prst="rect">
            <a:avLst/>
          </a:prstGeom>
          <a:solidFill>
            <a:srgbClr val="FFFFFF"/>
          </a:solidFill>
          <a:ln/>
        </p:spPr>
        <p:txBody>
          <a:bodyPr wrap="square" lIns="25400" tIns="25400" rIns="25400" bIns="25400" rtlCol="0" anchor="ctr"/>
          <a:lstStyle/>
          <a:p>
            <a:pPr algn="ctr" indent="0" marL="0">
              <a:buNone/>
            </a:pPr>
            <a:r>
              <a:rPr lang="en-US" sz="1200" b="1" dirty="0">
                <a:solidFill>
                  <a:srgbClr val="16283B"/>
                </a:solidFill>
                <a:latin typeface="Calibri" pitchFamily="34" charset="0"/>
                <a:ea typeface="Calibri" pitchFamily="34" charset="-122"/>
                <a:cs typeface="Calibri" pitchFamily="34" charset="-120"/>
              </a:rPr>
              <a:t>"Sara" → 85</a:t>
            </a:r>
            <a:endParaRPr lang="en-US" sz="1200" dirty="0"/>
          </a:p>
        </p:txBody>
      </p:sp>
      <p:sp>
        <p:nvSpPr>
          <p:cNvPr id="25" name="Shape 22"/>
          <p:cNvSpPr/>
          <p:nvPr/>
        </p:nvSpPr>
        <p:spPr>
          <a:xfrm>
            <a:off x="8229600" y="1920240"/>
            <a:ext cx="3410712" cy="3931920"/>
          </a:xfrm>
          <a:prstGeom prst="roundRect">
            <a:avLst>
              <a:gd name="adj" fmla="val 2413"/>
            </a:avLst>
          </a:prstGeom>
          <a:solidFill>
            <a:srgbClr val="E8F1F9"/>
          </a:solidFill>
          <a:ln/>
          <a:effectLst>
            <a:outerShdw sx="100000" sy="100000" kx="0" ky="0" algn="bl" rotWithShape="0" blurRad="76200" dist="25400" dir="5400000">
              <a:srgbClr val="000000">
                <a:alpha val="12000"/>
              </a:srgbClr>
            </a:outerShdw>
          </a:effectLst>
        </p:spPr>
      </p:sp>
      <p:sp>
        <p:nvSpPr>
          <p:cNvPr id="26" name="Text 23"/>
          <p:cNvSpPr/>
          <p:nvPr/>
        </p:nvSpPr>
        <p:spPr>
          <a:xfrm>
            <a:off x="8458200" y="2103120"/>
            <a:ext cx="301752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Why it happens</a:t>
            </a:r>
            <a:endParaRPr lang="en-US" sz="1400" dirty="0"/>
          </a:p>
        </p:txBody>
      </p:sp>
      <p:sp>
        <p:nvSpPr>
          <p:cNvPr id="27" name="Text 24"/>
          <p:cNvSpPr/>
          <p:nvPr/>
        </p:nvSpPr>
        <p:spPr>
          <a:xfrm>
            <a:off x="8549640" y="2468880"/>
            <a:ext cx="2926080" cy="3200400"/>
          </a:xfrm>
          <a:prstGeom prst="rect">
            <a:avLst/>
          </a:prstGeom>
          <a:noFill/>
          <a:ln/>
        </p:spPr>
        <p:txBody>
          <a:bodyPr wrap="square" rtlCol="0" anchor="t"/>
          <a:lstStyle/>
          <a:p>
            <a:pPr marL="342900" indent="-342900">
              <a:spcAft>
                <a:spcPts val="900"/>
              </a:spcAft>
              <a:buSzPct val="100000"/>
              <a:buChar char="•"/>
            </a:pPr>
            <a:r>
              <a:rPr lang="en-US" sz="1250" dirty="0">
                <a:solidFill>
                  <a:srgbClr val="16283B"/>
                </a:solidFill>
                <a:latin typeface="Calibri" pitchFamily="34" charset="0"/>
                <a:ea typeface="Calibri" pitchFamily="34" charset="-122"/>
                <a:cs typeface="Calibri" pitchFamily="34" charset="-120"/>
              </a:rPr>
              <a:t>There are limited buckets but unlimited possible keys.</a:t>
            </a:r>
            <a:endParaRPr lang="en-US" sz="1250" dirty="0"/>
          </a:p>
          <a:p>
            <a:pPr marL="342900" indent="-342900">
              <a:spcAft>
                <a:spcPts val="900"/>
              </a:spcAft>
              <a:buSzPct val="100000"/>
              <a:buChar char="•"/>
            </a:pPr>
            <a:r>
              <a:rPr lang="en-US" sz="1250" dirty="0">
                <a:solidFill>
                  <a:srgbClr val="16283B"/>
                </a:solidFill>
                <a:latin typeface="Calibri" pitchFamily="34" charset="0"/>
                <a:ea typeface="Calibri" pitchFamily="34" charset="-122"/>
                <a:cs typeface="Calibri" pitchFamily="34" charset="-120"/>
              </a:rPr>
              <a:t>Big hash numbers get shrunk to fit — so different keys can map to the same slot.</a:t>
            </a:r>
            <a:endParaRPr lang="en-US" sz="1250" dirty="0"/>
          </a:p>
          <a:p>
            <a:pPr marL="342900" indent="-342900">
              <a:buSzPct val="100000"/>
              <a:buChar char="•"/>
            </a:pPr>
            <a:r>
              <a:rPr lang="en-US" sz="1250" b="1" dirty="0">
                <a:solidFill>
                  <a:srgbClr val="0A2540"/>
                </a:solidFill>
                <a:latin typeface="Calibri" pitchFamily="34" charset="0"/>
                <a:ea typeface="Calibri" pitchFamily="34" charset="-122"/>
                <a:cs typeface="Calibri" pitchFamily="34" charset="-120"/>
              </a:rPr>
              <a:t>Collisions are unavoidable, so every real hash table must plan for them.</a:t>
            </a:r>
            <a:endParaRPr lang="en-US" sz="1250" dirty="0"/>
          </a:p>
        </p:txBody>
      </p:sp>
      <p:sp>
        <p:nvSpPr>
          <p:cNvPr id="28" name="Text 25"/>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9" name="Text 26"/>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7 · HASH COLLISION</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How Python Resolves Collisions</a:t>
            </a:r>
            <a:endParaRPr lang="en-US" sz="2600" dirty="0"/>
          </a:p>
        </p:txBody>
      </p:sp>
      <p:sp>
        <p:nvSpPr>
          <p:cNvPr id="6" name="Text 3"/>
          <p:cNvSpPr/>
          <p:nvPr/>
        </p:nvSpPr>
        <p:spPr>
          <a:xfrm>
            <a:off x="548640" y="1325880"/>
            <a:ext cx="11064240" cy="45720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Reaching the right bucket is only half the job. Python then compares the actual key to make sure it has the correct item.</a:t>
            </a:r>
            <a:endParaRPr lang="en-US" sz="1500" dirty="0"/>
          </a:p>
        </p:txBody>
      </p:sp>
      <p:sp>
        <p:nvSpPr>
          <p:cNvPr id="7" name="Shape 4"/>
          <p:cNvSpPr/>
          <p:nvPr/>
        </p:nvSpPr>
        <p:spPr>
          <a:xfrm>
            <a:off x="548640" y="1920240"/>
            <a:ext cx="11091672" cy="2286000"/>
          </a:xfrm>
          <a:prstGeom prst="roundRect">
            <a:avLst>
              <a:gd name="adj" fmla="val 3600"/>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868680" y="2651760"/>
            <a:ext cx="2011680" cy="914400"/>
          </a:xfrm>
          <a:prstGeom prst="roundRect">
            <a:avLst>
              <a:gd name="adj" fmla="val 7000"/>
            </a:avLst>
          </a:prstGeom>
          <a:solidFill>
            <a:srgbClr val="1C5D99"/>
          </a:solidFill>
          <a:ln/>
          <a:effectLst>
            <a:outerShdw sx="100000" sy="100000" kx="0" ky="0" algn="bl" rotWithShape="0" blurRad="63500" dist="25400" dir="5400000">
              <a:srgbClr val="000000">
                <a:alpha val="14000"/>
              </a:srgbClr>
            </a:outerShdw>
          </a:effectLst>
        </p:spPr>
      </p:sp>
      <p:sp>
        <p:nvSpPr>
          <p:cNvPr id="9" name="Text 6"/>
          <p:cNvSpPr/>
          <p:nvPr/>
        </p:nvSpPr>
        <p:spPr>
          <a:xfrm>
            <a:off x="914400" y="2651760"/>
            <a:ext cx="19202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Ask for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student["Sara"]</a:t>
            </a:r>
            <a:endParaRPr lang="en-US" sz="1300" dirty="0"/>
          </a:p>
        </p:txBody>
      </p:sp>
      <p:sp>
        <p:nvSpPr>
          <p:cNvPr id="10" name="Text 7"/>
          <p:cNvSpPr/>
          <p:nvPr/>
        </p:nvSpPr>
        <p:spPr>
          <a:xfrm>
            <a:off x="2926080" y="2880360"/>
            <a:ext cx="457200" cy="457200"/>
          </a:xfrm>
          <a:prstGeom prst="rect">
            <a:avLst/>
          </a:prstGeom>
          <a:noFill/>
          <a:ln/>
        </p:spPr>
        <p:txBody>
          <a:bodyPr wrap="square" lIns="0" tIns="0" rIns="0" bIns="0" rtlCol="0" anchor="ctr"/>
          <a:lstStyle/>
          <a:p>
            <a:pPr algn="ctr" indent="0" marL="0">
              <a:buNone/>
            </a:pPr>
            <a:r>
              <a:rPr lang="en-US" sz="2600" b="1" dirty="0">
                <a:solidFill>
                  <a:srgbClr val="5C7488"/>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3474720" y="2651760"/>
            <a:ext cx="2011680" cy="914400"/>
          </a:xfrm>
          <a:prstGeom prst="roundRect">
            <a:avLst>
              <a:gd name="adj" fmla="val 7000"/>
            </a:avLst>
          </a:prstGeom>
          <a:solidFill>
            <a:srgbClr val="12395B"/>
          </a:solidFill>
          <a:ln/>
          <a:effectLst>
            <a:outerShdw sx="100000" sy="100000" kx="0" ky="0" algn="bl" rotWithShape="0" blurRad="63500" dist="25400" dir="5400000">
              <a:srgbClr val="000000">
                <a:alpha val="14000"/>
              </a:srgbClr>
            </a:outerShdw>
          </a:effectLst>
        </p:spPr>
      </p:sp>
      <p:sp>
        <p:nvSpPr>
          <p:cNvPr id="12" name="Text 9"/>
          <p:cNvSpPr/>
          <p:nvPr/>
        </p:nvSpPr>
        <p:spPr>
          <a:xfrm>
            <a:off x="3520440" y="2651760"/>
            <a:ext cx="19202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hash → bucket 5</a:t>
            </a:r>
            <a:endParaRPr lang="en-US" sz="1300" dirty="0"/>
          </a:p>
        </p:txBody>
      </p:sp>
      <p:sp>
        <p:nvSpPr>
          <p:cNvPr id="13" name="Text 10"/>
          <p:cNvSpPr/>
          <p:nvPr/>
        </p:nvSpPr>
        <p:spPr>
          <a:xfrm>
            <a:off x="5532120" y="2880360"/>
            <a:ext cx="457200" cy="457200"/>
          </a:xfrm>
          <a:prstGeom prst="rect">
            <a:avLst/>
          </a:prstGeom>
          <a:noFill/>
          <a:ln/>
        </p:spPr>
        <p:txBody>
          <a:bodyPr wrap="square" lIns="0" tIns="0" rIns="0" bIns="0" rtlCol="0" anchor="ctr"/>
          <a:lstStyle/>
          <a:p>
            <a:pPr algn="ctr" indent="0" marL="0">
              <a:buNone/>
            </a:pPr>
            <a:r>
              <a:rPr lang="en-US" sz="2600" b="1" dirty="0">
                <a:solidFill>
                  <a:srgbClr val="5C7488"/>
                </a:solidFill>
                <a:latin typeface="Calibri" pitchFamily="34" charset="0"/>
                <a:ea typeface="Calibri" pitchFamily="34" charset="-122"/>
                <a:cs typeface="Calibri" pitchFamily="34" charset="-120"/>
              </a:rPr>
              <a:t>→</a:t>
            </a:r>
            <a:endParaRPr lang="en-US" sz="2600" dirty="0"/>
          </a:p>
        </p:txBody>
      </p:sp>
      <p:sp>
        <p:nvSpPr>
          <p:cNvPr id="14" name="Shape 11"/>
          <p:cNvSpPr/>
          <p:nvPr/>
        </p:nvSpPr>
        <p:spPr>
          <a:xfrm>
            <a:off x="6080760" y="2651760"/>
            <a:ext cx="2377440" cy="914400"/>
          </a:xfrm>
          <a:prstGeom prst="roundRect">
            <a:avLst>
              <a:gd name="adj" fmla="val 7000"/>
            </a:avLst>
          </a:prstGeom>
          <a:solidFill>
            <a:srgbClr val="F2B138"/>
          </a:solidFill>
          <a:ln/>
          <a:effectLst>
            <a:outerShdw sx="100000" sy="100000" kx="0" ky="0" algn="bl" rotWithShape="0" blurRad="63500" dist="25400" dir="5400000">
              <a:srgbClr val="000000">
                <a:alpha val="14000"/>
              </a:srgbClr>
            </a:outerShdw>
          </a:effectLst>
        </p:spPr>
      </p:sp>
      <p:sp>
        <p:nvSpPr>
          <p:cNvPr id="15" name="Text 12"/>
          <p:cNvSpPr/>
          <p:nvPr/>
        </p:nvSpPr>
        <p:spPr>
          <a:xfrm>
            <a:off x="6126480" y="2651760"/>
            <a:ext cx="2286000" cy="914400"/>
          </a:xfrm>
          <a:prstGeom prst="rect">
            <a:avLst/>
          </a:prstGeom>
          <a:noFill/>
          <a:ln/>
        </p:spPr>
        <p:txBody>
          <a:bodyPr wrap="square" rtlCol="0" anchor="ctr"/>
          <a:lstStyle/>
          <a:p>
            <a:pPr algn="ctr" indent="0" marL="0">
              <a:buNone/>
            </a:pPr>
            <a:r>
              <a:rPr lang="en-US" sz="1250" b="1" dirty="0">
                <a:solidFill>
                  <a:srgbClr val="16283B"/>
                </a:solidFill>
                <a:latin typeface="Calibri" pitchFamily="34" charset="0"/>
                <a:ea typeface="Calibri" pitchFamily="34" charset="-122"/>
                <a:cs typeface="Calibri" pitchFamily="34" charset="-120"/>
              </a:rPr>
              <a:t>bucket 5 has 2 keys:</a:t>
            </a:r>
            <a:endParaRPr lang="en-US" sz="1250" dirty="0"/>
          </a:p>
          <a:p>
            <a:pPr algn="ctr" indent="0" marL="0">
              <a:buNone/>
            </a:pPr>
            <a:r>
              <a:rPr lang="en-US" sz="1250" b="1" dirty="0">
                <a:solidFill>
                  <a:srgbClr val="16283B"/>
                </a:solidFill>
                <a:latin typeface="Calibri" pitchFamily="34" charset="0"/>
                <a:ea typeface="Calibri" pitchFamily="34" charset="-122"/>
                <a:cs typeface="Calibri" pitchFamily="34" charset="-120"/>
              </a:rPr>
              <a:t>compare each one</a:t>
            </a:r>
            <a:endParaRPr lang="en-US" sz="1250" dirty="0"/>
          </a:p>
        </p:txBody>
      </p:sp>
      <p:sp>
        <p:nvSpPr>
          <p:cNvPr id="16" name="Text 13"/>
          <p:cNvSpPr/>
          <p:nvPr/>
        </p:nvSpPr>
        <p:spPr>
          <a:xfrm>
            <a:off x="8503920" y="2880360"/>
            <a:ext cx="457200" cy="457200"/>
          </a:xfrm>
          <a:prstGeom prst="rect">
            <a:avLst/>
          </a:prstGeom>
          <a:noFill/>
          <a:ln/>
        </p:spPr>
        <p:txBody>
          <a:bodyPr wrap="square" lIns="0" tIns="0" rIns="0" bIns="0" rtlCol="0" anchor="ctr"/>
          <a:lstStyle/>
          <a:p>
            <a:pPr algn="ctr" indent="0" marL="0">
              <a:buNone/>
            </a:pPr>
            <a:r>
              <a:rPr lang="en-US" sz="2600" b="1" dirty="0">
                <a:solidFill>
                  <a:srgbClr val="5C7488"/>
                </a:solidFill>
                <a:latin typeface="Calibri" pitchFamily="34" charset="0"/>
                <a:ea typeface="Calibri" pitchFamily="34" charset="-122"/>
                <a:cs typeface="Calibri" pitchFamily="34" charset="-120"/>
              </a:rPr>
              <a:t>→</a:t>
            </a:r>
            <a:endParaRPr lang="en-US" sz="2600" dirty="0"/>
          </a:p>
        </p:txBody>
      </p:sp>
      <p:sp>
        <p:nvSpPr>
          <p:cNvPr id="17" name="Shape 14"/>
          <p:cNvSpPr/>
          <p:nvPr/>
        </p:nvSpPr>
        <p:spPr>
          <a:xfrm>
            <a:off x="9052560" y="2651760"/>
            <a:ext cx="2286000" cy="914400"/>
          </a:xfrm>
          <a:prstGeom prst="roundRect">
            <a:avLst>
              <a:gd name="adj" fmla="val 7000"/>
            </a:avLst>
          </a:prstGeom>
          <a:solidFill>
            <a:srgbClr val="2E9E6B"/>
          </a:solidFill>
          <a:ln/>
          <a:effectLst>
            <a:outerShdw sx="100000" sy="100000" kx="0" ky="0" algn="bl" rotWithShape="0" blurRad="63500" dist="25400" dir="5400000">
              <a:srgbClr val="000000">
                <a:alpha val="14000"/>
              </a:srgbClr>
            </a:outerShdw>
          </a:effectLst>
        </p:spPr>
      </p:sp>
      <p:sp>
        <p:nvSpPr>
          <p:cNvPr id="18" name="Text 15"/>
          <p:cNvSpPr/>
          <p:nvPr/>
        </p:nvSpPr>
        <p:spPr>
          <a:xfrm>
            <a:off x="9098280" y="2651760"/>
            <a:ext cx="219456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"Sara" matches →</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return 85 ✓</a:t>
            </a:r>
            <a:endParaRPr lang="en-US" sz="1300" dirty="0"/>
          </a:p>
        </p:txBody>
      </p:sp>
      <p:sp>
        <p:nvSpPr>
          <p:cNvPr id="19" name="Shape 16"/>
          <p:cNvSpPr/>
          <p:nvPr/>
        </p:nvSpPr>
        <p:spPr>
          <a:xfrm>
            <a:off x="548640" y="4434840"/>
            <a:ext cx="5394960" cy="1554480"/>
          </a:xfrm>
          <a:prstGeom prst="roundRect">
            <a:avLst>
              <a:gd name="adj" fmla="val 5294"/>
            </a:avLst>
          </a:prstGeom>
          <a:solidFill>
            <a:srgbClr val="E8F1F9"/>
          </a:solidFill>
          <a:ln/>
          <a:effectLst>
            <a:outerShdw sx="100000" sy="100000" kx="0" ky="0" algn="bl" rotWithShape="0" blurRad="76200" dist="25400" dir="5400000">
              <a:srgbClr val="000000">
                <a:alpha val="12000"/>
              </a:srgbClr>
            </a:outerShdw>
          </a:effectLst>
        </p:spPr>
      </p:sp>
      <p:sp>
        <p:nvSpPr>
          <p:cNvPr id="20" name="Text 17"/>
          <p:cNvSpPr/>
          <p:nvPr/>
        </p:nvSpPr>
        <p:spPr>
          <a:xfrm>
            <a:off x="777240" y="4572000"/>
            <a:ext cx="4937760" cy="32004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The compare step</a:t>
            </a:r>
            <a:endParaRPr lang="en-US" sz="1300" dirty="0"/>
          </a:p>
        </p:txBody>
      </p:sp>
      <p:sp>
        <p:nvSpPr>
          <p:cNvPr id="21" name="Text 18"/>
          <p:cNvSpPr/>
          <p:nvPr/>
        </p:nvSpPr>
        <p:spPr>
          <a:xfrm>
            <a:off x="777240" y="4892040"/>
            <a:ext cx="4937760" cy="960120"/>
          </a:xfrm>
          <a:prstGeom prst="rect">
            <a:avLst/>
          </a:prstGeom>
          <a:noFill/>
          <a:ln/>
        </p:spPr>
        <p:txBody>
          <a:bodyPr wrap="square" rtlCol="0" anchor="t"/>
          <a:lstStyle/>
          <a:p>
            <a:pPr indent="0" marL="0">
              <a:lnSpc>
                <a:spcPct val="110000"/>
              </a:lnSpc>
              <a:buNone/>
            </a:pPr>
            <a:r>
              <a:rPr lang="en-US" sz="1300" dirty="0">
                <a:solidFill>
                  <a:srgbClr val="16283B"/>
                </a:solidFill>
                <a:latin typeface="Calibri" pitchFamily="34" charset="0"/>
                <a:ea typeface="Calibri" pitchFamily="34" charset="-122"/>
                <a:cs typeface="Calibri" pitchFamily="34" charset="-120"/>
              </a:rPr>
              <a:t>Python checks "is this stored key equal to Sara?" It skips "Ali" (no match), tests "Sara" (match!), and returns its value. Wrong item is impossible.</a:t>
            </a:r>
            <a:endParaRPr lang="en-US" sz="1300" dirty="0"/>
          </a:p>
        </p:txBody>
      </p:sp>
      <p:sp>
        <p:nvSpPr>
          <p:cNvPr id="22" name="Shape 19"/>
          <p:cNvSpPr/>
          <p:nvPr/>
        </p:nvSpPr>
        <p:spPr>
          <a:xfrm>
            <a:off x="6217920" y="4434840"/>
            <a:ext cx="5422392" cy="1554480"/>
          </a:xfrm>
          <a:prstGeom prst="roundRect">
            <a:avLst>
              <a:gd name="adj" fmla="val 5294"/>
            </a:avLst>
          </a:prstGeom>
          <a:solidFill>
            <a:srgbClr val="E9F5EE"/>
          </a:solidFill>
          <a:ln/>
          <a:effectLst>
            <a:outerShdw sx="100000" sy="100000" kx="0" ky="0" algn="bl" rotWithShape="0" blurRad="76200" dist="25400" dir="5400000">
              <a:srgbClr val="000000">
                <a:alpha val="12000"/>
              </a:srgbClr>
            </a:outerShdw>
          </a:effectLst>
        </p:spPr>
      </p:sp>
      <p:sp>
        <p:nvSpPr>
          <p:cNvPr id="23" name="Text 20"/>
          <p:cNvSpPr/>
          <p:nvPr/>
        </p:nvSpPr>
        <p:spPr>
          <a:xfrm>
            <a:off x="6446520" y="4572000"/>
            <a:ext cx="4937760" cy="320040"/>
          </a:xfrm>
          <a:prstGeom prst="rect">
            <a:avLst/>
          </a:prstGeom>
          <a:noFill/>
          <a:ln/>
        </p:spPr>
        <p:txBody>
          <a:bodyPr wrap="square" rtlCol="0" anchor="ctr"/>
          <a:lstStyle/>
          <a:p>
            <a:pPr indent="0" marL="0">
              <a:buNone/>
            </a:pPr>
            <a:r>
              <a:rPr lang="en-US" sz="1300" b="1" dirty="0">
                <a:solidFill>
                  <a:srgbClr val="2E9E6B"/>
                </a:solidFill>
                <a:latin typeface="Calibri" pitchFamily="34" charset="0"/>
                <a:ea typeface="Calibri" pitchFamily="34" charset="-122"/>
                <a:cs typeface="Calibri" pitchFamily="34" charset="-120"/>
              </a:rPr>
              <a:t>Does this slow things down?</a:t>
            </a:r>
            <a:endParaRPr lang="en-US" sz="1300" dirty="0"/>
          </a:p>
        </p:txBody>
      </p:sp>
      <p:sp>
        <p:nvSpPr>
          <p:cNvPr id="24" name="Text 21"/>
          <p:cNvSpPr/>
          <p:nvPr/>
        </p:nvSpPr>
        <p:spPr>
          <a:xfrm>
            <a:off x="6446520" y="4892040"/>
            <a:ext cx="4983480" cy="960120"/>
          </a:xfrm>
          <a:prstGeom prst="rect">
            <a:avLst/>
          </a:prstGeom>
          <a:noFill/>
          <a:ln/>
        </p:spPr>
        <p:txBody>
          <a:bodyPr wrap="square" rtlCol="0" anchor="t"/>
          <a:lstStyle/>
          <a:p>
            <a:pPr indent="0" marL="0">
              <a:lnSpc>
                <a:spcPct val="110000"/>
              </a:lnSpc>
              <a:buNone/>
            </a:pPr>
            <a:r>
              <a:rPr lang="en-US" sz="1300" dirty="0">
                <a:solidFill>
                  <a:srgbClr val="16283B"/>
                </a:solidFill>
                <a:latin typeface="Calibri" pitchFamily="34" charset="0"/>
                <a:ea typeface="Calibri" pitchFamily="34" charset="-122"/>
                <a:cs typeface="Calibri" pitchFamily="34" charset="-120"/>
              </a:rPr>
              <a:t>Barely. Good hashing keeps buckets nearly empty, so a bucket usually holds one key. Comparing one or two keys is still effectively O(1).</a:t>
            </a:r>
            <a:endParaRPr lang="en-US" sz="1300" dirty="0"/>
          </a:p>
        </p:txBody>
      </p:sp>
      <p:sp>
        <p:nvSpPr>
          <p:cNvPr id="25" name="Text 22"/>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6" name="Text 23"/>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8 · PYTHON SET</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What Is a Set?</a:t>
            </a:r>
            <a:endParaRPr lang="en-US" sz="2600" dirty="0"/>
          </a:p>
        </p:txBody>
      </p:sp>
      <p:sp>
        <p:nvSpPr>
          <p:cNvPr id="6" name="Shape 3"/>
          <p:cNvSpPr/>
          <p:nvPr/>
        </p:nvSpPr>
        <p:spPr>
          <a:xfrm>
            <a:off x="548640" y="1371600"/>
            <a:ext cx="4846320" cy="4480560"/>
          </a:xfrm>
          <a:prstGeom prst="roundRect">
            <a:avLst>
              <a:gd name="adj" fmla="val 1837"/>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822960" y="1572768"/>
            <a:ext cx="429768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Definition</a:t>
            </a:r>
            <a:endParaRPr lang="en-US" sz="1400" dirty="0"/>
          </a:p>
        </p:txBody>
      </p:sp>
      <p:sp>
        <p:nvSpPr>
          <p:cNvPr id="8" name="Text 5"/>
          <p:cNvSpPr/>
          <p:nvPr/>
        </p:nvSpPr>
        <p:spPr>
          <a:xfrm>
            <a:off x="822960" y="1901952"/>
            <a:ext cx="4297680" cy="1097280"/>
          </a:xfrm>
          <a:prstGeom prst="rect">
            <a:avLst/>
          </a:prstGeom>
          <a:noFill/>
          <a:ln/>
        </p:spPr>
        <p:txBody>
          <a:bodyPr wrap="square" rtlCol="0" anchor="t"/>
          <a:lstStyle/>
          <a:p>
            <a:pPr indent="0" marL="0">
              <a:lnSpc>
                <a:spcPct val="115000"/>
              </a:lnSpc>
              <a:buNone/>
            </a:pPr>
            <a:r>
              <a:rPr lang="en-US" sz="1600" dirty="0">
                <a:solidFill>
                  <a:srgbClr val="16283B"/>
                </a:solidFill>
                <a:latin typeface="Calibri" pitchFamily="34" charset="0"/>
                <a:ea typeface="Calibri" pitchFamily="34" charset="-122"/>
                <a:cs typeface="Calibri" pitchFamily="34" charset="-120"/>
              </a:rPr>
              <a:t>A </a:t>
            </a:r>
            <a:pPr indent="0" marL="0">
              <a:lnSpc>
                <a:spcPct val="115000"/>
              </a:lnSpc>
              <a:buNone/>
            </a:pPr>
            <a:r>
              <a:rPr lang="en-US" sz="1600" b="1" dirty="0">
                <a:solidFill>
                  <a:srgbClr val="0A2540"/>
                </a:solidFill>
                <a:latin typeface="Calibri" pitchFamily="34" charset="0"/>
                <a:ea typeface="Calibri" pitchFamily="34" charset="-122"/>
                <a:cs typeface="Calibri" pitchFamily="34" charset="-120"/>
              </a:rPr>
              <a:t>set</a:t>
            </a:r>
            <a:pPr indent="0" marL="0">
              <a:lnSpc>
                <a:spcPct val="115000"/>
              </a:lnSpc>
              <a:buNone/>
            </a:pPr>
            <a:r>
              <a:rPr lang="en-US" sz="1600" dirty="0">
                <a:solidFill>
                  <a:srgbClr val="16283B"/>
                </a:solidFill>
                <a:latin typeface="Calibri" pitchFamily="34" charset="0"/>
                <a:ea typeface="Calibri" pitchFamily="34" charset="-122"/>
                <a:cs typeface="Calibri" pitchFamily="34" charset="-120"/>
              </a:rPr>
              <a:t> is an unordered collection of </a:t>
            </a:r>
            <a:pPr indent="0" marL="0">
              <a:lnSpc>
                <a:spcPct val="115000"/>
              </a:lnSpc>
              <a:buNone/>
            </a:pPr>
            <a:r>
              <a:rPr lang="en-US" sz="1600" b="1" dirty="0">
                <a:solidFill>
                  <a:srgbClr val="1C5D99"/>
                </a:solidFill>
                <a:latin typeface="Calibri" pitchFamily="34" charset="0"/>
                <a:ea typeface="Calibri" pitchFamily="34" charset="-122"/>
                <a:cs typeface="Calibri" pitchFamily="34" charset="-120"/>
              </a:rPr>
              <a:t>unique</a:t>
            </a:r>
            <a:pPr indent="0" marL="0">
              <a:lnSpc>
                <a:spcPct val="115000"/>
              </a:lnSpc>
              <a:buNone/>
            </a:pPr>
            <a:r>
              <a:rPr lang="en-US" sz="1600" dirty="0">
                <a:solidFill>
                  <a:srgbClr val="16283B"/>
                </a:solidFill>
                <a:latin typeface="Calibri" pitchFamily="34" charset="0"/>
                <a:ea typeface="Calibri" pitchFamily="34" charset="-122"/>
                <a:cs typeface="Calibri" pitchFamily="34" charset="-120"/>
              </a:rPr>
              <a:t> items, built on the same hashing machinery as dictionaries.</a:t>
            </a:r>
            <a:endParaRPr lang="en-US" sz="1600" dirty="0"/>
          </a:p>
        </p:txBody>
      </p:sp>
      <p:sp>
        <p:nvSpPr>
          <p:cNvPr id="9" name="Shape 6"/>
          <p:cNvSpPr/>
          <p:nvPr/>
        </p:nvSpPr>
        <p:spPr>
          <a:xfrm>
            <a:off x="822960" y="3063240"/>
            <a:ext cx="4297680" cy="1508760"/>
          </a:xfrm>
          <a:prstGeom prst="roundRect">
            <a:avLst>
              <a:gd name="adj" fmla="val 3636"/>
            </a:avLst>
          </a:prstGeom>
          <a:solidFill>
            <a:srgbClr val="0E2E4A"/>
          </a:solidFill>
          <a:ln/>
          <a:effectLst>
            <a:outerShdw sx="100000" sy="100000" kx="0" ky="0" algn="bl" rotWithShape="0" blurRad="63500" dist="25400" dir="5400000">
              <a:srgbClr val="000000">
                <a:alpha val="18000"/>
              </a:srgbClr>
            </a:outerShdw>
          </a:effectLst>
        </p:spPr>
      </p:sp>
      <p:sp>
        <p:nvSpPr>
          <p:cNvPr id="10" name="Text 7"/>
          <p:cNvSpPr/>
          <p:nvPr/>
        </p:nvSpPr>
        <p:spPr>
          <a:xfrm>
            <a:off x="1005840" y="3172968"/>
            <a:ext cx="3931920" cy="1289304"/>
          </a:xfrm>
          <a:prstGeom prst="rect">
            <a:avLst/>
          </a:prstGeom>
          <a:noFill/>
          <a:ln/>
        </p:spPr>
        <p:txBody>
          <a:bodyPr wrap="square" rtlCol="0" anchor="t"/>
          <a:lstStyle/>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s = {10, 20, 30}</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s.add(20)   # duplicate</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s</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{10, 20, 30}    # no change</a:t>
            </a:r>
            <a:endParaRPr lang="en-US" sz="1250" dirty="0"/>
          </a:p>
        </p:txBody>
      </p:sp>
      <p:sp>
        <p:nvSpPr>
          <p:cNvPr id="11" name="Text 8"/>
          <p:cNvSpPr/>
          <p:nvPr/>
        </p:nvSpPr>
        <p:spPr>
          <a:xfrm>
            <a:off x="822960" y="4709160"/>
            <a:ext cx="4297680" cy="914400"/>
          </a:xfrm>
          <a:prstGeom prst="rect">
            <a:avLst/>
          </a:prstGeom>
          <a:noFill/>
          <a:ln/>
        </p:spPr>
        <p:txBody>
          <a:bodyPr wrap="square" rtlCol="0" anchor="t"/>
          <a:lstStyle/>
          <a:p>
            <a:pPr indent="0" marL="0">
              <a:buNone/>
            </a:pPr>
            <a:r>
              <a:rPr lang="en-US" sz="1250" i="1" dirty="0">
                <a:solidFill>
                  <a:srgbClr val="5C7488"/>
                </a:solidFill>
                <a:latin typeface="Calibri" pitchFamily="34" charset="0"/>
                <a:ea typeface="Calibri" pitchFamily="34" charset="-122"/>
                <a:cs typeface="Calibri" pitchFamily="34" charset="-120"/>
              </a:rPr>
              <a:t>Elements must be hashable — so a set can hold ints, strings, tuples… but not lists.</a:t>
            </a:r>
            <a:endParaRPr lang="en-US" sz="1250" dirty="0"/>
          </a:p>
        </p:txBody>
      </p:sp>
      <p:sp>
        <p:nvSpPr>
          <p:cNvPr id="12" name="Shape 9"/>
          <p:cNvSpPr/>
          <p:nvPr/>
        </p:nvSpPr>
        <p:spPr>
          <a:xfrm>
            <a:off x="5623560" y="1371600"/>
            <a:ext cx="2926080" cy="1005840"/>
          </a:xfrm>
          <a:prstGeom prst="roundRect">
            <a:avLst>
              <a:gd name="adj" fmla="val 8182"/>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5788152" y="1627632"/>
            <a:ext cx="502920" cy="502920"/>
          </a:xfrm>
          <a:prstGeom prst="roundRect">
            <a:avLst>
              <a:gd name="adj" fmla="val 18182"/>
            </a:avLst>
          </a:prstGeom>
          <a:solidFill>
            <a:srgbClr val="E1674C"/>
          </a:solidFill>
          <a:ln/>
        </p:spPr>
      </p:sp>
      <p:pic>
        <p:nvPicPr>
          <p:cNvPr id="14" name="Image 1" descr="preencoded.png">    </p:cNvPr>
          <p:cNvPicPr>
            <a:picLocks noChangeAspect="1"/>
          </p:cNvPicPr>
          <p:nvPr/>
        </p:nvPicPr>
        <p:blipFill>
          <a:blip r:embed="rId2"/>
          <a:stretch>
            <a:fillRect/>
          </a:stretch>
        </p:blipFill>
        <p:spPr>
          <a:xfrm>
            <a:off x="5907024" y="1746504"/>
            <a:ext cx="274320" cy="274320"/>
          </a:xfrm>
          <a:prstGeom prst="rect">
            <a:avLst/>
          </a:prstGeom>
        </p:spPr>
      </p:pic>
      <p:sp>
        <p:nvSpPr>
          <p:cNvPr id="15" name="Text 11"/>
          <p:cNvSpPr/>
          <p:nvPr/>
        </p:nvSpPr>
        <p:spPr>
          <a:xfrm>
            <a:off x="6400800" y="1536192"/>
            <a:ext cx="201168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No Duplicates</a:t>
            </a:r>
            <a:endParaRPr lang="en-US" sz="1400" dirty="0"/>
          </a:p>
        </p:txBody>
      </p:sp>
      <p:sp>
        <p:nvSpPr>
          <p:cNvPr id="16" name="Text 12"/>
          <p:cNvSpPr/>
          <p:nvPr/>
        </p:nvSpPr>
        <p:spPr>
          <a:xfrm>
            <a:off x="6400800" y="1883664"/>
            <a:ext cx="2011680" cy="411480"/>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Repeated items are ignored automatically</a:t>
            </a:r>
            <a:endParaRPr lang="en-US" sz="1150" dirty="0"/>
          </a:p>
        </p:txBody>
      </p:sp>
      <p:sp>
        <p:nvSpPr>
          <p:cNvPr id="17" name="Shape 13"/>
          <p:cNvSpPr/>
          <p:nvPr/>
        </p:nvSpPr>
        <p:spPr>
          <a:xfrm>
            <a:off x="8686800" y="1371600"/>
            <a:ext cx="2926080" cy="1005840"/>
          </a:xfrm>
          <a:prstGeom prst="roundRect">
            <a:avLst>
              <a:gd name="adj" fmla="val 8182"/>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851392" y="1627632"/>
            <a:ext cx="502920" cy="502920"/>
          </a:xfrm>
          <a:prstGeom prst="roundRect">
            <a:avLst>
              <a:gd name="adj" fmla="val 18182"/>
            </a:avLst>
          </a:prstGeom>
          <a:solidFill>
            <a:srgbClr val="1C5D99"/>
          </a:solidFill>
          <a:ln/>
        </p:spPr>
      </p:sp>
      <p:pic>
        <p:nvPicPr>
          <p:cNvPr id="19" name="Image 2" descr="preencoded.png">    </p:cNvPr>
          <p:cNvPicPr>
            <a:picLocks noChangeAspect="1"/>
          </p:cNvPicPr>
          <p:nvPr/>
        </p:nvPicPr>
        <p:blipFill>
          <a:blip r:embed="rId3"/>
          <a:stretch>
            <a:fillRect/>
          </a:stretch>
        </p:blipFill>
        <p:spPr>
          <a:xfrm>
            <a:off x="8970264" y="1746504"/>
            <a:ext cx="274320" cy="274320"/>
          </a:xfrm>
          <a:prstGeom prst="rect">
            <a:avLst/>
          </a:prstGeom>
        </p:spPr>
      </p:pic>
      <p:sp>
        <p:nvSpPr>
          <p:cNvPr id="20" name="Text 15"/>
          <p:cNvSpPr/>
          <p:nvPr/>
        </p:nvSpPr>
        <p:spPr>
          <a:xfrm>
            <a:off x="9464040" y="1536192"/>
            <a:ext cx="201168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Mutable</a:t>
            </a:r>
            <a:endParaRPr lang="en-US" sz="1400" dirty="0"/>
          </a:p>
        </p:txBody>
      </p:sp>
      <p:sp>
        <p:nvSpPr>
          <p:cNvPr id="21" name="Text 16"/>
          <p:cNvSpPr/>
          <p:nvPr/>
        </p:nvSpPr>
        <p:spPr>
          <a:xfrm>
            <a:off x="9464040" y="1883664"/>
            <a:ext cx="2011680" cy="411480"/>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You can add and remove elements</a:t>
            </a:r>
            <a:endParaRPr lang="en-US" sz="1150" dirty="0"/>
          </a:p>
        </p:txBody>
      </p:sp>
      <p:sp>
        <p:nvSpPr>
          <p:cNvPr id="22" name="Shape 17"/>
          <p:cNvSpPr/>
          <p:nvPr/>
        </p:nvSpPr>
        <p:spPr>
          <a:xfrm>
            <a:off x="5623560" y="2505456"/>
            <a:ext cx="2926080" cy="1005840"/>
          </a:xfrm>
          <a:prstGeom prst="roundRect">
            <a:avLst>
              <a:gd name="adj" fmla="val 8182"/>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5788152" y="2761488"/>
            <a:ext cx="502920" cy="502920"/>
          </a:xfrm>
          <a:prstGeom prst="roundRect">
            <a:avLst>
              <a:gd name="adj" fmla="val 18182"/>
            </a:avLst>
          </a:prstGeom>
          <a:solidFill>
            <a:srgbClr val="12395B"/>
          </a:solidFill>
          <a:ln/>
        </p:spPr>
      </p:sp>
      <p:pic>
        <p:nvPicPr>
          <p:cNvPr id="24" name="Image 3" descr="preencoded.png">    </p:cNvPr>
          <p:cNvPicPr>
            <a:picLocks noChangeAspect="1"/>
          </p:cNvPicPr>
          <p:nvPr/>
        </p:nvPicPr>
        <p:blipFill>
          <a:blip r:embed="rId4"/>
          <a:stretch>
            <a:fillRect/>
          </a:stretch>
        </p:blipFill>
        <p:spPr>
          <a:xfrm>
            <a:off x="5907024" y="2880360"/>
            <a:ext cx="274320" cy="274320"/>
          </a:xfrm>
          <a:prstGeom prst="rect">
            <a:avLst/>
          </a:prstGeom>
        </p:spPr>
      </p:pic>
      <p:sp>
        <p:nvSpPr>
          <p:cNvPr id="25" name="Text 19"/>
          <p:cNvSpPr/>
          <p:nvPr/>
        </p:nvSpPr>
        <p:spPr>
          <a:xfrm>
            <a:off x="6400800" y="2670048"/>
            <a:ext cx="201168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Hashing-Based</a:t>
            </a:r>
            <a:endParaRPr lang="en-US" sz="1400" dirty="0"/>
          </a:p>
        </p:txBody>
      </p:sp>
      <p:sp>
        <p:nvSpPr>
          <p:cNvPr id="26" name="Text 20"/>
          <p:cNvSpPr/>
          <p:nvPr/>
        </p:nvSpPr>
        <p:spPr>
          <a:xfrm>
            <a:off x="6400800" y="3017520"/>
            <a:ext cx="2011680" cy="411480"/>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Uses buckets, just like dictionaries</a:t>
            </a:r>
            <a:endParaRPr lang="en-US" sz="1150" dirty="0"/>
          </a:p>
        </p:txBody>
      </p:sp>
      <p:sp>
        <p:nvSpPr>
          <p:cNvPr id="27" name="Shape 21"/>
          <p:cNvSpPr/>
          <p:nvPr/>
        </p:nvSpPr>
        <p:spPr>
          <a:xfrm>
            <a:off x="8686800" y="2505456"/>
            <a:ext cx="2926080" cy="1005840"/>
          </a:xfrm>
          <a:prstGeom prst="roundRect">
            <a:avLst>
              <a:gd name="adj" fmla="val 8182"/>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8851392" y="2761488"/>
            <a:ext cx="502920" cy="502920"/>
          </a:xfrm>
          <a:prstGeom prst="roundRect">
            <a:avLst>
              <a:gd name="adj" fmla="val 18182"/>
            </a:avLst>
          </a:prstGeom>
          <a:solidFill>
            <a:srgbClr val="F2B138"/>
          </a:solidFill>
          <a:ln/>
        </p:spPr>
      </p:sp>
      <p:pic>
        <p:nvPicPr>
          <p:cNvPr id="29" name="Image 4" descr="preencoded.png">    </p:cNvPr>
          <p:cNvPicPr>
            <a:picLocks noChangeAspect="1"/>
          </p:cNvPicPr>
          <p:nvPr/>
        </p:nvPicPr>
        <p:blipFill>
          <a:blip r:embed="rId5"/>
          <a:stretch>
            <a:fillRect/>
          </a:stretch>
        </p:blipFill>
        <p:spPr>
          <a:xfrm>
            <a:off x="8970264" y="2880360"/>
            <a:ext cx="274320" cy="274320"/>
          </a:xfrm>
          <a:prstGeom prst="rect">
            <a:avLst/>
          </a:prstGeom>
        </p:spPr>
      </p:pic>
      <p:sp>
        <p:nvSpPr>
          <p:cNvPr id="30" name="Text 23"/>
          <p:cNvSpPr/>
          <p:nvPr/>
        </p:nvSpPr>
        <p:spPr>
          <a:xfrm>
            <a:off x="9464040" y="2670048"/>
            <a:ext cx="2011680"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Unordered</a:t>
            </a:r>
            <a:endParaRPr lang="en-US" sz="1400" dirty="0"/>
          </a:p>
        </p:txBody>
      </p:sp>
      <p:sp>
        <p:nvSpPr>
          <p:cNvPr id="31" name="Text 24"/>
          <p:cNvSpPr/>
          <p:nvPr/>
        </p:nvSpPr>
        <p:spPr>
          <a:xfrm>
            <a:off x="9464040" y="3017520"/>
            <a:ext cx="2011680" cy="411480"/>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No index, no guaranteed order</a:t>
            </a:r>
            <a:endParaRPr lang="en-US" sz="1150" dirty="0"/>
          </a:p>
        </p:txBody>
      </p:sp>
      <p:sp>
        <p:nvSpPr>
          <p:cNvPr id="32" name="Shape 25"/>
          <p:cNvSpPr/>
          <p:nvPr/>
        </p:nvSpPr>
        <p:spPr>
          <a:xfrm>
            <a:off x="5623560" y="3639312"/>
            <a:ext cx="6016752" cy="1005840"/>
          </a:xfrm>
          <a:prstGeom prst="roundRect">
            <a:avLst>
              <a:gd name="adj" fmla="val 8182"/>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33" name="Shape 26"/>
          <p:cNvSpPr/>
          <p:nvPr/>
        </p:nvSpPr>
        <p:spPr>
          <a:xfrm>
            <a:off x="5788152" y="3895344"/>
            <a:ext cx="502920" cy="502920"/>
          </a:xfrm>
          <a:prstGeom prst="roundRect">
            <a:avLst>
              <a:gd name="adj" fmla="val 18182"/>
            </a:avLst>
          </a:prstGeom>
          <a:solidFill>
            <a:srgbClr val="2E9E6B"/>
          </a:solidFill>
          <a:ln/>
        </p:spPr>
      </p:sp>
      <p:pic>
        <p:nvPicPr>
          <p:cNvPr id="34" name="Image 5" descr="preencoded.png">    </p:cNvPr>
          <p:cNvPicPr>
            <a:picLocks noChangeAspect="1"/>
          </p:cNvPicPr>
          <p:nvPr/>
        </p:nvPicPr>
        <p:blipFill>
          <a:blip r:embed="rId6"/>
          <a:stretch>
            <a:fillRect/>
          </a:stretch>
        </p:blipFill>
        <p:spPr>
          <a:xfrm>
            <a:off x="5907024" y="4014216"/>
            <a:ext cx="274320" cy="274320"/>
          </a:xfrm>
          <a:prstGeom prst="rect">
            <a:avLst/>
          </a:prstGeom>
        </p:spPr>
      </p:pic>
      <p:sp>
        <p:nvSpPr>
          <p:cNvPr id="35" name="Text 27"/>
          <p:cNvSpPr/>
          <p:nvPr/>
        </p:nvSpPr>
        <p:spPr>
          <a:xfrm>
            <a:off x="6400800" y="3803904"/>
            <a:ext cx="5102352" cy="36576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Fast Membership</a:t>
            </a:r>
            <a:endParaRPr lang="en-US" sz="1400" dirty="0"/>
          </a:p>
        </p:txBody>
      </p:sp>
      <p:sp>
        <p:nvSpPr>
          <p:cNvPr id="36" name="Text 28"/>
          <p:cNvSpPr/>
          <p:nvPr/>
        </p:nvSpPr>
        <p:spPr>
          <a:xfrm>
            <a:off x="6400800" y="4151376"/>
            <a:ext cx="5102352" cy="411480"/>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'x in s' is near-instant, O(1)</a:t>
            </a:r>
            <a:endParaRPr lang="en-US" sz="1150" dirty="0"/>
          </a:p>
        </p:txBody>
      </p:sp>
      <p:sp>
        <p:nvSpPr>
          <p:cNvPr id="37" name="Text 29"/>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38" name="Text 30"/>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9 · WHY SETS ARE UNORDERED</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List vs Set: Order Explained</a:t>
            </a:r>
            <a:endParaRPr lang="en-US" sz="2600" dirty="0"/>
          </a:p>
        </p:txBody>
      </p:sp>
      <p:sp>
        <p:nvSpPr>
          <p:cNvPr id="6" name="Text 3"/>
          <p:cNvSpPr/>
          <p:nvPr/>
        </p:nvSpPr>
        <p:spPr>
          <a:xfrm>
            <a:off x="548640" y="1325880"/>
            <a:ext cx="11064240" cy="457200"/>
          </a:xfrm>
          <a:prstGeom prst="rect">
            <a:avLst/>
          </a:prstGeom>
          <a:noFill/>
          <a:ln/>
        </p:spPr>
        <p:txBody>
          <a:bodyPr wrap="square" rtlCol="0" anchor="ctr"/>
          <a:lstStyle/>
          <a:p>
            <a:pPr indent="0" marL="0">
              <a:buNone/>
            </a:pPr>
            <a:r>
              <a:rPr lang="en-US" sz="1450" i="1" dirty="0">
                <a:solidFill>
                  <a:srgbClr val="16283B"/>
                </a:solidFill>
                <a:latin typeface="Calibri" pitchFamily="34" charset="0"/>
                <a:ea typeface="Calibri" pitchFamily="34" charset="-122"/>
                <a:cs typeface="Calibri" pitchFamily="34" charset="-120"/>
              </a:rPr>
              <a:t>Students often think sets keep order because small ones sometimes print sorted. They don't — order is a side effect of hashing.</a:t>
            </a:r>
            <a:endParaRPr lang="en-US" sz="1450" dirty="0"/>
          </a:p>
        </p:txBody>
      </p:sp>
      <p:sp>
        <p:nvSpPr>
          <p:cNvPr id="7" name="Shape 4"/>
          <p:cNvSpPr/>
          <p:nvPr/>
        </p:nvSpPr>
        <p:spPr>
          <a:xfrm>
            <a:off x="548640" y="1920240"/>
            <a:ext cx="5394960" cy="3931920"/>
          </a:xfrm>
          <a:prstGeom prst="roundRect">
            <a:avLst>
              <a:gd name="adj" fmla="val 2093"/>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8" name="Text 5"/>
          <p:cNvSpPr/>
          <p:nvPr/>
        </p:nvSpPr>
        <p:spPr>
          <a:xfrm>
            <a:off x="822960" y="2084832"/>
            <a:ext cx="4846320" cy="320040"/>
          </a:xfrm>
          <a:prstGeom prst="rect">
            <a:avLst/>
          </a:prstGeom>
          <a:noFill/>
          <a:ln/>
        </p:spPr>
        <p:txBody>
          <a:bodyPr wrap="square" rtlCol="0" anchor="ctr"/>
          <a:lstStyle/>
          <a:p>
            <a:pPr indent="0" marL="0">
              <a:buNone/>
            </a:pPr>
            <a:r>
              <a:rPr lang="en-US" sz="1400" b="1" dirty="0">
                <a:solidFill>
                  <a:srgbClr val="1C5D99"/>
                </a:solidFill>
                <a:latin typeface="Calibri" pitchFamily="34" charset="0"/>
                <a:ea typeface="Calibri" pitchFamily="34" charset="-122"/>
                <a:cs typeface="Calibri" pitchFamily="34" charset="-120"/>
              </a:rPr>
              <a:t>List  —  stored by index</a:t>
            </a:r>
            <a:endParaRPr lang="en-US" sz="1400" dirty="0"/>
          </a:p>
        </p:txBody>
      </p:sp>
      <p:sp>
        <p:nvSpPr>
          <p:cNvPr id="9" name="Shape 6"/>
          <p:cNvSpPr/>
          <p:nvPr/>
        </p:nvSpPr>
        <p:spPr>
          <a:xfrm>
            <a:off x="822960" y="2560320"/>
            <a:ext cx="1417320" cy="777240"/>
          </a:xfrm>
          <a:prstGeom prst="roundRect">
            <a:avLst>
              <a:gd name="adj" fmla="val 7059"/>
            </a:avLst>
          </a:prstGeom>
          <a:solidFill>
            <a:srgbClr val="1C5D99"/>
          </a:solidFill>
          <a:ln/>
        </p:spPr>
      </p:sp>
      <p:sp>
        <p:nvSpPr>
          <p:cNvPr id="10" name="Text 7"/>
          <p:cNvSpPr/>
          <p:nvPr/>
        </p:nvSpPr>
        <p:spPr>
          <a:xfrm>
            <a:off x="822960" y="2560320"/>
            <a:ext cx="1417320" cy="77724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30</a:t>
            </a:r>
            <a:endParaRPr lang="en-US" sz="2000" dirty="0"/>
          </a:p>
        </p:txBody>
      </p:sp>
      <p:sp>
        <p:nvSpPr>
          <p:cNvPr id="11" name="Text 8"/>
          <p:cNvSpPr/>
          <p:nvPr/>
        </p:nvSpPr>
        <p:spPr>
          <a:xfrm>
            <a:off x="822960" y="3364992"/>
            <a:ext cx="1417320" cy="274320"/>
          </a:xfrm>
          <a:prstGeom prst="rect">
            <a:avLst/>
          </a:prstGeom>
          <a:noFill/>
          <a:ln/>
        </p:spPr>
        <p:txBody>
          <a:bodyPr wrap="square" rtlCol="0" anchor="ctr"/>
          <a:lstStyle/>
          <a:p>
            <a:pPr algn="ctr" indent="0" marL="0">
              <a:buNone/>
            </a:pPr>
            <a:r>
              <a:rPr lang="en-US" sz="1100" dirty="0">
                <a:solidFill>
                  <a:srgbClr val="5C7488"/>
                </a:solidFill>
                <a:latin typeface="Calibri" pitchFamily="34" charset="0"/>
                <a:ea typeface="Calibri" pitchFamily="34" charset="-122"/>
                <a:cs typeface="Calibri" pitchFamily="34" charset="-120"/>
              </a:rPr>
              <a:t>index 0</a:t>
            </a:r>
            <a:endParaRPr lang="en-US" sz="1100" dirty="0"/>
          </a:p>
        </p:txBody>
      </p:sp>
      <p:sp>
        <p:nvSpPr>
          <p:cNvPr id="12" name="Shape 9"/>
          <p:cNvSpPr/>
          <p:nvPr/>
        </p:nvSpPr>
        <p:spPr>
          <a:xfrm>
            <a:off x="2395728" y="2560320"/>
            <a:ext cx="1417320" cy="777240"/>
          </a:xfrm>
          <a:prstGeom prst="roundRect">
            <a:avLst>
              <a:gd name="adj" fmla="val 7059"/>
            </a:avLst>
          </a:prstGeom>
          <a:solidFill>
            <a:srgbClr val="1C5D99"/>
          </a:solidFill>
          <a:ln/>
        </p:spPr>
      </p:sp>
      <p:sp>
        <p:nvSpPr>
          <p:cNvPr id="13" name="Text 10"/>
          <p:cNvSpPr/>
          <p:nvPr/>
        </p:nvSpPr>
        <p:spPr>
          <a:xfrm>
            <a:off x="2395728" y="2560320"/>
            <a:ext cx="1417320" cy="77724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10</a:t>
            </a:r>
            <a:endParaRPr lang="en-US" sz="2000" dirty="0"/>
          </a:p>
        </p:txBody>
      </p:sp>
      <p:sp>
        <p:nvSpPr>
          <p:cNvPr id="14" name="Text 11"/>
          <p:cNvSpPr/>
          <p:nvPr/>
        </p:nvSpPr>
        <p:spPr>
          <a:xfrm>
            <a:off x="2395728" y="3364992"/>
            <a:ext cx="1417320" cy="274320"/>
          </a:xfrm>
          <a:prstGeom prst="rect">
            <a:avLst/>
          </a:prstGeom>
          <a:noFill/>
          <a:ln/>
        </p:spPr>
        <p:txBody>
          <a:bodyPr wrap="square" rtlCol="0" anchor="ctr"/>
          <a:lstStyle/>
          <a:p>
            <a:pPr algn="ctr" indent="0" marL="0">
              <a:buNone/>
            </a:pPr>
            <a:r>
              <a:rPr lang="en-US" sz="1100" dirty="0">
                <a:solidFill>
                  <a:srgbClr val="5C7488"/>
                </a:solidFill>
                <a:latin typeface="Calibri" pitchFamily="34" charset="0"/>
                <a:ea typeface="Calibri" pitchFamily="34" charset="-122"/>
                <a:cs typeface="Calibri" pitchFamily="34" charset="-120"/>
              </a:rPr>
              <a:t>index 1</a:t>
            </a:r>
            <a:endParaRPr lang="en-US" sz="1100" dirty="0"/>
          </a:p>
        </p:txBody>
      </p:sp>
      <p:sp>
        <p:nvSpPr>
          <p:cNvPr id="15" name="Shape 12"/>
          <p:cNvSpPr/>
          <p:nvPr/>
        </p:nvSpPr>
        <p:spPr>
          <a:xfrm>
            <a:off x="3968496" y="2560320"/>
            <a:ext cx="1417320" cy="777240"/>
          </a:xfrm>
          <a:prstGeom prst="roundRect">
            <a:avLst>
              <a:gd name="adj" fmla="val 7059"/>
            </a:avLst>
          </a:prstGeom>
          <a:solidFill>
            <a:srgbClr val="1C5D99"/>
          </a:solidFill>
          <a:ln/>
        </p:spPr>
      </p:sp>
      <p:sp>
        <p:nvSpPr>
          <p:cNvPr id="16" name="Text 13"/>
          <p:cNvSpPr/>
          <p:nvPr/>
        </p:nvSpPr>
        <p:spPr>
          <a:xfrm>
            <a:off x="3968496" y="2560320"/>
            <a:ext cx="1417320" cy="777240"/>
          </a:xfrm>
          <a:prstGeom prst="rect">
            <a:avLst/>
          </a:prstGeom>
          <a:noFill/>
          <a:ln/>
        </p:spPr>
        <p:txBody>
          <a:bodyPr wrap="square"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20</a:t>
            </a:r>
            <a:endParaRPr lang="en-US" sz="2000" dirty="0"/>
          </a:p>
        </p:txBody>
      </p:sp>
      <p:sp>
        <p:nvSpPr>
          <p:cNvPr id="17" name="Text 14"/>
          <p:cNvSpPr/>
          <p:nvPr/>
        </p:nvSpPr>
        <p:spPr>
          <a:xfrm>
            <a:off x="3968496" y="3364992"/>
            <a:ext cx="1417320" cy="274320"/>
          </a:xfrm>
          <a:prstGeom prst="rect">
            <a:avLst/>
          </a:prstGeom>
          <a:noFill/>
          <a:ln/>
        </p:spPr>
        <p:txBody>
          <a:bodyPr wrap="square" rtlCol="0" anchor="ctr"/>
          <a:lstStyle/>
          <a:p>
            <a:pPr algn="ctr" indent="0" marL="0">
              <a:buNone/>
            </a:pPr>
            <a:r>
              <a:rPr lang="en-US" sz="1100" dirty="0">
                <a:solidFill>
                  <a:srgbClr val="5C7488"/>
                </a:solidFill>
                <a:latin typeface="Calibri" pitchFamily="34" charset="0"/>
                <a:ea typeface="Calibri" pitchFamily="34" charset="-122"/>
                <a:cs typeface="Calibri" pitchFamily="34" charset="-120"/>
              </a:rPr>
              <a:t>index 2</a:t>
            </a:r>
            <a:endParaRPr lang="en-US" sz="1100" dirty="0"/>
          </a:p>
        </p:txBody>
      </p:sp>
      <p:sp>
        <p:nvSpPr>
          <p:cNvPr id="18" name="Text 15"/>
          <p:cNvSpPr/>
          <p:nvPr/>
        </p:nvSpPr>
        <p:spPr>
          <a:xfrm>
            <a:off x="822960" y="3977640"/>
            <a:ext cx="4846320" cy="1737360"/>
          </a:xfrm>
          <a:prstGeom prst="rect">
            <a:avLst/>
          </a:prstGeom>
          <a:noFill/>
          <a:ln/>
        </p:spPr>
        <p:txBody>
          <a:bodyPr wrap="square" rtlCol="0" anchor="t"/>
          <a:lstStyle/>
          <a:p>
            <a:pPr indent="0" marL="0">
              <a:lnSpc>
                <a:spcPct val="115000"/>
              </a:lnSpc>
              <a:buNone/>
            </a:pPr>
            <a:r>
              <a:rPr lang="en-US" sz="1450" dirty="0">
                <a:solidFill>
                  <a:srgbClr val="16283B"/>
                </a:solidFill>
                <a:latin typeface="Calibri" pitchFamily="34" charset="0"/>
                <a:ea typeface="Calibri" pitchFamily="34" charset="-122"/>
                <a:cs typeface="Calibri" pitchFamily="34" charset="-120"/>
              </a:rPr>
              <a:t>A list remembers the exact order you inserted things. Index 0 stays index 0. </a:t>
            </a:r>
            <a:pPr indent="0" marL="0">
              <a:lnSpc>
                <a:spcPct val="115000"/>
              </a:lnSpc>
              <a:buNone/>
            </a:pPr>
            <a:r>
              <a:rPr lang="en-US" sz="1450" b="1" dirty="0">
                <a:solidFill>
                  <a:srgbClr val="1C5D99"/>
                </a:solidFill>
                <a:latin typeface="Calibri" pitchFamily="34" charset="0"/>
                <a:ea typeface="Calibri" pitchFamily="34" charset="-122"/>
                <a:cs typeface="Calibri" pitchFamily="34" charset="-120"/>
              </a:rPr>
              <a:t>Order is guaranteed.</a:t>
            </a:r>
            <a:endParaRPr lang="en-US" sz="1450" dirty="0"/>
          </a:p>
        </p:txBody>
      </p:sp>
      <p:sp>
        <p:nvSpPr>
          <p:cNvPr id="19" name="Shape 16"/>
          <p:cNvSpPr/>
          <p:nvPr/>
        </p:nvSpPr>
        <p:spPr>
          <a:xfrm>
            <a:off x="6217920" y="1920240"/>
            <a:ext cx="5422392" cy="3931920"/>
          </a:xfrm>
          <a:prstGeom prst="roundRect">
            <a:avLst>
              <a:gd name="adj" fmla="val 2093"/>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20" name="Text 17"/>
          <p:cNvSpPr/>
          <p:nvPr/>
        </p:nvSpPr>
        <p:spPr>
          <a:xfrm>
            <a:off x="6492240" y="2084832"/>
            <a:ext cx="4937760" cy="320040"/>
          </a:xfrm>
          <a:prstGeom prst="rect">
            <a:avLst/>
          </a:prstGeom>
          <a:noFill/>
          <a:ln/>
        </p:spPr>
        <p:txBody>
          <a:bodyPr wrap="square" rtlCol="0" anchor="ctr"/>
          <a:lstStyle/>
          <a:p>
            <a:pPr indent="0" marL="0">
              <a:buNone/>
            </a:pPr>
            <a:r>
              <a:rPr lang="en-US" sz="1400" b="1" dirty="0">
                <a:solidFill>
                  <a:srgbClr val="F2B138"/>
                </a:solidFill>
                <a:latin typeface="Calibri" pitchFamily="34" charset="0"/>
                <a:ea typeface="Calibri" pitchFamily="34" charset="-122"/>
                <a:cs typeface="Calibri" pitchFamily="34" charset="-120"/>
              </a:rPr>
              <a:t>Set  —  stored by hash/bucket</a:t>
            </a:r>
            <a:endParaRPr lang="en-US" sz="1400" dirty="0"/>
          </a:p>
        </p:txBody>
      </p:sp>
      <p:sp>
        <p:nvSpPr>
          <p:cNvPr id="21" name="Shape 18"/>
          <p:cNvSpPr/>
          <p:nvPr/>
        </p:nvSpPr>
        <p:spPr>
          <a:xfrm>
            <a:off x="6492240" y="2560320"/>
            <a:ext cx="1417320" cy="777240"/>
          </a:xfrm>
          <a:prstGeom prst="roundRect">
            <a:avLst>
              <a:gd name="adj" fmla="val 7059"/>
            </a:avLst>
          </a:prstGeom>
          <a:solidFill>
            <a:srgbClr val="F2B138"/>
          </a:solidFill>
          <a:ln/>
        </p:spPr>
      </p:sp>
      <p:sp>
        <p:nvSpPr>
          <p:cNvPr id="22" name="Text 19"/>
          <p:cNvSpPr/>
          <p:nvPr/>
        </p:nvSpPr>
        <p:spPr>
          <a:xfrm>
            <a:off x="6492240" y="2560320"/>
            <a:ext cx="1417320" cy="777240"/>
          </a:xfrm>
          <a:prstGeom prst="rect">
            <a:avLst/>
          </a:prstGeom>
          <a:noFill/>
          <a:ln/>
        </p:spPr>
        <p:txBody>
          <a:bodyPr wrap="square" rtlCol="0" anchor="ctr"/>
          <a:lstStyle/>
          <a:p>
            <a:pPr algn="ctr" indent="0" marL="0">
              <a:buNone/>
            </a:pPr>
            <a:r>
              <a:rPr lang="en-US" sz="2000" b="1" dirty="0">
                <a:solidFill>
                  <a:srgbClr val="16283B"/>
                </a:solidFill>
                <a:latin typeface="Courier New" pitchFamily="34" charset="0"/>
                <a:ea typeface="Courier New" pitchFamily="34" charset="-122"/>
                <a:cs typeface="Courier New" pitchFamily="34" charset="-120"/>
              </a:rPr>
              <a:t>30</a:t>
            </a:r>
            <a:endParaRPr lang="en-US" sz="2000" dirty="0"/>
          </a:p>
        </p:txBody>
      </p:sp>
      <p:sp>
        <p:nvSpPr>
          <p:cNvPr id="23" name="Text 20"/>
          <p:cNvSpPr/>
          <p:nvPr/>
        </p:nvSpPr>
        <p:spPr>
          <a:xfrm>
            <a:off x="6492240" y="3364992"/>
            <a:ext cx="1417320" cy="274320"/>
          </a:xfrm>
          <a:prstGeom prst="rect">
            <a:avLst/>
          </a:prstGeom>
          <a:noFill/>
          <a:ln/>
        </p:spPr>
        <p:txBody>
          <a:bodyPr wrap="square" rtlCol="0" anchor="ctr"/>
          <a:lstStyle/>
          <a:p>
            <a:pPr algn="ctr" indent="0" marL="0">
              <a:buNone/>
            </a:pPr>
            <a:r>
              <a:rPr lang="en-US" sz="1100" dirty="0">
                <a:solidFill>
                  <a:srgbClr val="5C7488"/>
                </a:solidFill>
                <a:latin typeface="Calibri" pitchFamily="34" charset="0"/>
                <a:ea typeface="Calibri" pitchFamily="34" charset="-122"/>
                <a:cs typeface="Calibri" pitchFamily="34" charset="-120"/>
              </a:rPr>
              <a:t>bucket 6</a:t>
            </a:r>
            <a:endParaRPr lang="en-US" sz="1100" dirty="0"/>
          </a:p>
        </p:txBody>
      </p:sp>
      <p:sp>
        <p:nvSpPr>
          <p:cNvPr id="24" name="Shape 21"/>
          <p:cNvSpPr/>
          <p:nvPr/>
        </p:nvSpPr>
        <p:spPr>
          <a:xfrm>
            <a:off x="8065008" y="2560320"/>
            <a:ext cx="1417320" cy="777240"/>
          </a:xfrm>
          <a:prstGeom prst="roundRect">
            <a:avLst>
              <a:gd name="adj" fmla="val 7059"/>
            </a:avLst>
          </a:prstGeom>
          <a:solidFill>
            <a:srgbClr val="F2B138"/>
          </a:solidFill>
          <a:ln/>
        </p:spPr>
      </p:sp>
      <p:sp>
        <p:nvSpPr>
          <p:cNvPr id="25" name="Text 22"/>
          <p:cNvSpPr/>
          <p:nvPr/>
        </p:nvSpPr>
        <p:spPr>
          <a:xfrm>
            <a:off x="8065008" y="2560320"/>
            <a:ext cx="1417320" cy="777240"/>
          </a:xfrm>
          <a:prstGeom prst="rect">
            <a:avLst/>
          </a:prstGeom>
          <a:noFill/>
          <a:ln/>
        </p:spPr>
        <p:txBody>
          <a:bodyPr wrap="square" rtlCol="0" anchor="ctr"/>
          <a:lstStyle/>
          <a:p>
            <a:pPr algn="ctr" indent="0" marL="0">
              <a:buNone/>
            </a:pPr>
            <a:r>
              <a:rPr lang="en-US" sz="2000" b="1" dirty="0">
                <a:solidFill>
                  <a:srgbClr val="16283B"/>
                </a:solidFill>
                <a:latin typeface="Courier New" pitchFamily="34" charset="0"/>
                <a:ea typeface="Courier New" pitchFamily="34" charset="-122"/>
                <a:cs typeface="Courier New" pitchFamily="34" charset="-120"/>
              </a:rPr>
              <a:t>10</a:t>
            </a:r>
            <a:endParaRPr lang="en-US" sz="2000" dirty="0"/>
          </a:p>
        </p:txBody>
      </p:sp>
      <p:sp>
        <p:nvSpPr>
          <p:cNvPr id="26" name="Text 23"/>
          <p:cNvSpPr/>
          <p:nvPr/>
        </p:nvSpPr>
        <p:spPr>
          <a:xfrm>
            <a:off x="8065008" y="3364992"/>
            <a:ext cx="1417320" cy="274320"/>
          </a:xfrm>
          <a:prstGeom prst="rect">
            <a:avLst/>
          </a:prstGeom>
          <a:noFill/>
          <a:ln/>
        </p:spPr>
        <p:txBody>
          <a:bodyPr wrap="square" rtlCol="0" anchor="ctr"/>
          <a:lstStyle/>
          <a:p>
            <a:pPr algn="ctr" indent="0" marL="0">
              <a:buNone/>
            </a:pPr>
            <a:r>
              <a:rPr lang="en-US" sz="1100" dirty="0">
                <a:solidFill>
                  <a:srgbClr val="5C7488"/>
                </a:solidFill>
                <a:latin typeface="Calibri" pitchFamily="34" charset="0"/>
                <a:ea typeface="Calibri" pitchFamily="34" charset="-122"/>
                <a:cs typeface="Calibri" pitchFamily="34" charset="-120"/>
              </a:rPr>
              <a:t>bucket 1</a:t>
            </a:r>
            <a:endParaRPr lang="en-US" sz="1100" dirty="0"/>
          </a:p>
        </p:txBody>
      </p:sp>
      <p:sp>
        <p:nvSpPr>
          <p:cNvPr id="27" name="Shape 24"/>
          <p:cNvSpPr/>
          <p:nvPr/>
        </p:nvSpPr>
        <p:spPr>
          <a:xfrm>
            <a:off x="9637776" y="2560320"/>
            <a:ext cx="1417320" cy="777240"/>
          </a:xfrm>
          <a:prstGeom prst="roundRect">
            <a:avLst>
              <a:gd name="adj" fmla="val 7059"/>
            </a:avLst>
          </a:prstGeom>
          <a:solidFill>
            <a:srgbClr val="F2B138"/>
          </a:solidFill>
          <a:ln/>
        </p:spPr>
      </p:sp>
      <p:sp>
        <p:nvSpPr>
          <p:cNvPr id="28" name="Text 25"/>
          <p:cNvSpPr/>
          <p:nvPr/>
        </p:nvSpPr>
        <p:spPr>
          <a:xfrm>
            <a:off x="9637776" y="2560320"/>
            <a:ext cx="1417320" cy="777240"/>
          </a:xfrm>
          <a:prstGeom prst="rect">
            <a:avLst/>
          </a:prstGeom>
          <a:noFill/>
          <a:ln/>
        </p:spPr>
        <p:txBody>
          <a:bodyPr wrap="square" rtlCol="0" anchor="ctr"/>
          <a:lstStyle/>
          <a:p>
            <a:pPr algn="ctr" indent="0" marL="0">
              <a:buNone/>
            </a:pPr>
            <a:r>
              <a:rPr lang="en-US" sz="2000" b="1" dirty="0">
                <a:solidFill>
                  <a:srgbClr val="16283B"/>
                </a:solidFill>
                <a:latin typeface="Courier New" pitchFamily="34" charset="0"/>
                <a:ea typeface="Courier New" pitchFamily="34" charset="-122"/>
                <a:cs typeface="Courier New" pitchFamily="34" charset="-120"/>
              </a:rPr>
              <a:t>20</a:t>
            </a:r>
            <a:endParaRPr lang="en-US" sz="2000" dirty="0"/>
          </a:p>
        </p:txBody>
      </p:sp>
      <p:sp>
        <p:nvSpPr>
          <p:cNvPr id="29" name="Text 26"/>
          <p:cNvSpPr/>
          <p:nvPr/>
        </p:nvSpPr>
        <p:spPr>
          <a:xfrm>
            <a:off x="9637776" y="3364992"/>
            <a:ext cx="1417320" cy="274320"/>
          </a:xfrm>
          <a:prstGeom prst="rect">
            <a:avLst/>
          </a:prstGeom>
          <a:noFill/>
          <a:ln/>
        </p:spPr>
        <p:txBody>
          <a:bodyPr wrap="square" rtlCol="0" anchor="ctr"/>
          <a:lstStyle/>
          <a:p>
            <a:pPr algn="ctr" indent="0" marL="0">
              <a:buNone/>
            </a:pPr>
            <a:r>
              <a:rPr lang="en-US" sz="1100" dirty="0">
                <a:solidFill>
                  <a:srgbClr val="5C7488"/>
                </a:solidFill>
                <a:latin typeface="Calibri" pitchFamily="34" charset="0"/>
                <a:ea typeface="Calibri" pitchFamily="34" charset="-122"/>
                <a:cs typeface="Calibri" pitchFamily="34" charset="-120"/>
              </a:rPr>
              <a:t>bucket 3</a:t>
            </a:r>
            <a:endParaRPr lang="en-US" sz="1100" dirty="0"/>
          </a:p>
        </p:txBody>
      </p:sp>
      <p:sp>
        <p:nvSpPr>
          <p:cNvPr id="30" name="Text 27"/>
          <p:cNvSpPr/>
          <p:nvPr/>
        </p:nvSpPr>
        <p:spPr>
          <a:xfrm>
            <a:off x="6492240" y="3977640"/>
            <a:ext cx="4937760" cy="1737360"/>
          </a:xfrm>
          <a:prstGeom prst="rect">
            <a:avLst/>
          </a:prstGeom>
          <a:noFill/>
          <a:ln/>
        </p:spPr>
        <p:txBody>
          <a:bodyPr wrap="square" rtlCol="0" anchor="t"/>
          <a:lstStyle/>
          <a:p>
            <a:pPr indent="0" marL="0">
              <a:lnSpc>
                <a:spcPct val="115000"/>
              </a:lnSpc>
              <a:buNone/>
            </a:pPr>
            <a:r>
              <a:rPr lang="en-US" sz="1450" dirty="0">
                <a:solidFill>
                  <a:srgbClr val="16283B"/>
                </a:solidFill>
                <a:latin typeface="Calibri" pitchFamily="34" charset="0"/>
                <a:ea typeface="Calibri" pitchFamily="34" charset="-122"/>
                <a:cs typeface="Calibri" pitchFamily="34" charset="-120"/>
              </a:rPr>
              <a:t>A set places each item in whatever bucket its hash points to. Position depends on the hash, not on insertion. </a:t>
            </a:r>
            <a:pPr indent="0" marL="0">
              <a:lnSpc>
                <a:spcPct val="115000"/>
              </a:lnSpc>
              <a:buNone/>
            </a:pPr>
            <a:r>
              <a:rPr lang="en-US" sz="1450" b="1" dirty="0">
                <a:solidFill>
                  <a:srgbClr val="F2B138"/>
                </a:solidFill>
                <a:latin typeface="Calibri" pitchFamily="34" charset="0"/>
                <a:ea typeface="Calibri" pitchFamily="34" charset="-122"/>
                <a:cs typeface="Calibri" pitchFamily="34" charset="-120"/>
              </a:rPr>
              <a:t>Order is never promised.</a:t>
            </a:r>
            <a:endParaRPr lang="en-US" sz="1450" dirty="0"/>
          </a:p>
        </p:txBody>
      </p:sp>
      <p:sp>
        <p:nvSpPr>
          <p:cNvPr id="31" name="Text 28"/>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32" name="Text 29"/>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10 · SET METHODS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Essential Set Methods</a:t>
            </a:r>
            <a:endParaRPr lang="en-US" sz="2600" dirty="0"/>
          </a:p>
        </p:txBody>
      </p:sp>
      <p:sp>
        <p:nvSpPr>
          <p:cNvPr id="6" name="Shape 3"/>
          <p:cNvSpPr/>
          <p:nvPr/>
        </p:nvSpPr>
        <p:spPr>
          <a:xfrm>
            <a:off x="548640" y="1371600"/>
            <a:ext cx="11091672" cy="457200"/>
          </a:xfrm>
          <a:prstGeom prst="roundRect">
            <a:avLst>
              <a:gd name="adj" fmla="val 10000"/>
            </a:avLst>
          </a:prstGeom>
          <a:solidFill>
            <a:srgbClr val="0A2540"/>
          </a:solidFill>
          <a:ln/>
        </p:spPr>
      </p:sp>
      <p:sp>
        <p:nvSpPr>
          <p:cNvPr id="7" name="Text 4"/>
          <p:cNvSpPr/>
          <p:nvPr/>
        </p:nvSpPr>
        <p:spPr>
          <a:xfrm>
            <a:off x="658368" y="1371600"/>
            <a:ext cx="15544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p>
        </p:txBody>
      </p:sp>
      <p:sp>
        <p:nvSpPr>
          <p:cNvPr id="8" name="Text 5"/>
          <p:cNvSpPr/>
          <p:nvPr/>
        </p:nvSpPr>
        <p:spPr>
          <a:xfrm>
            <a:off x="2395728" y="1371600"/>
            <a:ext cx="30175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p>
        </p:txBody>
      </p:sp>
      <p:sp>
        <p:nvSpPr>
          <p:cNvPr id="9" name="Text 6"/>
          <p:cNvSpPr/>
          <p:nvPr/>
        </p:nvSpPr>
        <p:spPr>
          <a:xfrm>
            <a:off x="5596128" y="1371600"/>
            <a:ext cx="246888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Example  (s = {1,2,3})</a:t>
            </a:r>
            <a:endParaRPr lang="en-US" sz="1300" dirty="0"/>
          </a:p>
        </p:txBody>
      </p:sp>
      <p:sp>
        <p:nvSpPr>
          <p:cNvPr id="10" name="Text 7"/>
          <p:cNvSpPr/>
          <p:nvPr/>
        </p:nvSpPr>
        <p:spPr>
          <a:xfrm>
            <a:off x="8247888" y="1371600"/>
            <a:ext cx="3319272"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p>
        </p:txBody>
      </p:sp>
      <p:sp>
        <p:nvSpPr>
          <p:cNvPr id="11" name="Shape 8"/>
          <p:cNvSpPr/>
          <p:nvPr/>
        </p:nvSpPr>
        <p:spPr>
          <a:xfrm>
            <a:off x="548640" y="1847088"/>
            <a:ext cx="11091672" cy="566928"/>
          </a:xfrm>
          <a:prstGeom prst="rect">
            <a:avLst/>
          </a:prstGeom>
          <a:solidFill>
            <a:srgbClr val="E8F1F9"/>
          </a:solidFill>
          <a:ln w="6350">
            <a:solidFill>
              <a:srgbClr val="E2E9F0"/>
            </a:solidFill>
            <a:prstDash val="solid"/>
          </a:ln>
        </p:spPr>
      </p:sp>
      <p:sp>
        <p:nvSpPr>
          <p:cNvPr id="12" name="Text 9"/>
          <p:cNvSpPr/>
          <p:nvPr/>
        </p:nvSpPr>
        <p:spPr>
          <a:xfrm>
            <a:off x="658368" y="1847088"/>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add(x)</a:t>
            </a:r>
            <a:endParaRPr lang="en-US" sz="1300" dirty="0"/>
          </a:p>
        </p:txBody>
      </p:sp>
      <p:sp>
        <p:nvSpPr>
          <p:cNvPr id="13" name="Text 10"/>
          <p:cNvSpPr/>
          <p:nvPr/>
        </p:nvSpPr>
        <p:spPr>
          <a:xfrm>
            <a:off x="2395728" y="1847088"/>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Insert one element</a:t>
            </a:r>
            <a:endParaRPr lang="en-US" sz="1250" dirty="0"/>
          </a:p>
        </p:txBody>
      </p:sp>
      <p:sp>
        <p:nvSpPr>
          <p:cNvPr id="14" name="Text 11"/>
          <p:cNvSpPr/>
          <p:nvPr/>
        </p:nvSpPr>
        <p:spPr>
          <a:xfrm>
            <a:off x="5596128" y="1847088"/>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s.add(4)</a:t>
            </a:r>
            <a:endParaRPr lang="en-US" sz="1200" dirty="0"/>
          </a:p>
        </p:txBody>
      </p:sp>
      <p:sp>
        <p:nvSpPr>
          <p:cNvPr id="15" name="Text 12"/>
          <p:cNvSpPr/>
          <p:nvPr/>
        </p:nvSpPr>
        <p:spPr>
          <a:xfrm>
            <a:off x="8247888" y="1847088"/>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{1,2,3,4}</a:t>
            </a:r>
            <a:endParaRPr lang="en-US" sz="1200" dirty="0"/>
          </a:p>
        </p:txBody>
      </p:sp>
      <p:sp>
        <p:nvSpPr>
          <p:cNvPr id="16" name="Shape 13"/>
          <p:cNvSpPr/>
          <p:nvPr/>
        </p:nvSpPr>
        <p:spPr>
          <a:xfrm>
            <a:off x="548640" y="2414016"/>
            <a:ext cx="11091672" cy="566928"/>
          </a:xfrm>
          <a:prstGeom prst="rect">
            <a:avLst/>
          </a:prstGeom>
          <a:solidFill>
            <a:srgbClr val="FFFFFF"/>
          </a:solidFill>
          <a:ln w="6350">
            <a:solidFill>
              <a:srgbClr val="E2E9F0"/>
            </a:solidFill>
            <a:prstDash val="solid"/>
          </a:ln>
        </p:spPr>
      </p:sp>
      <p:sp>
        <p:nvSpPr>
          <p:cNvPr id="17" name="Text 14"/>
          <p:cNvSpPr/>
          <p:nvPr/>
        </p:nvSpPr>
        <p:spPr>
          <a:xfrm>
            <a:off x="658368" y="2414016"/>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update(it)</a:t>
            </a:r>
            <a:endParaRPr lang="en-US" sz="1300" dirty="0"/>
          </a:p>
        </p:txBody>
      </p:sp>
      <p:sp>
        <p:nvSpPr>
          <p:cNvPr id="18" name="Text 15"/>
          <p:cNvSpPr/>
          <p:nvPr/>
        </p:nvSpPr>
        <p:spPr>
          <a:xfrm>
            <a:off x="2395728" y="2414016"/>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Insert many elements</a:t>
            </a:r>
            <a:endParaRPr lang="en-US" sz="1250" dirty="0"/>
          </a:p>
        </p:txBody>
      </p:sp>
      <p:sp>
        <p:nvSpPr>
          <p:cNvPr id="19" name="Text 16"/>
          <p:cNvSpPr/>
          <p:nvPr/>
        </p:nvSpPr>
        <p:spPr>
          <a:xfrm>
            <a:off x="5596128" y="2414016"/>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s.update([4,5])</a:t>
            </a:r>
            <a:endParaRPr lang="en-US" sz="1200" dirty="0"/>
          </a:p>
        </p:txBody>
      </p:sp>
      <p:sp>
        <p:nvSpPr>
          <p:cNvPr id="20" name="Text 17"/>
          <p:cNvSpPr/>
          <p:nvPr/>
        </p:nvSpPr>
        <p:spPr>
          <a:xfrm>
            <a:off x="8247888" y="2414016"/>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{1,2,3,4,5}</a:t>
            </a:r>
            <a:endParaRPr lang="en-US" sz="1200" dirty="0"/>
          </a:p>
        </p:txBody>
      </p:sp>
      <p:sp>
        <p:nvSpPr>
          <p:cNvPr id="21" name="Shape 18"/>
          <p:cNvSpPr/>
          <p:nvPr/>
        </p:nvSpPr>
        <p:spPr>
          <a:xfrm>
            <a:off x="548640" y="2980944"/>
            <a:ext cx="11091672" cy="566928"/>
          </a:xfrm>
          <a:prstGeom prst="rect">
            <a:avLst/>
          </a:prstGeom>
          <a:solidFill>
            <a:srgbClr val="E8F1F9"/>
          </a:solidFill>
          <a:ln w="6350">
            <a:solidFill>
              <a:srgbClr val="E2E9F0"/>
            </a:solidFill>
            <a:prstDash val="solid"/>
          </a:ln>
        </p:spPr>
      </p:sp>
      <p:sp>
        <p:nvSpPr>
          <p:cNvPr id="22" name="Text 19"/>
          <p:cNvSpPr/>
          <p:nvPr/>
        </p:nvSpPr>
        <p:spPr>
          <a:xfrm>
            <a:off x="658368" y="2980944"/>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remove(x)</a:t>
            </a:r>
            <a:endParaRPr lang="en-US" sz="1300" dirty="0"/>
          </a:p>
        </p:txBody>
      </p:sp>
      <p:sp>
        <p:nvSpPr>
          <p:cNvPr id="23" name="Text 20"/>
          <p:cNvSpPr/>
          <p:nvPr/>
        </p:nvSpPr>
        <p:spPr>
          <a:xfrm>
            <a:off x="2395728" y="2980944"/>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Delete x — errors if missing</a:t>
            </a:r>
            <a:endParaRPr lang="en-US" sz="1250" dirty="0"/>
          </a:p>
        </p:txBody>
      </p:sp>
      <p:sp>
        <p:nvSpPr>
          <p:cNvPr id="24" name="Text 21"/>
          <p:cNvSpPr/>
          <p:nvPr/>
        </p:nvSpPr>
        <p:spPr>
          <a:xfrm>
            <a:off x="5596128" y="2980944"/>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s.remove(2)</a:t>
            </a:r>
            <a:endParaRPr lang="en-US" sz="1200" dirty="0"/>
          </a:p>
        </p:txBody>
      </p:sp>
      <p:sp>
        <p:nvSpPr>
          <p:cNvPr id="25" name="Text 22"/>
          <p:cNvSpPr/>
          <p:nvPr/>
        </p:nvSpPr>
        <p:spPr>
          <a:xfrm>
            <a:off x="8247888" y="2980944"/>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{1,3}</a:t>
            </a:r>
            <a:endParaRPr lang="en-US" sz="1200" dirty="0"/>
          </a:p>
        </p:txBody>
      </p:sp>
      <p:sp>
        <p:nvSpPr>
          <p:cNvPr id="26" name="Shape 23"/>
          <p:cNvSpPr/>
          <p:nvPr/>
        </p:nvSpPr>
        <p:spPr>
          <a:xfrm>
            <a:off x="548640" y="3547872"/>
            <a:ext cx="11091672" cy="566928"/>
          </a:xfrm>
          <a:prstGeom prst="rect">
            <a:avLst/>
          </a:prstGeom>
          <a:solidFill>
            <a:srgbClr val="FFFFFF"/>
          </a:solidFill>
          <a:ln w="6350">
            <a:solidFill>
              <a:srgbClr val="E2E9F0"/>
            </a:solidFill>
            <a:prstDash val="solid"/>
          </a:ln>
        </p:spPr>
      </p:sp>
      <p:sp>
        <p:nvSpPr>
          <p:cNvPr id="27" name="Text 24"/>
          <p:cNvSpPr/>
          <p:nvPr/>
        </p:nvSpPr>
        <p:spPr>
          <a:xfrm>
            <a:off x="658368" y="3547872"/>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discard(x)</a:t>
            </a:r>
            <a:endParaRPr lang="en-US" sz="1300" dirty="0"/>
          </a:p>
        </p:txBody>
      </p:sp>
      <p:sp>
        <p:nvSpPr>
          <p:cNvPr id="28" name="Text 25"/>
          <p:cNvSpPr/>
          <p:nvPr/>
        </p:nvSpPr>
        <p:spPr>
          <a:xfrm>
            <a:off x="2395728" y="3547872"/>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Delete x — safe if missing</a:t>
            </a:r>
            <a:endParaRPr lang="en-US" sz="1250" dirty="0"/>
          </a:p>
        </p:txBody>
      </p:sp>
      <p:sp>
        <p:nvSpPr>
          <p:cNvPr id="29" name="Text 26"/>
          <p:cNvSpPr/>
          <p:nvPr/>
        </p:nvSpPr>
        <p:spPr>
          <a:xfrm>
            <a:off x="5596128" y="3547872"/>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s.discard(9)</a:t>
            </a:r>
            <a:endParaRPr lang="en-US" sz="1200" dirty="0"/>
          </a:p>
        </p:txBody>
      </p:sp>
      <p:sp>
        <p:nvSpPr>
          <p:cNvPr id="30" name="Text 27"/>
          <p:cNvSpPr/>
          <p:nvPr/>
        </p:nvSpPr>
        <p:spPr>
          <a:xfrm>
            <a:off x="8247888" y="3547872"/>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{1,2,3}</a:t>
            </a:r>
            <a:endParaRPr lang="en-US" sz="1200" dirty="0"/>
          </a:p>
        </p:txBody>
      </p:sp>
      <p:sp>
        <p:nvSpPr>
          <p:cNvPr id="31" name="Shape 28"/>
          <p:cNvSpPr/>
          <p:nvPr/>
        </p:nvSpPr>
        <p:spPr>
          <a:xfrm>
            <a:off x="548640" y="4114800"/>
            <a:ext cx="11091672" cy="566928"/>
          </a:xfrm>
          <a:prstGeom prst="rect">
            <a:avLst/>
          </a:prstGeom>
          <a:solidFill>
            <a:srgbClr val="E8F1F9"/>
          </a:solidFill>
          <a:ln w="6350">
            <a:solidFill>
              <a:srgbClr val="E2E9F0"/>
            </a:solidFill>
            <a:prstDash val="solid"/>
          </a:ln>
        </p:spPr>
      </p:sp>
      <p:sp>
        <p:nvSpPr>
          <p:cNvPr id="32" name="Text 29"/>
          <p:cNvSpPr/>
          <p:nvPr/>
        </p:nvSpPr>
        <p:spPr>
          <a:xfrm>
            <a:off x="658368" y="4114800"/>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pop()</a:t>
            </a:r>
            <a:endParaRPr lang="en-US" sz="1300" dirty="0"/>
          </a:p>
        </p:txBody>
      </p:sp>
      <p:sp>
        <p:nvSpPr>
          <p:cNvPr id="33" name="Text 30"/>
          <p:cNvSpPr/>
          <p:nvPr/>
        </p:nvSpPr>
        <p:spPr>
          <a:xfrm>
            <a:off x="2395728" y="4114800"/>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Remove an arbitrary element</a:t>
            </a:r>
            <a:endParaRPr lang="en-US" sz="1250" dirty="0"/>
          </a:p>
        </p:txBody>
      </p:sp>
      <p:sp>
        <p:nvSpPr>
          <p:cNvPr id="34" name="Text 31"/>
          <p:cNvSpPr/>
          <p:nvPr/>
        </p:nvSpPr>
        <p:spPr>
          <a:xfrm>
            <a:off x="5596128" y="4114800"/>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s.pop()</a:t>
            </a:r>
            <a:endParaRPr lang="en-US" sz="1200" dirty="0"/>
          </a:p>
        </p:txBody>
      </p:sp>
      <p:sp>
        <p:nvSpPr>
          <p:cNvPr id="35" name="Text 32"/>
          <p:cNvSpPr/>
          <p:nvPr/>
        </p:nvSpPr>
        <p:spPr>
          <a:xfrm>
            <a:off x="8247888" y="4114800"/>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returns 1</a:t>
            </a:r>
            <a:endParaRPr lang="en-US" sz="1200" dirty="0"/>
          </a:p>
        </p:txBody>
      </p:sp>
      <p:sp>
        <p:nvSpPr>
          <p:cNvPr id="36" name="Shape 33"/>
          <p:cNvSpPr/>
          <p:nvPr/>
        </p:nvSpPr>
        <p:spPr>
          <a:xfrm>
            <a:off x="548640" y="4681728"/>
            <a:ext cx="11091672" cy="566928"/>
          </a:xfrm>
          <a:prstGeom prst="rect">
            <a:avLst/>
          </a:prstGeom>
          <a:solidFill>
            <a:srgbClr val="FFFFFF"/>
          </a:solidFill>
          <a:ln w="6350">
            <a:solidFill>
              <a:srgbClr val="E2E9F0"/>
            </a:solidFill>
            <a:prstDash val="solid"/>
          </a:ln>
        </p:spPr>
      </p:sp>
      <p:sp>
        <p:nvSpPr>
          <p:cNvPr id="37" name="Text 34"/>
          <p:cNvSpPr/>
          <p:nvPr/>
        </p:nvSpPr>
        <p:spPr>
          <a:xfrm>
            <a:off x="658368" y="4681728"/>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clear()</a:t>
            </a:r>
            <a:endParaRPr lang="en-US" sz="1300" dirty="0"/>
          </a:p>
        </p:txBody>
      </p:sp>
      <p:sp>
        <p:nvSpPr>
          <p:cNvPr id="38" name="Text 35"/>
          <p:cNvSpPr/>
          <p:nvPr/>
        </p:nvSpPr>
        <p:spPr>
          <a:xfrm>
            <a:off x="2395728" y="4681728"/>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Empty the set</a:t>
            </a:r>
            <a:endParaRPr lang="en-US" sz="1250" dirty="0"/>
          </a:p>
        </p:txBody>
      </p:sp>
      <p:sp>
        <p:nvSpPr>
          <p:cNvPr id="39" name="Text 36"/>
          <p:cNvSpPr/>
          <p:nvPr/>
        </p:nvSpPr>
        <p:spPr>
          <a:xfrm>
            <a:off x="5596128" y="4681728"/>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s.clear()</a:t>
            </a:r>
            <a:endParaRPr lang="en-US" sz="1200" dirty="0"/>
          </a:p>
        </p:txBody>
      </p:sp>
      <p:sp>
        <p:nvSpPr>
          <p:cNvPr id="40" name="Text 37"/>
          <p:cNvSpPr/>
          <p:nvPr/>
        </p:nvSpPr>
        <p:spPr>
          <a:xfrm>
            <a:off x="8247888" y="4681728"/>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set()</a:t>
            </a:r>
            <a:endParaRPr lang="en-US" sz="1200" dirty="0"/>
          </a:p>
        </p:txBody>
      </p:sp>
      <p:sp>
        <p:nvSpPr>
          <p:cNvPr id="41" name="Shape 38"/>
          <p:cNvSpPr/>
          <p:nvPr/>
        </p:nvSpPr>
        <p:spPr>
          <a:xfrm>
            <a:off x="548640" y="5248656"/>
            <a:ext cx="11091672" cy="566928"/>
          </a:xfrm>
          <a:prstGeom prst="rect">
            <a:avLst/>
          </a:prstGeom>
          <a:solidFill>
            <a:srgbClr val="E8F1F9"/>
          </a:solidFill>
          <a:ln w="6350">
            <a:solidFill>
              <a:srgbClr val="E2E9F0"/>
            </a:solidFill>
            <a:prstDash val="solid"/>
          </a:ln>
        </p:spPr>
      </p:sp>
      <p:sp>
        <p:nvSpPr>
          <p:cNvPr id="42" name="Text 39"/>
          <p:cNvSpPr/>
          <p:nvPr/>
        </p:nvSpPr>
        <p:spPr>
          <a:xfrm>
            <a:off x="658368" y="5248656"/>
            <a:ext cx="1554480" cy="566928"/>
          </a:xfrm>
          <a:prstGeom prst="rect">
            <a:avLst/>
          </a:prstGeom>
          <a:noFill/>
          <a:ln/>
        </p:spPr>
        <p:txBody>
          <a:bodyPr wrap="square" rtlCol="0" anchor="ctr"/>
          <a:lstStyle/>
          <a:p>
            <a:pPr indent="0" marL="0">
              <a:buNone/>
            </a:pPr>
            <a:r>
              <a:rPr lang="en-US" sz="1300" b="1" dirty="0">
                <a:solidFill>
                  <a:srgbClr val="1C5D99"/>
                </a:solidFill>
                <a:latin typeface="Courier New" pitchFamily="34" charset="0"/>
                <a:ea typeface="Courier New" pitchFamily="34" charset="-122"/>
                <a:cs typeface="Courier New" pitchFamily="34" charset="-120"/>
              </a:rPr>
              <a:t>copy()</a:t>
            </a:r>
            <a:endParaRPr lang="en-US" sz="1300" dirty="0"/>
          </a:p>
        </p:txBody>
      </p:sp>
      <p:sp>
        <p:nvSpPr>
          <p:cNvPr id="43" name="Text 40"/>
          <p:cNvSpPr/>
          <p:nvPr/>
        </p:nvSpPr>
        <p:spPr>
          <a:xfrm>
            <a:off x="2395728" y="5248656"/>
            <a:ext cx="3017520" cy="566928"/>
          </a:xfrm>
          <a:prstGeom prst="rect">
            <a:avLst/>
          </a:prstGeom>
          <a:noFill/>
          <a:ln/>
        </p:spPr>
        <p:txBody>
          <a:bodyPr wrap="square" rtlCol="0" anchor="ctr"/>
          <a:lstStyle/>
          <a:p>
            <a:pPr indent="0" marL="0">
              <a:buNone/>
            </a:pPr>
            <a:r>
              <a:rPr lang="en-US" sz="1250" dirty="0">
                <a:solidFill>
                  <a:srgbClr val="16283B"/>
                </a:solidFill>
                <a:latin typeface="Calibri" pitchFamily="34" charset="0"/>
                <a:ea typeface="Calibri" pitchFamily="34" charset="-122"/>
                <a:cs typeface="Calibri" pitchFamily="34" charset="-120"/>
              </a:rPr>
              <a:t>Make a shallow copy</a:t>
            </a:r>
            <a:endParaRPr lang="en-US" sz="1250" dirty="0"/>
          </a:p>
        </p:txBody>
      </p:sp>
      <p:sp>
        <p:nvSpPr>
          <p:cNvPr id="44" name="Text 41"/>
          <p:cNvSpPr/>
          <p:nvPr/>
        </p:nvSpPr>
        <p:spPr>
          <a:xfrm>
            <a:off x="5596128" y="5248656"/>
            <a:ext cx="2468880" cy="566928"/>
          </a:xfrm>
          <a:prstGeom prst="rect">
            <a:avLst/>
          </a:prstGeom>
          <a:noFill/>
          <a:ln/>
        </p:spPr>
        <p:txBody>
          <a:bodyPr wrap="square" rtlCol="0" anchor="ctr"/>
          <a:lstStyle/>
          <a:p>
            <a:pPr indent="0" marL="0">
              <a:buNone/>
            </a:pPr>
            <a:r>
              <a:rPr lang="en-US" sz="1200" dirty="0">
                <a:solidFill>
                  <a:srgbClr val="0A2540"/>
                </a:solidFill>
                <a:latin typeface="Courier New" pitchFamily="34" charset="0"/>
                <a:ea typeface="Courier New" pitchFamily="34" charset="-122"/>
                <a:cs typeface="Courier New" pitchFamily="34" charset="-120"/>
              </a:rPr>
              <a:t>t = s.copy()</a:t>
            </a:r>
            <a:endParaRPr lang="en-US" sz="1200" dirty="0"/>
          </a:p>
        </p:txBody>
      </p:sp>
      <p:sp>
        <p:nvSpPr>
          <p:cNvPr id="45" name="Text 42"/>
          <p:cNvSpPr/>
          <p:nvPr/>
        </p:nvSpPr>
        <p:spPr>
          <a:xfrm>
            <a:off x="8247888" y="5248656"/>
            <a:ext cx="3319272" cy="566928"/>
          </a:xfrm>
          <a:prstGeom prst="rect">
            <a:avLst/>
          </a:prstGeom>
          <a:noFill/>
          <a:ln/>
        </p:spPr>
        <p:txBody>
          <a:bodyPr wrap="square" rtlCol="0" anchor="ctr"/>
          <a:lstStyle/>
          <a:p>
            <a:pPr indent="0" marL="0">
              <a:buNone/>
            </a:pPr>
            <a:r>
              <a:rPr lang="en-US" sz="1200" b="1" dirty="0">
                <a:solidFill>
                  <a:srgbClr val="2E9E6B"/>
                </a:solidFill>
                <a:latin typeface="Courier New" pitchFamily="34" charset="0"/>
                <a:ea typeface="Courier New" pitchFamily="34" charset="-122"/>
                <a:cs typeface="Courier New" pitchFamily="34" charset="-120"/>
              </a:rPr>
              <a:t>{1,2,3}</a:t>
            </a:r>
            <a:endParaRPr lang="en-US" sz="1200" dirty="0"/>
          </a:p>
        </p:txBody>
      </p:sp>
      <p:sp>
        <p:nvSpPr>
          <p:cNvPr id="46" name="Text 43"/>
          <p:cNvSpPr/>
          <p:nvPr/>
        </p:nvSpPr>
        <p:spPr>
          <a:xfrm>
            <a:off x="548640" y="5925312"/>
            <a:ext cx="11091672" cy="457200"/>
          </a:xfrm>
          <a:prstGeom prst="rect">
            <a:avLst/>
          </a:prstGeom>
          <a:noFill/>
          <a:ln/>
        </p:spPr>
        <p:txBody>
          <a:bodyPr wrap="square" rtlCol="0" anchor="ctr"/>
          <a:lstStyle/>
          <a:p>
            <a:pPr indent="0" marL="0">
              <a:buNone/>
            </a:pPr>
            <a:r>
              <a:rPr lang="en-US" sz="1250" b="1" i="1" dirty="0">
                <a:solidFill>
                  <a:srgbClr val="E1674C"/>
                </a:solidFill>
                <a:latin typeface="Calibri" pitchFamily="34" charset="0"/>
                <a:ea typeface="Calibri" pitchFamily="34" charset="-122"/>
                <a:cs typeface="Calibri" pitchFamily="34" charset="-120"/>
              </a:rPr>
              <a:t>remember:  </a:t>
            </a:r>
            <a:pPr indent="0" marL="0">
              <a:buNone/>
            </a:pPr>
            <a:r>
              <a:rPr lang="en-US" sz="1250" i="1" dirty="0">
                <a:solidFill>
                  <a:srgbClr val="16283B"/>
                </a:solidFill>
                <a:latin typeface="Calibri" pitchFamily="34" charset="0"/>
                <a:ea typeface="Calibri" pitchFamily="34" charset="-122"/>
                <a:cs typeface="Calibri" pitchFamily="34" charset="-120"/>
              </a:rPr>
              <a:t>remove() raises KeyError if the item is absent, while discard() stays silent — that's the key difference examiners love to ask.</a:t>
            </a:r>
            <a:endParaRPr lang="en-US" sz="1250" dirty="0"/>
          </a:p>
        </p:txBody>
      </p:sp>
      <p:sp>
        <p:nvSpPr>
          <p:cNvPr id="47" name="Text 44"/>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8" name="Text 45"/>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11 · SET OPERATIONS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Union &amp; Intersection</a:t>
            </a:r>
            <a:endParaRPr lang="en-US" sz="2600" dirty="0"/>
          </a:p>
        </p:txBody>
      </p:sp>
      <p:sp>
        <p:nvSpPr>
          <p:cNvPr id="6" name="Shape 3"/>
          <p:cNvSpPr/>
          <p:nvPr/>
        </p:nvSpPr>
        <p:spPr>
          <a:xfrm>
            <a:off x="548640" y="1417320"/>
            <a:ext cx="5394960" cy="4434840"/>
          </a:xfrm>
          <a:prstGeom prst="roundRect">
            <a:avLst>
              <a:gd name="adj" fmla="val 1856"/>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7" name="Text 4"/>
          <p:cNvSpPr/>
          <p:nvPr/>
        </p:nvSpPr>
        <p:spPr>
          <a:xfrm>
            <a:off x="777240" y="1554480"/>
            <a:ext cx="4937760" cy="365760"/>
          </a:xfrm>
          <a:prstGeom prst="rect">
            <a:avLst/>
          </a:prstGeom>
          <a:noFill/>
          <a:ln/>
        </p:spPr>
        <p:txBody>
          <a:bodyPr wrap="square" rtlCol="0" anchor="ctr"/>
          <a:lstStyle/>
          <a:p>
            <a:pPr indent="0" marL="0">
              <a:buNone/>
            </a:pPr>
            <a:r>
              <a:rPr lang="en-US" sz="1700" b="1" dirty="0">
                <a:solidFill>
                  <a:srgbClr val="1C5D99"/>
                </a:solidFill>
                <a:latin typeface="Calibri" pitchFamily="34" charset="0"/>
                <a:ea typeface="Calibri" pitchFamily="34" charset="-122"/>
                <a:cs typeface="Calibri" pitchFamily="34" charset="-120"/>
              </a:rPr>
              <a:t>Union   A | B</a:t>
            </a:r>
            <a:endParaRPr lang="en-US" sz="1700" dirty="0"/>
          </a:p>
        </p:txBody>
      </p:sp>
      <p:sp>
        <p:nvSpPr>
          <p:cNvPr id="8" name="Text 5"/>
          <p:cNvSpPr/>
          <p:nvPr/>
        </p:nvSpPr>
        <p:spPr>
          <a:xfrm>
            <a:off x="777240" y="1920240"/>
            <a:ext cx="4937760" cy="274320"/>
          </a:xfrm>
          <a:prstGeom prst="rect">
            <a:avLst/>
          </a:prstGeom>
          <a:noFill/>
          <a:ln/>
        </p:spPr>
        <p:txBody>
          <a:bodyPr wrap="square" rtlCol="0" anchor="ctr"/>
          <a:lstStyle/>
          <a:p>
            <a:pPr indent="0" marL="0">
              <a:buNone/>
            </a:pPr>
            <a:r>
              <a:rPr lang="en-US" sz="1200" i="1" dirty="0">
                <a:solidFill>
                  <a:srgbClr val="5C7488"/>
                </a:solidFill>
                <a:latin typeface="Calibri" pitchFamily="34" charset="0"/>
                <a:ea typeface="Calibri" pitchFamily="34" charset="-122"/>
                <a:cs typeface="Calibri" pitchFamily="34" charset="-120"/>
              </a:rPr>
              <a:t>Everything in either set</a:t>
            </a:r>
            <a:endParaRPr lang="en-US" sz="1200" dirty="0"/>
          </a:p>
        </p:txBody>
      </p:sp>
      <p:sp>
        <p:nvSpPr>
          <p:cNvPr id="9" name="Shape 6"/>
          <p:cNvSpPr/>
          <p:nvPr/>
        </p:nvSpPr>
        <p:spPr>
          <a:xfrm>
            <a:off x="1463040" y="2286000"/>
            <a:ext cx="1737360" cy="1737360"/>
          </a:xfrm>
          <a:prstGeom prst="ellipse">
            <a:avLst/>
          </a:prstGeom>
          <a:solidFill>
            <a:srgbClr val="1C5D99">
              <a:alpha val="75000"/>
            </a:srgbClr>
          </a:solidFill>
          <a:ln w="19050">
            <a:solidFill>
              <a:srgbClr val="0A2540"/>
            </a:solidFill>
            <a:prstDash val="solid"/>
          </a:ln>
        </p:spPr>
      </p:sp>
      <p:sp>
        <p:nvSpPr>
          <p:cNvPr id="10" name="Shape 7"/>
          <p:cNvSpPr/>
          <p:nvPr/>
        </p:nvSpPr>
        <p:spPr>
          <a:xfrm>
            <a:off x="2514600" y="2286000"/>
            <a:ext cx="1737360" cy="1737360"/>
          </a:xfrm>
          <a:prstGeom prst="ellipse">
            <a:avLst/>
          </a:prstGeom>
          <a:solidFill>
            <a:srgbClr val="F2B138">
              <a:alpha val="75000"/>
            </a:srgbClr>
          </a:solidFill>
          <a:ln w="19050">
            <a:solidFill>
              <a:srgbClr val="C88A1E"/>
            </a:solidFill>
            <a:prstDash val="solid"/>
          </a:ln>
        </p:spPr>
      </p:sp>
      <p:sp>
        <p:nvSpPr>
          <p:cNvPr id="11" name="Text 8"/>
          <p:cNvSpPr/>
          <p:nvPr/>
        </p:nvSpPr>
        <p:spPr>
          <a:xfrm>
            <a:off x="1600200" y="292608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p:nvPr/>
        </p:nvSpPr>
        <p:spPr>
          <a:xfrm>
            <a:off x="3657600" y="2926080"/>
            <a:ext cx="457200" cy="45720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B</a:t>
            </a:r>
            <a:endParaRPr lang="en-US" sz="1500" dirty="0"/>
          </a:p>
        </p:txBody>
      </p:sp>
      <p:sp>
        <p:nvSpPr>
          <p:cNvPr id="13" name="Shape 10"/>
          <p:cNvSpPr/>
          <p:nvPr/>
        </p:nvSpPr>
        <p:spPr>
          <a:xfrm>
            <a:off x="777240" y="4206240"/>
            <a:ext cx="4846320" cy="1417320"/>
          </a:xfrm>
          <a:prstGeom prst="roundRect">
            <a:avLst>
              <a:gd name="adj" fmla="val 3871"/>
            </a:avLst>
          </a:prstGeom>
          <a:solidFill>
            <a:srgbClr val="0E2E4A"/>
          </a:solidFill>
          <a:ln/>
          <a:effectLst>
            <a:outerShdw sx="100000" sy="100000" kx="0" ky="0" algn="bl" rotWithShape="0" blurRad="63500" dist="25400" dir="5400000">
              <a:srgbClr val="000000">
                <a:alpha val="18000"/>
              </a:srgbClr>
            </a:outerShdw>
          </a:effectLst>
        </p:spPr>
      </p:sp>
      <p:sp>
        <p:nvSpPr>
          <p:cNvPr id="14" name="Text 11"/>
          <p:cNvSpPr/>
          <p:nvPr/>
        </p:nvSpPr>
        <p:spPr>
          <a:xfrm>
            <a:off x="960120" y="4315968"/>
            <a:ext cx="4480560" cy="1197864"/>
          </a:xfrm>
          <a:prstGeom prst="rect">
            <a:avLst/>
          </a:prstGeom>
          <a:noFill/>
          <a:ln/>
        </p:spPr>
        <p:txBody>
          <a:bodyPr wrap="square" rtlCol="0" anchor="t"/>
          <a:lstStyle/>
          <a:p>
            <a:pPr algn="l" indent="0" marL="0">
              <a:lnSpc>
                <a:spcPct val="115000"/>
              </a:lnSpc>
              <a:buNone/>
            </a:pPr>
            <a:r>
              <a:rPr lang="en-US" sz="1250" dirty="0">
                <a:solidFill>
                  <a:srgbClr val="8FB6D6"/>
                </a:solidFill>
                <a:latin typeface="Courier New" pitchFamily="34" charset="0"/>
                <a:ea typeface="Courier New" pitchFamily="34" charset="-122"/>
                <a:cs typeface="Courier New" pitchFamily="34" charset="-120"/>
              </a:rPr>
              <a:t>A = {1,2,3}   B = {3,4,5}</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A | B</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{1, 2, 3, 4, 5}</a:t>
            </a:r>
            <a:endParaRPr lang="en-US" sz="1250" dirty="0"/>
          </a:p>
        </p:txBody>
      </p:sp>
      <p:sp>
        <p:nvSpPr>
          <p:cNvPr id="15" name="Shape 12"/>
          <p:cNvSpPr/>
          <p:nvPr/>
        </p:nvSpPr>
        <p:spPr>
          <a:xfrm>
            <a:off x="6217920" y="1417320"/>
            <a:ext cx="5422392" cy="4434840"/>
          </a:xfrm>
          <a:prstGeom prst="roundRect">
            <a:avLst>
              <a:gd name="adj" fmla="val 1856"/>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6" name="Text 13"/>
          <p:cNvSpPr/>
          <p:nvPr/>
        </p:nvSpPr>
        <p:spPr>
          <a:xfrm>
            <a:off x="6446520" y="1554480"/>
            <a:ext cx="4937760" cy="365760"/>
          </a:xfrm>
          <a:prstGeom prst="rect">
            <a:avLst/>
          </a:prstGeom>
          <a:noFill/>
          <a:ln/>
        </p:spPr>
        <p:txBody>
          <a:bodyPr wrap="square" rtlCol="0" anchor="ctr"/>
          <a:lstStyle/>
          <a:p>
            <a:pPr indent="0" marL="0">
              <a:buNone/>
            </a:pPr>
            <a:r>
              <a:rPr lang="en-US" sz="1700" b="1" dirty="0">
                <a:solidFill>
                  <a:srgbClr val="F2B138"/>
                </a:solidFill>
                <a:latin typeface="Calibri" pitchFamily="34" charset="0"/>
                <a:ea typeface="Calibri" pitchFamily="34" charset="-122"/>
                <a:cs typeface="Calibri" pitchFamily="34" charset="-120"/>
              </a:rPr>
              <a:t>Intersection   A &amp; B</a:t>
            </a:r>
            <a:endParaRPr lang="en-US" sz="1700" dirty="0"/>
          </a:p>
        </p:txBody>
      </p:sp>
      <p:sp>
        <p:nvSpPr>
          <p:cNvPr id="17" name="Text 14"/>
          <p:cNvSpPr/>
          <p:nvPr/>
        </p:nvSpPr>
        <p:spPr>
          <a:xfrm>
            <a:off x="6446520" y="1920240"/>
            <a:ext cx="4937760" cy="274320"/>
          </a:xfrm>
          <a:prstGeom prst="rect">
            <a:avLst/>
          </a:prstGeom>
          <a:noFill/>
          <a:ln/>
        </p:spPr>
        <p:txBody>
          <a:bodyPr wrap="square" rtlCol="0" anchor="ctr"/>
          <a:lstStyle/>
          <a:p>
            <a:pPr indent="0" marL="0">
              <a:buNone/>
            </a:pPr>
            <a:r>
              <a:rPr lang="en-US" sz="1200" i="1" dirty="0">
                <a:solidFill>
                  <a:srgbClr val="5C7488"/>
                </a:solidFill>
                <a:latin typeface="Calibri" pitchFamily="34" charset="0"/>
                <a:ea typeface="Calibri" pitchFamily="34" charset="-122"/>
                <a:cs typeface="Calibri" pitchFamily="34" charset="-120"/>
              </a:rPr>
              <a:t>Only what's in both sets</a:t>
            </a:r>
            <a:endParaRPr lang="en-US" sz="1200" dirty="0"/>
          </a:p>
        </p:txBody>
      </p:sp>
      <p:sp>
        <p:nvSpPr>
          <p:cNvPr id="18" name="Shape 15"/>
          <p:cNvSpPr/>
          <p:nvPr/>
        </p:nvSpPr>
        <p:spPr>
          <a:xfrm>
            <a:off x="7132320" y="2286000"/>
            <a:ext cx="1737360" cy="1737360"/>
          </a:xfrm>
          <a:prstGeom prst="ellipse">
            <a:avLst/>
          </a:prstGeom>
          <a:solidFill>
            <a:srgbClr val="1C5D99">
              <a:alpha val="40000"/>
            </a:srgbClr>
          </a:solidFill>
          <a:ln w="19050">
            <a:solidFill>
              <a:srgbClr val="0A2540"/>
            </a:solidFill>
            <a:prstDash val="solid"/>
          </a:ln>
        </p:spPr>
      </p:sp>
      <p:sp>
        <p:nvSpPr>
          <p:cNvPr id="19" name="Shape 16"/>
          <p:cNvSpPr/>
          <p:nvPr/>
        </p:nvSpPr>
        <p:spPr>
          <a:xfrm>
            <a:off x="8183880" y="2286000"/>
            <a:ext cx="1737360" cy="1737360"/>
          </a:xfrm>
          <a:prstGeom prst="ellipse">
            <a:avLst/>
          </a:prstGeom>
          <a:solidFill>
            <a:srgbClr val="F2B138">
              <a:alpha val="40000"/>
            </a:srgbClr>
          </a:solidFill>
          <a:ln w="19050">
            <a:solidFill>
              <a:srgbClr val="C88A1E"/>
            </a:solidFill>
            <a:prstDash val="solid"/>
          </a:ln>
        </p:spPr>
      </p:sp>
      <p:sp>
        <p:nvSpPr>
          <p:cNvPr id="20" name="Shape 17"/>
          <p:cNvSpPr/>
          <p:nvPr/>
        </p:nvSpPr>
        <p:spPr>
          <a:xfrm>
            <a:off x="8183880" y="2286000"/>
            <a:ext cx="685800" cy="1737360"/>
          </a:xfrm>
          <a:prstGeom prst="ellipse">
            <a:avLst/>
          </a:prstGeom>
          <a:solidFill>
            <a:srgbClr val="2E9E6B">
              <a:alpha val="90000"/>
            </a:srgbClr>
          </a:solidFill>
          <a:ln/>
        </p:spPr>
      </p:sp>
      <p:sp>
        <p:nvSpPr>
          <p:cNvPr id="21" name="Text 18"/>
          <p:cNvSpPr/>
          <p:nvPr/>
        </p:nvSpPr>
        <p:spPr>
          <a:xfrm>
            <a:off x="7269480" y="2926080"/>
            <a:ext cx="457200" cy="45720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A</a:t>
            </a:r>
            <a:endParaRPr lang="en-US" sz="1500" dirty="0"/>
          </a:p>
        </p:txBody>
      </p:sp>
      <p:sp>
        <p:nvSpPr>
          <p:cNvPr id="22" name="Text 19"/>
          <p:cNvSpPr/>
          <p:nvPr/>
        </p:nvSpPr>
        <p:spPr>
          <a:xfrm>
            <a:off x="9326880" y="2926080"/>
            <a:ext cx="457200" cy="45720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B</a:t>
            </a:r>
            <a:endParaRPr lang="en-US" sz="1500" dirty="0"/>
          </a:p>
        </p:txBody>
      </p:sp>
      <p:sp>
        <p:nvSpPr>
          <p:cNvPr id="23" name="Shape 20"/>
          <p:cNvSpPr/>
          <p:nvPr/>
        </p:nvSpPr>
        <p:spPr>
          <a:xfrm>
            <a:off x="6446520" y="4206240"/>
            <a:ext cx="4937760" cy="1417320"/>
          </a:xfrm>
          <a:prstGeom prst="roundRect">
            <a:avLst>
              <a:gd name="adj" fmla="val 3871"/>
            </a:avLst>
          </a:prstGeom>
          <a:solidFill>
            <a:srgbClr val="0E2E4A"/>
          </a:solidFill>
          <a:ln/>
          <a:effectLst>
            <a:outerShdw sx="100000" sy="100000" kx="0" ky="0" algn="bl" rotWithShape="0" blurRad="63500" dist="25400" dir="5400000">
              <a:srgbClr val="000000">
                <a:alpha val="18000"/>
              </a:srgbClr>
            </a:outerShdw>
          </a:effectLst>
        </p:spPr>
      </p:sp>
      <p:sp>
        <p:nvSpPr>
          <p:cNvPr id="24" name="Text 21"/>
          <p:cNvSpPr/>
          <p:nvPr/>
        </p:nvSpPr>
        <p:spPr>
          <a:xfrm>
            <a:off x="6629400" y="4315968"/>
            <a:ext cx="4572000" cy="1197864"/>
          </a:xfrm>
          <a:prstGeom prst="rect">
            <a:avLst/>
          </a:prstGeom>
          <a:noFill/>
          <a:ln/>
        </p:spPr>
        <p:txBody>
          <a:bodyPr wrap="square" rtlCol="0" anchor="t"/>
          <a:lstStyle/>
          <a:p>
            <a:pPr algn="l" indent="0" marL="0">
              <a:lnSpc>
                <a:spcPct val="115000"/>
              </a:lnSpc>
              <a:buNone/>
            </a:pPr>
            <a:r>
              <a:rPr lang="en-US" sz="1250" dirty="0">
                <a:solidFill>
                  <a:srgbClr val="8FB6D6"/>
                </a:solidFill>
                <a:latin typeface="Courier New" pitchFamily="34" charset="0"/>
                <a:ea typeface="Courier New" pitchFamily="34" charset="-122"/>
                <a:cs typeface="Courier New" pitchFamily="34" charset="-120"/>
              </a:rPr>
              <a:t>A = {1,2,3}   B = {3,4,5}</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A &amp; B</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{3}</a:t>
            </a:r>
            <a:endParaRPr lang="en-US" sz="1250" dirty="0"/>
          </a:p>
        </p:txBody>
      </p:sp>
      <p:sp>
        <p:nvSpPr>
          <p:cNvPr id="25" name="Text 22"/>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6" name="Text 23"/>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11 · SET OPERATIONS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Difference &amp; Symmetric Difference</a:t>
            </a:r>
            <a:endParaRPr lang="en-US" sz="2600" dirty="0"/>
          </a:p>
        </p:txBody>
      </p:sp>
      <p:sp>
        <p:nvSpPr>
          <p:cNvPr id="6" name="Shape 3"/>
          <p:cNvSpPr/>
          <p:nvPr/>
        </p:nvSpPr>
        <p:spPr>
          <a:xfrm>
            <a:off x="548640" y="1417320"/>
            <a:ext cx="5394960" cy="4434840"/>
          </a:xfrm>
          <a:prstGeom prst="roundRect">
            <a:avLst>
              <a:gd name="adj" fmla="val 1856"/>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7" name="Text 4"/>
          <p:cNvSpPr/>
          <p:nvPr/>
        </p:nvSpPr>
        <p:spPr>
          <a:xfrm>
            <a:off x="777240" y="1554480"/>
            <a:ext cx="4937760" cy="365760"/>
          </a:xfrm>
          <a:prstGeom prst="rect">
            <a:avLst/>
          </a:prstGeom>
          <a:noFill/>
          <a:ln/>
        </p:spPr>
        <p:txBody>
          <a:bodyPr wrap="square" rtlCol="0" anchor="ctr"/>
          <a:lstStyle/>
          <a:p>
            <a:pPr indent="0" marL="0">
              <a:buNone/>
            </a:pPr>
            <a:r>
              <a:rPr lang="en-US" sz="1700" b="1" dirty="0">
                <a:solidFill>
                  <a:srgbClr val="1C5D99"/>
                </a:solidFill>
                <a:latin typeface="Calibri" pitchFamily="34" charset="0"/>
                <a:ea typeface="Calibri" pitchFamily="34" charset="-122"/>
                <a:cs typeface="Calibri" pitchFamily="34" charset="-120"/>
              </a:rPr>
              <a:t>Difference   A - B</a:t>
            </a:r>
            <a:endParaRPr lang="en-US" sz="1700" dirty="0"/>
          </a:p>
        </p:txBody>
      </p:sp>
      <p:sp>
        <p:nvSpPr>
          <p:cNvPr id="8" name="Text 5"/>
          <p:cNvSpPr/>
          <p:nvPr/>
        </p:nvSpPr>
        <p:spPr>
          <a:xfrm>
            <a:off x="777240" y="1920240"/>
            <a:ext cx="4937760" cy="274320"/>
          </a:xfrm>
          <a:prstGeom prst="rect">
            <a:avLst/>
          </a:prstGeom>
          <a:noFill/>
          <a:ln/>
        </p:spPr>
        <p:txBody>
          <a:bodyPr wrap="square" rtlCol="0" anchor="ctr"/>
          <a:lstStyle/>
          <a:p>
            <a:pPr indent="0" marL="0">
              <a:buNone/>
            </a:pPr>
            <a:r>
              <a:rPr lang="en-US" sz="1200" i="1" dirty="0">
                <a:solidFill>
                  <a:srgbClr val="5C7488"/>
                </a:solidFill>
                <a:latin typeface="Calibri" pitchFamily="34" charset="0"/>
                <a:ea typeface="Calibri" pitchFamily="34" charset="-122"/>
                <a:cs typeface="Calibri" pitchFamily="34" charset="-120"/>
              </a:rPr>
              <a:t>In A but NOT in B</a:t>
            </a:r>
            <a:endParaRPr lang="en-US" sz="1200" dirty="0"/>
          </a:p>
        </p:txBody>
      </p:sp>
      <p:sp>
        <p:nvSpPr>
          <p:cNvPr id="9" name="Shape 6"/>
          <p:cNvSpPr/>
          <p:nvPr/>
        </p:nvSpPr>
        <p:spPr>
          <a:xfrm>
            <a:off x="1463040" y="2286000"/>
            <a:ext cx="1737360" cy="1737360"/>
          </a:xfrm>
          <a:prstGeom prst="ellipse">
            <a:avLst/>
          </a:prstGeom>
          <a:solidFill>
            <a:srgbClr val="1C5D99">
              <a:alpha val="75000"/>
            </a:srgbClr>
          </a:solidFill>
          <a:ln w="19050">
            <a:solidFill>
              <a:srgbClr val="0A2540"/>
            </a:solidFill>
            <a:prstDash val="solid"/>
          </a:ln>
        </p:spPr>
      </p:sp>
      <p:sp>
        <p:nvSpPr>
          <p:cNvPr id="10" name="Shape 7"/>
          <p:cNvSpPr/>
          <p:nvPr/>
        </p:nvSpPr>
        <p:spPr>
          <a:xfrm>
            <a:off x="2514600" y="2286000"/>
            <a:ext cx="1737360" cy="1737360"/>
          </a:xfrm>
          <a:prstGeom prst="ellipse">
            <a:avLst/>
          </a:prstGeom>
          <a:solidFill>
            <a:srgbClr val="F1F4F7">
              <a:alpha val="90000"/>
            </a:srgbClr>
          </a:solidFill>
          <a:ln w="19050">
            <a:solidFill>
              <a:srgbClr val="C88A1E"/>
            </a:solidFill>
            <a:prstDash val="solid"/>
          </a:ln>
        </p:spPr>
      </p:sp>
      <p:sp>
        <p:nvSpPr>
          <p:cNvPr id="11" name="Shape 8"/>
          <p:cNvSpPr/>
          <p:nvPr/>
        </p:nvSpPr>
        <p:spPr>
          <a:xfrm>
            <a:off x="2514600" y="2286000"/>
            <a:ext cx="685800" cy="1737360"/>
          </a:xfrm>
          <a:prstGeom prst="ellipse">
            <a:avLst/>
          </a:prstGeom>
          <a:solidFill>
            <a:srgbClr val="F1F4F7">
              <a:alpha val="95000"/>
            </a:srgbClr>
          </a:solidFill>
          <a:ln/>
        </p:spPr>
      </p:sp>
      <p:sp>
        <p:nvSpPr>
          <p:cNvPr id="12" name="Text 9"/>
          <p:cNvSpPr/>
          <p:nvPr/>
        </p:nvSpPr>
        <p:spPr>
          <a:xfrm>
            <a:off x="1600200" y="292608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3" name="Text 10"/>
          <p:cNvSpPr/>
          <p:nvPr/>
        </p:nvSpPr>
        <p:spPr>
          <a:xfrm>
            <a:off x="3657600" y="2926080"/>
            <a:ext cx="457200" cy="45720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B</a:t>
            </a:r>
            <a:endParaRPr lang="en-US" sz="1500" dirty="0"/>
          </a:p>
        </p:txBody>
      </p:sp>
      <p:sp>
        <p:nvSpPr>
          <p:cNvPr id="14" name="Shape 11"/>
          <p:cNvSpPr/>
          <p:nvPr/>
        </p:nvSpPr>
        <p:spPr>
          <a:xfrm>
            <a:off x="777240" y="4206240"/>
            <a:ext cx="4846320" cy="1417320"/>
          </a:xfrm>
          <a:prstGeom prst="roundRect">
            <a:avLst>
              <a:gd name="adj" fmla="val 3871"/>
            </a:avLst>
          </a:prstGeom>
          <a:solidFill>
            <a:srgbClr val="0E2E4A"/>
          </a:solidFill>
          <a:ln/>
          <a:effectLst>
            <a:outerShdw sx="100000" sy="100000" kx="0" ky="0" algn="bl" rotWithShape="0" blurRad="63500" dist="25400" dir="5400000">
              <a:srgbClr val="000000">
                <a:alpha val="18000"/>
              </a:srgbClr>
            </a:outerShdw>
          </a:effectLst>
        </p:spPr>
      </p:sp>
      <p:sp>
        <p:nvSpPr>
          <p:cNvPr id="15" name="Text 12"/>
          <p:cNvSpPr/>
          <p:nvPr/>
        </p:nvSpPr>
        <p:spPr>
          <a:xfrm>
            <a:off x="960120" y="4315968"/>
            <a:ext cx="4480560" cy="1197864"/>
          </a:xfrm>
          <a:prstGeom prst="rect">
            <a:avLst/>
          </a:prstGeom>
          <a:noFill/>
          <a:ln/>
        </p:spPr>
        <p:txBody>
          <a:bodyPr wrap="square" rtlCol="0" anchor="t"/>
          <a:lstStyle/>
          <a:p>
            <a:pPr algn="l" indent="0" marL="0">
              <a:lnSpc>
                <a:spcPct val="115000"/>
              </a:lnSpc>
              <a:buNone/>
            </a:pPr>
            <a:r>
              <a:rPr lang="en-US" sz="1250" dirty="0">
                <a:solidFill>
                  <a:srgbClr val="8FB6D6"/>
                </a:solidFill>
                <a:latin typeface="Courier New" pitchFamily="34" charset="0"/>
                <a:ea typeface="Courier New" pitchFamily="34" charset="-122"/>
                <a:cs typeface="Courier New" pitchFamily="34" charset="-120"/>
              </a:rPr>
              <a:t>A = {1,2,3}   B = {3,4,5}</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A - B</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{1, 2}</a:t>
            </a:r>
            <a:endParaRPr lang="en-US" sz="1250" dirty="0"/>
          </a:p>
        </p:txBody>
      </p:sp>
      <p:sp>
        <p:nvSpPr>
          <p:cNvPr id="16" name="Shape 13"/>
          <p:cNvSpPr/>
          <p:nvPr/>
        </p:nvSpPr>
        <p:spPr>
          <a:xfrm>
            <a:off x="6217920" y="1417320"/>
            <a:ext cx="5422392" cy="4434840"/>
          </a:xfrm>
          <a:prstGeom prst="roundRect">
            <a:avLst>
              <a:gd name="adj" fmla="val 1856"/>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7" name="Text 14"/>
          <p:cNvSpPr/>
          <p:nvPr/>
        </p:nvSpPr>
        <p:spPr>
          <a:xfrm>
            <a:off x="6446520" y="1554480"/>
            <a:ext cx="5120640" cy="365760"/>
          </a:xfrm>
          <a:prstGeom prst="rect">
            <a:avLst/>
          </a:prstGeom>
          <a:noFill/>
          <a:ln/>
        </p:spPr>
        <p:txBody>
          <a:bodyPr wrap="square" rtlCol="0" anchor="ctr"/>
          <a:lstStyle/>
          <a:p>
            <a:pPr indent="0" marL="0">
              <a:buNone/>
            </a:pPr>
            <a:r>
              <a:rPr lang="en-US" sz="1700" b="1" dirty="0">
                <a:solidFill>
                  <a:srgbClr val="F2B138"/>
                </a:solidFill>
                <a:latin typeface="Calibri" pitchFamily="34" charset="0"/>
                <a:ea typeface="Calibri" pitchFamily="34" charset="-122"/>
                <a:cs typeface="Calibri" pitchFamily="34" charset="-120"/>
              </a:rPr>
              <a:t>Symmetric Diff.   A ^ B</a:t>
            </a:r>
            <a:endParaRPr lang="en-US" sz="1700" dirty="0"/>
          </a:p>
        </p:txBody>
      </p:sp>
      <p:sp>
        <p:nvSpPr>
          <p:cNvPr id="18" name="Text 15"/>
          <p:cNvSpPr/>
          <p:nvPr/>
        </p:nvSpPr>
        <p:spPr>
          <a:xfrm>
            <a:off x="6446520" y="1920240"/>
            <a:ext cx="4937760" cy="274320"/>
          </a:xfrm>
          <a:prstGeom prst="rect">
            <a:avLst/>
          </a:prstGeom>
          <a:noFill/>
          <a:ln/>
        </p:spPr>
        <p:txBody>
          <a:bodyPr wrap="square" rtlCol="0" anchor="ctr"/>
          <a:lstStyle/>
          <a:p>
            <a:pPr indent="0" marL="0">
              <a:buNone/>
            </a:pPr>
            <a:r>
              <a:rPr lang="en-US" sz="1200" i="1" dirty="0">
                <a:solidFill>
                  <a:srgbClr val="5C7488"/>
                </a:solidFill>
                <a:latin typeface="Calibri" pitchFamily="34" charset="0"/>
                <a:ea typeface="Calibri" pitchFamily="34" charset="-122"/>
                <a:cs typeface="Calibri" pitchFamily="34" charset="-120"/>
              </a:rPr>
              <a:t>In A or B, but NOT both</a:t>
            </a:r>
            <a:endParaRPr lang="en-US" sz="1200" dirty="0"/>
          </a:p>
        </p:txBody>
      </p:sp>
      <p:sp>
        <p:nvSpPr>
          <p:cNvPr id="19" name="Shape 16"/>
          <p:cNvSpPr/>
          <p:nvPr/>
        </p:nvSpPr>
        <p:spPr>
          <a:xfrm>
            <a:off x="7132320" y="2286000"/>
            <a:ext cx="1737360" cy="1737360"/>
          </a:xfrm>
          <a:prstGeom prst="ellipse">
            <a:avLst/>
          </a:prstGeom>
          <a:solidFill>
            <a:srgbClr val="1C5D99">
              <a:alpha val="75000"/>
            </a:srgbClr>
          </a:solidFill>
          <a:ln w="19050">
            <a:solidFill>
              <a:srgbClr val="0A2540"/>
            </a:solidFill>
            <a:prstDash val="solid"/>
          </a:ln>
        </p:spPr>
      </p:sp>
      <p:sp>
        <p:nvSpPr>
          <p:cNvPr id="20" name="Shape 17"/>
          <p:cNvSpPr/>
          <p:nvPr/>
        </p:nvSpPr>
        <p:spPr>
          <a:xfrm>
            <a:off x="8183880" y="2286000"/>
            <a:ext cx="1737360" cy="1737360"/>
          </a:xfrm>
          <a:prstGeom prst="ellipse">
            <a:avLst/>
          </a:prstGeom>
          <a:solidFill>
            <a:srgbClr val="F2B138">
              <a:alpha val="75000"/>
            </a:srgbClr>
          </a:solidFill>
          <a:ln w="19050">
            <a:solidFill>
              <a:srgbClr val="C88A1E"/>
            </a:solidFill>
            <a:prstDash val="solid"/>
          </a:ln>
        </p:spPr>
      </p:sp>
      <p:sp>
        <p:nvSpPr>
          <p:cNvPr id="21" name="Shape 18"/>
          <p:cNvSpPr/>
          <p:nvPr/>
        </p:nvSpPr>
        <p:spPr>
          <a:xfrm>
            <a:off x="8183880" y="2286000"/>
            <a:ext cx="685800" cy="1737360"/>
          </a:xfrm>
          <a:prstGeom prst="ellipse">
            <a:avLst/>
          </a:prstGeom>
          <a:solidFill>
            <a:srgbClr val="F1F4F7">
              <a:alpha val="95000"/>
            </a:srgbClr>
          </a:solidFill>
          <a:ln/>
        </p:spPr>
      </p:sp>
      <p:sp>
        <p:nvSpPr>
          <p:cNvPr id="22" name="Text 19"/>
          <p:cNvSpPr/>
          <p:nvPr/>
        </p:nvSpPr>
        <p:spPr>
          <a:xfrm>
            <a:off x="7269480" y="292608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23" name="Text 20"/>
          <p:cNvSpPr/>
          <p:nvPr/>
        </p:nvSpPr>
        <p:spPr>
          <a:xfrm>
            <a:off x="9326880" y="2926080"/>
            <a:ext cx="457200" cy="457200"/>
          </a:xfrm>
          <a:prstGeom prst="rect">
            <a:avLst/>
          </a:prstGeom>
          <a:noFill/>
          <a:ln/>
        </p:spPr>
        <p:txBody>
          <a:bodyPr wrap="square" rtlCol="0" anchor="ctr"/>
          <a:lstStyle/>
          <a:p>
            <a:pPr algn="ctr" indent="0" marL="0">
              <a:buNone/>
            </a:pPr>
            <a:r>
              <a:rPr lang="en-US" sz="1500" b="1" dirty="0">
                <a:solidFill>
                  <a:srgbClr val="16283B"/>
                </a:solidFill>
                <a:latin typeface="Calibri" pitchFamily="34" charset="0"/>
                <a:ea typeface="Calibri" pitchFamily="34" charset="-122"/>
                <a:cs typeface="Calibri" pitchFamily="34" charset="-120"/>
              </a:rPr>
              <a:t>B</a:t>
            </a:r>
            <a:endParaRPr lang="en-US" sz="1500" dirty="0"/>
          </a:p>
        </p:txBody>
      </p:sp>
      <p:sp>
        <p:nvSpPr>
          <p:cNvPr id="24" name="Shape 21"/>
          <p:cNvSpPr/>
          <p:nvPr/>
        </p:nvSpPr>
        <p:spPr>
          <a:xfrm>
            <a:off x="6446520" y="4206240"/>
            <a:ext cx="4937760" cy="1417320"/>
          </a:xfrm>
          <a:prstGeom prst="roundRect">
            <a:avLst>
              <a:gd name="adj" fmla="val 3871"/>
            </a:avLst>
          </a:prstGeom>
          <a:solidFill>
            <a:srgbClr val="0E2E4A"/>
          </a:solidFill>
          <a:ln/>
          <a:effectLst>
            <a:outerShdw sx="100000" sy="100000" kx="0" ky="0" algn="bl" rotWithShape="0" blurRad="63500" dist="25400" dir="5400000">
              <a:srgbClr val="000000">
                <a:alpha val="18000"/>
              </a:srgbClr>
            </a:outerShdw>
          </a:effectLst>
        </p:spPr>
      </p:sp>
      <p:sp>
        <p:nvSpPr>
          <p:cNvPr id="25" name="Text 22"/>
          <p:cNvSpPr/>
          <p:nvPr/>
        </p:nvSpPr>
        <p:spPr>
          <a:xfrm>
            <a:off x="6629400" y="4315968"/>
            <a:ext cx="4572000" cy="1197864"/>
          </a:xfrm>
          <a:prstGeom prst="rect">
            <a:avLst/>
          </a:prstGeom>
          <a:noFill/>
          <a:ln/>
        </p:spPr>
        <p:txBody>
          <a:bodyPr wrap="square" rtlCol="0" anchor="t"/>
          <a:lstStyle/>
          <a:p>
            <a:pPr algn="l" indent="0" marL="0">
              <a:lnSpc>
                <a:spcPct val="115000"/>
              </a:lnSpc>
              <a:buNone/>
            </a:pPr>
            <a:r>
              <a:rPr lang="en-US" sz="1250" dirty="0">
                <a:solidFill>
                  <a:srgbClr val="8FB6D6"/>
                </a:solidFill>
                <a:latin typeface="Courier New" pitchFamily="34" charset="0"/>
                <a:ea typeface="Courier New" pitchFamily="34" charset="-122"/>
                <a:cs typeface="Courier New" pitchFamily="34" charset="-120"/>
              </a:rPr>
              <a:t>A = {1,2,3}   B = {3,4,5}</a:t>
            </a: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&gt;&gt;&gt; A ^ B</a:t>
            </a:r>
            <a:endParaRPr lang="en-US" sz="1250" dirty="0"/>
          </a:p>
          <a:p>
            <a:pPr algn="l" indent="0" marL="0">
              <a:lnSpc>
                <a:spcPct val="115000"/>
              </a:lnSpc>
              <a:buNone/>
            </a:pPr>
            <a:r>
              <a:rPr lang="en-US" sz="1250" dirty="0">
                <a:solidFill>
                  <a:srgbClr val="FFD98A"/>
                </a:solidFill>
                <a:latin typeface="Courier New" pitchFamily="34" charset="0"/>
                <a:ea typeface="Courier New" pitchFamily="34" charset="-122"/>
                <a:cs typeface="Courier New" pitchFamily="34" charset="-120"/>
              </a:rPr>
              <a:t>{1, 2, 4, 5}</a:t>
            </a:r>
            <a:endParaRPr lang="en-US" sz="1250" dirty="0"/>
          </a:p>
        </p:txBody>
      </p:sp>
      <p:sp>
        <p:nvSpPr>
          <p:cNvPr id="26" name="Text 23"/>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7" name="Text 24"/>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11 · SET OPERATIONS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Subset, Superset &amp; Disjoint</a:t>
            </a:r>
            <a:endParaRPr lang="en-US" sz="2600" dirty="0"/>
          </a:p>
        </p:txBody>
      </p:sp>
      <p:sp>
        <p:nvSpPr>
          <p:cNvPr id="6" name="Shape 3"/>
          <p:cNvSpPr/>
          <p:nvPr/>
        </p:nvSpPr>
        <p:spPr>
          <a:xfrm>
            <a:off x="548640" y="1417320"/>
            <a:ext cx="3593592" cy="4434840"/>
          </a:xfrm>
          <a:prstGeom prst="roundRect">
            <a:avLst>
              <a:gd name="adj" fmla="val 2290"/>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77240" y="1645920"/>
            <a:ext cx="548640" cy="548640"/>
          </a:xfrm>
          <a:prstGeom prst="roundRect">
            <a:avLst>
              <a:gd name="adj" fmla="val 16667"/>
            </a:avLst>
          </a:prstGeom>
          <a:solidFill>
            <a:srgbClr val="2E9E6B"/>
          </a:solidFill>
          <a:ln/>
        </p:spPr>
      </p:sp>
      <p:pic>
        <p:nvPicPr>
          <p:cNvPr id="8" name="Image 1" descr="preencoded.png">    </p:cNvPr>
          <p:cNvPicPr>
            <a:picLocks noChangeAspect="1"/>
          </p:cNvPicPr>
          <p:nvPr/>
        </p:nvPicPr>
        <p:blipFill>
          <a:blip r:embed="rId2"/>
          <a:stretch>
            <a:fillRect/>
          </a:stretch>
        </p:blipFill>
        <p:spPr>
          <a:xfrm>
            <a:off x="905256" y="1773936"/>
            <a:ext cx="292608" cy="292608"/>
          </a:xfrm>
          <a:prstGeom prst="rect">
            <a:avLst/>
          </a:prstGeom>
        </p:spPr>
      </p:pic>
      <p:sp>
        <p:nvSpPr>
          <p:cNvPr id="9" name="Text 5"/>
          <p:cNvSpPr/>
          <p:nvPr/>
        </p:nvSpPr>
        <p:spPr>
          <a:xfrm>
            <a:off x="1417320" y="1645920"/>
            <a:ext cx="2587752" cy="320040"/>
          </a:xfrm>
          <a:prstGeom prst="rect">
            <a:avLst/>
          </a:prstGeom>
          <a:noFill/>
          <a:ln/>
        </p:spPr>
        <p:txBody>
          <a:bodyPr wrap="square" rtlCol="0" anchor="ctr"/>
          <a:lstStyle/>
          <a:p>
            <a:pPr indent="0" marL="0">
              <a:buNone/>
            </a:pPr>
            <a:r>
              <a:rPr lang="en-US" sz="1500" b="1" dirty="0">
                <a:solidFill>
                  <a:srgbClr val="0A2540"/>
                </a:solidFill>
                <a:latin typeface="Courier New" pitchFamily="34" charset="0"/>
                <a:ea typeface="Courier New" pitchFamily="34" charset="-122"/>
                <a:cs typeface="Courier New" pitchFamily="34" charset="-120"/>
              </a:rPr>
              <a:t>issubset()</a:t>
            </a:r>
            <a:endParaRPr lang="en-US" sz="1500" dirty="0"/>
          </a:p>
        </p:txBody>
      </p:sp>
      <p:sp>
        <p:nvSpPr>
          <p:cNvPr id="10" name="Text 6"/>
          <p:cNvSpPr/>
          <p:nvPr/>
        </p:nvSpPr>
        <p:spPr>
          <a:xfrm>
            <a:off x="1417320" y="1956816"/>
            <a:ext cx="2587752" cy="274320"/>
          </a:xfrm>
          <a:prstGeom prst="rect">
            <a:avLst/>
          </a:prstGeom>
          <a:noFill/>
          <a:ln/>
        </p:spPr>
        <p:txBody>
          <a:bodyPr wrap="square" rtlCol="0" anchor="ctr"/>
          <a:lstStyle/>
          <a:p>
            <a:pPr indent="0" marL="0">
              <a:buNone/>
            </a:pPr>
            <a:r>
              <a:rPr lang="en-US" sz="1300" b="1" dirty="0">
                <a:solidFill>
                  <a:srgbClr val="2E9E6B"/>
                </a:solidFill>
                <a:latin typeface="Calibri" pitchFamily="34" charset="0"/>
                <a:ea typeface="Calibri" pitchFamily="34" charset="-122"/>
                <a:cs typeface="Calibri" pitchFamily="34" charset="-120"/>
              </a:rPr>
              <a:t>A ⊆ B</a:t>
            </a:r>
            <a:endParaRPr lang="en-US" sz="1300" dirty="0"/>
          </a:p>
        </p:txBody>
      </p:sp>
      <p:sp>
        <p:nvSpPr>
          <p:cNvPr id="11" name="Shape 7"/>
          <p:cNvSpPr/>
          <p:nvPr/>
        </p:nvSpPr>
        <p:spPr>
          <a:xfrm>
            <a:off x="1371600" y="2468880"/>
            <a:ext cx="1920240" cy="1371600"/>
          </a:xfrm>
          <a:prstGeom prst="ellipse">
            <a:avLst/>
          </a:prstGeom>
          <a:solidFill>
            <a:srgbClr val="1C5D99">
              <a:alpha val="45000"/>
            </a:srgbClr>
          </a:solidFill>
          <a:ln w="19050">
            <a:solidFill>
              <a:srgbClr val="0A2540"/>
            </a:solidFill>
            <a:prstDash val="solid"/>
          </a:ln>
        </p:spPr>
      </p:sp>
      <p:sp>
        <p:nvSpPr>
          <p:cNvPr id="12" name="Shape 8"/>
          <p:cNvSpPr/>
          <p:nvPr/>
        </p:nvSpPr>
        <p:spPr>
          <a:xfrm>
            <a:off x="1783080" y="2743200"/>
            <a:ext cx="914400" cy="777240"/>
          </a:xfrm>
          <a:prstGeom prst="ellipse">
            <a:avLst/>
          </a:prstGeom>
          <a:solidFill>
            <a:srgbClr val="2E9E6B">
              <a:alpha val="80000"/>
            </a:srgbClr>
          </a:solidFill>
          <a:ln/>
        </p:spPr>
      </p:sp>
      <p:sp>
        <p:nvSpPr>
          <p:cNvPr id="13" name="Text 9"/>
          <p:cNvSpPr/>
          <p:nvPr/>
        </p:nvSpPr>
        <p:spPr>
          <a:xfrm>
            <a:off x="1965960" y="2788920"/>
            <a:ext cx="5486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2697480" y="2606040"/>
            <a:ext cx="457200" cy="365760"/>
          </a:xfrm>
          <a:prstGeom prst="rect">
            <a:avLst/>
          </a:prstGeom>
          <a:noFill/>
          <a:ln/>
        </p:spPr>
        <p:txBody>
          <a:bodyPr wrap="square"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B</a:t>
            </a:r>
            <a:endParaRPr lang="en-US" sz="1200" dirty="0"/>
          </a:p>
        </p:txBody>
      </p:sp>
      <p:sp>
        <p:nvSpPr>
          <p:cNvPr id="15" name="Text 11"/>
          <p:cNvSpPr/>
          <p:nvPr/>
        </p:nvSpPr>
        <p:spPr>
          <a:xfrm>
            <a:off x="777240" y="3931920"/>
            <a:ext cx="3136392" cy="548640"/>
          </a:xfrm>
          <a:prstGeom prst="rect">
            <a:avLst/>
          </a:prstGeom>
          <a:noFill/>
          <a:ln/>
        </p:spPr>
        <p:txBody>
          <a:bodyPr wrap="square" rtlCol="0" anchor="t"/>
          <a:lstStyle/>
          <a:p>
            <a:pPr algn="ctr" indent="0" marL="0">
              <a:lnSpc>
                <a:spcPct val="105000"/>
              </a:lnSpc>
              <a:buNone/>
            </a:pPr>
            <a:r>
              <a:rPr lang="en-US" sz="1200" dirty="0">
                <a:solidFill>
                  <a:srgbClr val="16283B"/>
                </a:solidFill>
                <a:latin typeface="Calibri" pitchFamily="34" charset="0"/>
                <a:ea typeface="Calibri" pitchFamily="34" charset="-122"/>
                <a:cs typeface="Calibri" pitchFamily="34" charset="-120"/>
              </a:rPr>
              <a:t>Every element of A is inside B</a:t>
            </a:r>
            <a:endParaRPr lang="en-US" sz="1200" dirty="0"/>
          </a:p>
        </p:txBody>
      </p:sp>
      <p:sp>
        <p:nvSpPr>
          <p:cNvPr id="16" name="Shape 12"/>
          <p:cNvSpPr/>
          <p:nvPr/>
        </p:nvSpPr>
        <p:spPr>
          <a:xfrm>
            <a:off x="777240" y="4572000"/>
            <a:ext cx="3136392" cy="1097280"/>
          </a:xfrm>
          <a:prstGeom prst="roundRect">
            <a:avLst>
              <a:gd name="adj" fmla="val 5000"/>
            </a:avLst>
          </a:prstGeom>
          <a:solidFill>
            <a:srgbClr val="0E2E4A"/>
          </a:solidFill>
          <a:ln/>
          <a:effectLst>
            <a:outerShdw sx="100000" sy="100000" kx="0" ky="0" algn="bl" rotWithShape="0" blurRad="63500" dist="25400" dir="5400000">
              <a:srgbClr val="000000">
                <a:alpha val="18000"/>
              </a:srgbClr>
            </a:outerShdw>
          </a:effectLst>
        </p:spPr>
      </p:sp>
      <p:sp>
        <p:nvSpPr>
          <p:cNvPr id="17" name="Text 13"/>
          <p:cNvSpPr/>
          <p:nvPr/>
        </p:nvSpPr>
        <p:spPr>
          <a:xfrm>
            <a:off x="960120" y="4681728"/>
            <a:ext cx="2770632" cy="877824"/>
          </a:xfrm>
          <a:prstGeom prst="rect">
            <a:avLst/>
          </a:prstGeom>
          <a:noFill/>
          <a:ln/>
        </p:spPr>
        <p:txBody>
          <a:bodyPr wrap="square" rtlCol="0" anchor="t"/>
          <a:lstStyle/>
          <a:p>
            <a:pPr algn="l" indent="0" marL="0">
              <a:lnSpc>
                <a:spcPct val="115000"/>
              </a:lnSpc>
              <a:buNone/>
            </a:pPr>
            <a:r>
              <a:rPr lang="en-US" sz="1050" dirty="0">
                <a:solidFill>
                  <a:srgbClr val="DDEBF7"/>
                </a:solidFill>
                <a:latin typeface="Courier New" pitchFamily="34" charset="0"/>
                <a:ea typeface="Courier New" pitchFamily="34" charset="-122"/>
                <a:cs typeface="Courier New" pitchFamily="34" charset="-120"/>
              </a:rPr>
              <a:t>A={1,2}</a:t>
            </a:r>
            <a:endParaRPr lang="en-US" sz="1050" dirty="0"/>
          </a:p>
          <a:p>
            <a:pPr algn="l" indent="0" marL="0">
              <a:lnSpc>
                <a:spcPct val="115000"/>
              </a:lnSpc>
              <a:buNone/>
            </a:pPr>
            <a:r>
              <a:rPr lang="en-US" sz="1050" dirty="0">
                <a:solidFill>
                  <a:srgbClr val="DDEBF7"/>
                </a:solidFill>
                <a:latin typeface="Courier New" pitchFamily="34" charset="0"/>
                <a:ea typeface="Courier New" pitchFamily="34" charset="-122"/>
                <a:cs typeface="Courier New" pitchFamily="34" charset="-120"/>
              </a:rPr>
              <a:t>B={1,2,3}</a:t>
            </a:r>
            <a:endParaRPr lang="en-US" sz="1050" dirty="0"/>
          </a:p>
          <a:p>
            <a:pPr algn="l" indent="0" marL="0">
              <a:lnSpc>
                <a:spcPct val="115000"/>
              </a:lnSpc>
              <a:buNone/>
            </a:pPr>
            <a:r>
              <a:rPr lang="en-US" sz="1050" dirty="0">
                <a:solidFill>
                  <a:srgbClr val="FFD98A"/>
                </a:solidFill>
                <a:latin typeface="Courier New" pitchFamily="34" charset="0"/>
                <a:ea typeface="Courier New" pitchFamily="34" charset="-122"/>
                <a:cs typeface="Courier New" pitchFamily="34" charset="-120"/>
              </a:rPr>
              <a:t>A.issubset(B) → True</a:t>
            </a:r>
            <a:endParaRPr lang="en-US" sz="1050" dirty="0"/>
          </a:p>
        </p:txBody>
      </p:sp>
      <p:sp>
        <p:nvSpPr>
          <p:cNvPr id="18" name="Shape 14"/>
          <p:cNvSpPr/>
          <p:nvPr/>
        </p:nvSpPr>
        <p:spPr>
          <a:xfrm>
            <a:off x="4279392" y="1417320"/>
            <a:ext cx="3593592" cy="4434840"/>
          </a:xfrm>
          <a:prstGeom prst="roundRect">
            <a:avLst>
              <a:gd name="adj" fmla="val 2290"/>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4507992" y="1645920"/>
            <a:ext cx="548640" cy="548640"/>
          </a:xfrm>
          <a:prstGeom prst="roundRect">
            <a:avLst>
              <a:gd name="adj" fmla="val 16667"/>
            </a:avLst>
          </a:prstGeom>
          <a:solidFill>
            <a:srgbClr val="1C5D99"/>
          </a:solidFill>
          <a:ln/>
        </p:spPr>
      </p:sp>
      <p:pic>
        <p:nvPicPr>
          <p:cNvPr id="20" name="Image 2" descr="preencoded.png">    </p:cNvPr>
          <p:cNvPicPr>
            <a:picLocks noChangeAspect="1"/>
          </p:cNvPicPr>
          <p:nvPr/>
        </p:nvPicPr>
        <p:blipFill>
          <a:blip r:embed="rId3"/>
          <a:stretch>
            <a:fillRect/>
          </a:stretch>
        </p:blipFill>
        <p:spPr>
          <a:xfrm>
            <a:off x="4636008" y="1773936"/>
            <a:ext cx="292608" cy="292608"/>
          </a:xfrm>
          <a:prstGeom prst="rect">
            <a:avLst/>
          </a:prstGeom>
        </p:spPr>
      </p:pic>
      <p:sp>
        <p:nvSpPr>
          <p:cNvPr id="21" name="Text 16"/>
          <p:cNvSpPr/>
          <p:nvPr/>
        </p:nvSpPr>
        <p:spPr>
          <a:xfrm>
            <a:off x="5148072" y="1645920"/>
            <a:ext cx="2587752" cy="320040"/>
          </a:xfrm>
          <a:prstGeom prst="rect">
            <a:avLst/>
          </a:prstGeom>
          <a:noFill/>
          <a:ln/>
        </p:spPr>
        <p:txBody>
          <a:bodyPr wrap="square" rtlCol="0" anchor="ctr"/>
          <a:lstStyle/>
          <a:p>
            <a:pPr indent="0" marL="0">
              <a:buNone/>
            </a:pPr>
            <a:r>
              <a:rPr lang="en-US" sz="1500" b="1" dirty="0">
                <a:solidFill>
                  <a:srgbClr val="0A2540"/>
                </a:solidFill>
                <a:latin typeface="Courier New" pitchFamily="34" charset="0"/>
                <a:ea typeface="Courier New" pitchFamily="34" charset="-122"/>
                <a:cs typeface="Courier New" pitchFamily="34" charset="-120"/>
              </a:rPr>
              <a:t>issuperset()</a:t>
            </a:r>
            <a:endParaRPr lang="en-US" sz="1500" dirty="0"/>
          </a:p>
        </p:txBody>
      </p:sp>
      <p:sp>
        <p:nvSpPr>
          <p:cNvPr id="22" name="Text 17"/>
          <p:cNvSpPr/>
          <p:nvPr/>
        </p:nvSpPr>
        <p:spPr>
          <a:xfrm>
            <a:off x="5148072" y="1956816"/>
            <a:ext cx="2587752" cy="274320"/>
          </a:xfrm>
          <a:prstGeom prst="rect">
            <a:avLst/>
          </a:prstGeom>
          <a:noFill/>
          <a:ln/>
        </p:spPr>
        <p:txBody>
          <a:bodyPr wrap="square" rtlCol="0" anchor="ctr"/>
          <a:lstStyle/>
          <a:p>
            <a:pPr indent="0" marL="0">
              <a:buNone/>
            </a:pPr>
            <a:r>
              <a:rPr lang="en-US" sz="1300" b="1" dirty="0">
                <a:solidFill>
                  <a:srgbClr val="1C5D99"/>
                </a:solidFill>
                <a:latin typeface="Calibri" pitchFamily="34" charset="0"/>
                <a:ea typeface="Calibri" pitchFamily="34" charset="-122"/>
                <a:cs typeface="Calibri" pitchFamily="34" charset="-120"/>
              </a:rPr>
              <a:t>A ⊇ B</a:t>
            </a:r>
            <a:endParaRPr lang="en-US" sz="1300" dirty="0"/>
          </a:p>
        </p:txBody>
      </p:sp>
      <p:sp>
        <p:nvSpPr>
          <p:cNvPr id="23" name="Shape 18"/>
          <p:cNvSpPr/>
          <p:nvPr/>
        </p:nvSpPr>
        <p:spPr>
          <a:xfrm>
            <a:off x="5102352" y="2468880"/>
            <a:ext cx="1920240" cy="1371600"/>
          </a:xfrm>
          <a:prstGeom prst="ellipse">
            <a:avLst/>
          </a:prstGeom>
          <a:solidFill>
            <a:srgbClr val="1C5D99">
              <a:alpha val="75000"/>
            </a:srgbClr>
          </a:solidFill>
          <a:ln w="19050">
            <a:solidFill>
              <a:srgbClr val="0A2540"/>
            </a:solidFill>
            <a:prstDash val="solid"/>
          </a:ln>
        </p:spPr>
      </p:sp>
      <p:sp>
        <p:nvSpPr>
          <p:cNvPr id="24" name="Shape 19"/>
          <p:cNvSpPr/>
          <p:nvPr/>
        </p:nvSpPr>
        <p:spPr>
          <a:xfrm>
            <a:off x="5513832" y="2743200"/>
            <a:ext cx="914400" cy="777240"/>
          </a:xfrm>
          <a:prstGeom prst="ellipse">
            <a:avLst/>
          </a:prstGeom>
          <a:solidFill>
            <a:srgbClr val="F1F4F7">
              <a:alpha val="95000"/>
            </a:srgbClr>
          </a:solidFill>
          <a:ln w="15240">
            <a:solidFill>
              <a:srgbClr val="C88A1E"/>
            </a:solidFill>
            <a:prstDash val="solid"/>
          </a:ln>
        </p:spPr>
      </p:sp>
      <p:sp>
        <p:nvSpPr>
          <p:cNvPr id="25" name="Text 20"/>
          <p:cNvSpPr/>
          <p:nvPr/>
        </p:nvSpPr>
        <p:spPr>
          <a:xfrm>
            <a:off x="5239512" y="2542032"/>
            <a:ext cx="45720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6" name="Text 21"/>
          <p:cNvSpPr/>
          <p:nvPr/>
        </p:nvSpPr>
        <p:spPr>
          <a:xfrm>
            <a:off x="5742432" y="2834640"/>
            <a:ext cx="457200" cy="365760"/>
          </a:xfrm>
          <a:prstGeom prst="rect">
            <a:avLst/>
          </a:prstGeom>
          <a:noFill/>
          <a:ln/>
        </p:spPr>
        <p:txBody>
          <a:bodyPr wrap="square"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B</a:t>
            </a:r>
            <a:endParaRPr lang="en-US" sz="1200" dirty="0"/>
          </a:p>
        </p:txBody>
      </p:sp>
      <p:sp>
        <p:nvSpPr>
          <p:cNvPr id="27" name="Text 22"/>
          <p:cNvSpPr/>
          <p:nvPr/>
        </p:nvSpPr>
        <p:spPr>
          <a:xfrm>
            <a:off x="4507992" y="3931920"/>
            <a:ext cx="3136392" cy="548640"/>
          </a:xfrm>
          <a:prstGeom prst="rect">
            <a:avLst/>
          </a:prstGeom>
          <a:noFill/>
          <a:ln/>
        </p:spPr>
        <p:txBody>
          <a:bodyPr wrap="square" rtlCol="0" anchor="t"/>
          <a:lstStyle/>
          <a:p>
            <a:pPr algn="ctr" indent="0" marL="0">
              <a:lnSpc>
                <a:spcPct val="105000"/>
              </a:lnSpc>
              <a:buNone/>
            </a:pPr>
            <a:r>
              <a:rPr lang="en-US" sz="1200" dirty="0">
                <a:solidFill>
                  <a:srgbClr val="16283B"/>
                </a:solidFill>
                <a:latin typeface="Calibri" pitchFamily="34" charset="0"/>
                <a:ea typeface="Calibri" pitchFamily="34" charset="-122"/>
                <a:cs typeface="Calibri" pitchFamily="34" charset="-120"/>
              </a:rPr>
              <a:t>A contains every element of B</a:t>
            </a:r>
            <a:endParaRPr lang="en-US" sz="1200" dirty="0"/>
          </a:p>
        </p:txBody>
      </p:sp>
      <p:sp>
        <p:nvSpPr>
          <p:cNvPr id="28" name="Shape 23"/>
          <p:cNvSpPr/>
          <p:nvPr/>
        </p:nvSpPr>
        <p:spPr>
          <a:xfrm>
            <a:off x="4507992" y="4572000"/>
            <a:ext cx="3136392" cy="1097280"/>
          </a:xfrm>
          <a:prstGeom prst="roundRect">
            <a:avLst>
              <a:gd name="adj" fmla="val 5000"/>
            </a:avLst>
          </a:prstGeom>
          <a:solidFill>
            <a:srgbClr val="0E2E4A"/>
          </a:solidFill>
          <a:ln/>
          <a:effectLst>
            <a:outerShdw sx="100000" sy="100000" kx="0" ky="0" algn="bl" rotWithShape="0" blurRad="63500" dist="25400" dir="5400000">
              <a:srgbClr val="000000">
                <a:alpha val="18000"/>
              </a:srgbClr>
            </a:outerShdw>
          </a:effectLst>
        </p:spPr>
      </p:sp>
      <p:sp>
        <p:nvSpPr>
          <p:cNvPr id="29" name="Text 24"/>
          <p:cNvSpPr/>
          <p:nvPr/>
        </p:nvSpPr>
        <p:spPr>
          <a:xfrm>
            <a:off x="4690872" y="4681728"/>
            <a:ext cx="2770632" cy="877824"/>
          </a:xfrm>
          <a:prstGeom prst="rect">
            <a:avLst/>
          </a:prstGeom>
          <a:noFill/>
          <a:ln/>
        </p:spPr>
        <p:txBody>
          <a:bodyPr wrap="square" rtlCol="0" anchor="t"/>
          <a:lstStyle/>
          <a:p>
            <a:pPr algn="l" indent="0" marL="0">
              <a:lnSpc>
                <a:spcPct val="115000"/>
              </a:lnSpc>
              <a:buNone/>
            </a:pPr>
            <a:r>
              <a:rPr lang="en-US" sz="1050" dirty="0">
                <a:solidFill>
                  <a:srgbClr val="DDEBF7"/>
                </a:solidFill>
                <a:latin typeface="Courier New" pitchFamily="34" charset="0"/>
                <a:ea typeface="Courier New" pitchFamily="34" charset="-122"/>
                <a:cs typeface="Courier New" pitchFamily="34" charset="-120"/>
              </a:rPr>
              <a:t>A={1,2,3}</a:t>
            </a:r>
            <a:endParaRPr lang="en-US" sz="1050" dirty="0"/>
          </a:p>
          <a:p>
            <a:pPr algn="l" indent="0" marL="0">
              <a:lnSpc>
                <a:spcPct val="115000"/>
              </a:lnSpc>
              <a:buNone/>
            </a:pPr>
            <a:r>
              <a:rPr lang="en-US" sz="1050" dirty="0">
                <a:solidFill>
                  <a:srgbClr val="DDEBF7"/>
                </a:solidFill>
                <a:latin typeface="Courier New" pitchFamily="34" charset="0"/>
                <a:ea typeface="Courier New" pitchFamily="34" charset="-122"/>
                <a:cs typeface="Courier New" pitchFamily="34" charset="-120"/>
              </a:rPr>
              <a:t>B={1,2}</a:t>
            </a:r>
            <a:endParaRPr lang="en-US" sz="1050" dirty="0"/>
          </a:p>
          <a:p>
            <a:pPr algn="l" indent="0" marL="0">
              <a:lnSpc>
                <a:spcPct val="115000"/>
              </a:lnSpc>
              <a:buNone/>
            </a:pPr>
            <a:r>
              <a:rPr lang="en-US" sz="1050" dirty="0">
                <a:solidFill>
                  <a:srgbClr val="FFD98A"/>
                </a:solidFill>
                <a:latin typeface="Courier New" pitchFamily="34" charset="0"/>
                <a:ea typeface="Courier New" pitchFamily="34" charset="-122"/>
                <a:cs typeface="Courier New" pitchFamily="34" charset="-120"/>
              </a:rPr>
              <a:t>A.issuperset(B) → True</a:t>
            </a:r>
            <a:endParaRPr lang="en-US" sz="1050" dirty="0"/>
          </a:p>
        </p:txBody>
      </p:sp>
      <p:sp>
        <p:nvSpPr>
          <p:cNvPr id="30" name="Shape 25"/>
          <p:cNvSpPr/>
          <p:nvPr/>
        </p:nvSpPr>
        <p:spPr>
          <a:xfrm>
            <a:off x="8010144" y="1417320"/>
            <a:ext cx="3593592" cy="4434840"/>
          </a:xfrm>
          <a:prstGeom prst="roundRect">
            <a:avLst>
              <a:gd name="adj" fmla="val 2290"/>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31" name="Shape 26"/>
          <p:cNvSpPr/>
          <p:nvPr/>
        </p:nvSpPr>
        <p:spPr>
          <a:xfrm>
            <a:off x="8238744" y="1645920"/>
            <a:ext cx="548640" cy="548640"/>
          </a:xfrm>
          <a:prstGeom prst="roundRect">
            <a:avLst>
              <a:gd name="adj" fmla="val 16667"/>
            </a:avLst>
          </a:prstGeom>
          <a:solidFill>
            <a:srgbClr val="F2B138"/>
          </a:solidFill>
          <a:ln/>
        </p:spPr>
      </p:sp>
      <p:pic>
        <p:nvPicPr>
          <p:cNvPr id="32" name="Image 3" descr="preencoded.png">    </p:cNvPr>
          <p:cNvPicPr>
            <a:picLocks noChangeAspect="1"/>
          </p:cNvPicPr>
          <p:nvPr/>
        </p:nvPicPr>
        <p:blipFill>
          <a:blip r:embed="rId4"/>
          <a:stretch>
            <a:fillRect/>
          </a:stretch>
        </p:blipFill>
        <p:spPr>
          <a:xfrm>
            <a:off x="8366760" y="1773936"/>
            <a:ext cx="292608" cy="292608"/>
          </a:xfrm>
          <a:prstGeom prst="rect">
            <a:avLst/>
          </a:prstGeom>
        </p:spPr>
      </p:pic>
      <p:sp>
        <p:nvSpPr>
          <p:cNvPr id="33" name="Text 27"/>
          <p:cNvSpPr/>
          <p:nvPr/>
        </p:nvSpPr>
        <p:spPr>
          <a:xfrm>
            <a:off x="8878824" y="1645920"/>
            <a:ext cx="2587752" cy="320040"/>
          </a:xfrm>
          <a:prstGeom prst="rect">
            <a:avLst/>
          </a:prstGeom>
          <a:noFill/>
          <a:ln/>
        </p:spPr>
        <p:txBody>
          <a:bodyPr wrap="square" rtlCol="0" anchor="ctr"/>
          <a:lstStyle/>
          <a:p>
            <a:pPr indent="0" marL="0">
              <a:buNone/>
            </a:pPr>
            <a:r>
              <a:rPr lang="en-US" sz="1500" b="1" dirty="0">
                <a:solidFill>
                  <a:srgbClr val="0A2540"/>
                </a:solidFill>
                <a:latin typeface="Courier New" pitchFamily="34" charset="0"/>
                <a:ea typeface="Courier New" pitchFamily="34" charset="-122"/>
                <a:cs typeface="Courier New" pitchFamily="34" charset="-120"/>
              </a:rPr>
              <a:t>isdisjoint()</a:t>
            </a:r>
            <a:endParaRPr lang="en-US" sz="1500" dirty="0"/>
          </a:p>
        </p:txBody>
      </p:sp>
      <p:sp>
        <p:nvSpPr>
          <p:cNvPr id="34" name="Text 28"/>
          <p:cNvSpPr/>
          <p:nvPr/>
        </p:nvSpPr>
        <p:spPr>
          <a:xfrm>
            <a:off x="8878824" y="1956816"/>
            <a:ext cx="2587752" cy="274320"/>
          </a:xfrm>
          <a:prstGeom prst="rect">
            <a:avLst/>
          </a:prstGeom>
          <a:noFill/>
          <a:ln/>
        </p:spPr>
        <p:txBody>
          <a:bodyPr wrap="square" rtlCol="0" anchor="ctr"/>
          <a:lstStyle/>
          <a:p>
            <a:pPr indent="0" marL="0">
              <a:buNone/>
            </a:pPr>
            <a:r>
              <a:rPr lang="en-US" sz="1300" b="1" dirty="0">
                <a:solidFill>
                  <a:srgbClr val="F2B138"/>
                </a:solidFill>
                <a:latin typeface="Calibri" pitchFamily="34" charset="0"/>
                <a:ea typeface="Calibri" pitchFamily="34" charset="-122"/>
                <a:cs typeface="Calibri" pitchFamily="34" charset="-120"/>
              </a:rPr>
              <a:t>A ∩ B = ∅</a:t>
            </a:r>
            <a:endParaRPr lang="en-US" sz="1300" dirty="0"/>
          </a:p>
        </p:txBody>
      </p:sp>
      <p:sp>
        <p:nvSpPr>
          <p:cNvPr id="35" name="Shape 29"/>
          <p:cNvSpPr/>
          <p:nvPr/>
        </p:nvSpPr>
        <p:spPr>
          <a:xfrm>
            <a:off x="8513064" y="2651760"/>
            <a:ext cx="1234440" cy="1097280"/>
          </a:xfrm>
          <a:prstGeom prst="ellipse">
            <a:avLst/>
          </a:prstGeom>
          <a:solidFill>
            <a:srgbClr val="1C5D99">
              <a:alpha val="65000"/>
            </a:srgbClr>
          </a:solidFill>
          <a:ln w="19050">
            <a:solidFill>
              <a:srgbClr val="0A2540"/>
            </a:solidFill>
            <a:prstDash val="solid"/>
          </a:ln>
        </p:spPr>
      </p:sp>
      <p:sp>
        <p:nvSpPr>
          <p:cNvPr id="36" name="Shape 30"/>
          <p:cNvSpPr/>
          <p:nvPr/>
        </p:nvSpPr>
        <p:spPr>
          <a:xfrm>
            <a:off x="9884664" y="2651760"/>
            <a:ext cx="1234440" cy="1097280"/>
          </a:xfrm>
          <a:prstGeom prst="ellipse">
            <a:avLst/>
          </a:prstGeom>
          <a:solidFill>
            <a:srgbClr val="F2B138">
              <a:alpha val="65000"/>
            </a:srgbClr>
          </a:solidFill>
          <a:ln w="19050">
            <a:solidFill>
              <a:srgbClr val="C88A1E"/>
            </a:solidFill>
            <a:prstDash val="solid"/>
          </a:ln>
        </p:spPr>
      </p:sp>
      <p:sp>
        <p:nvSpPr>
          <p:cNvPr id="37" name="Text 31"/>
          <p:cNvSpPr/>
          <p:nvPr/>
        </p:nvSpPr>
        <p:spPr>
          <a:xfrm>
            <a:off x="8878824" y="3063240"/>
            <a:ext cx="45720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8" name="Text 32"/>
          <p:cNvSpPr/>
          <p:nvPr/>
        </p:nvSpPr>
        <p:spPr>
          <a:xfrm>
            <a:off x="10250424" y="3063240"/>
            <a:ext cx="457200" cy="365760"/>
          </a:xfrm>
          <a:prstGeom prst="rect">
            <a:avLst/>
          </a:prstGeom>
          <a:noFill/>
          <a:ln/>
        </p:spPr>
        <p:txBody>
          <a:bodyPr wrap="square" rtlCol="0" anchor="ctr"/>
          <a:lstStyle/>
          <a:p>
            <a:pPr algn="ctr" indent="0" marL="0">
              <a:buNone/>
            </a:pPr>
            <a:r>
              <a:rPr lang="en-US" sz="1200" b="1" dirty="0">
                <a:solidFill>
                  <a:srgbClr val="16283B"/>
                </a:solidFill>
                <a:latin typeface="Calibri" pitchFamily="34" charset="0"/>
                <a:ea typeface="Calibri" pitchFamily="34" charset="-122"/>
                <a:cs typeface="Calibri" pitchFamily="34" charset="-120"/>
              </a:rPr>
              <a:t>B</a:t>
            </a:r>
            <a:endParaRPr lang="en-US" sz="1200" dirty="0"/>
          </a:p>
        </p:txBody>
      </p:sp>
      <p:sp>
        <p:nvSpPr>
          <p:cNvPr id="39" name="Text 33"/>
          <p:cNvSpPr/>
          <p:nvPr/>
        </p:nvSpPr>
        <p:spPr>
          <a:xfrm>
            <a:off x="8238744" y="3931920"/>
            <a:ext cx="3136392" cy="548640"/>
          </a:xfrm>
          <a:prstGeom prst="rect">
            <a:avLst/>
          </a:prstGeom>
          <a:noFill/>
          <a:ln/>
        </p:spPr>
        <p:txBody>
          <a:bodyPr wrap="square" rtlCol="0" anchor="t"/>
          <a:lstStyle/>
          <a:p>
            <a:pPr algn="ctr" indent="0" marL="0">
              <a:lnSpc>
                <a:spcPct val="105000"/>
              </a:lnSpc>
              <a:buNone/>
            </a:pPr>
            <a:r>
              <a:rPr lang="en-US" sz="1200" dirty="0">
                <a:solidFill>
                  <a:srgbClr val="16283B"/>
                </a:solidFill>
                <a:latin typeface="Calibri" pitchFamily="34" charset="0"/>
                <a:ea typeface="Calibri" pitchFamily="34" charset="-122"/>
                <a:cs typeface="Calibri" pitchFamily="34" charset="-120"/>
              </a:rPr>
              <a:t>A and B share no elements at all</a:t>
            </a:r>
            <a:endParaRPr lang="en-US" sz="1200" dirty="0"/>
          </a:p>
        </p:txBody>
      </p:sp>
      <p:sp>
        <p:nvSpPr>
          <p:cNvPr id="40" name="Shape 34"/>
          <p:cNvSpPr/>
          <p:nvPr/>
        </p:nvSpPr>
        <p:spPr>
          <a:xfrm>
            <a:off x="8238744" y="4572000"/>
            <a:ext cx="3136392" cy="1097280"/>
          </a:xfrm>
          <a:prstGeom prst="roundRect">
            <a:avLst>
              <a:gd name="adj" fmla="val 5000"/>
            </a:avLst>
          </a:prstGeom>
          <a:solidFill>
            <a:srgbClr val="0E2E4A"/>
          </a:solidFill>
          <a:ln/>
          <a:effectLst>
            <a:outerShdw sx="100000" sy="100000" kx="0" ky="0" algn="bl" rotWithShape="0" blurRad="63500" dist="25400" dir="5400000">
              <a:srgbClr val="000000">
                <a:alpha val="18000"/>
              </a:srgbClr>
            </a:outerShdw>
          </a:effectLst>
        </p:spPr>
      </p:sp>
      <p:sp>
        <p:nvSpPr>
          <p:cNvPr id="41" name="Text 35"/>
          <p:cNvSpPr/>
          <p:nvPr/>
        </p:nvSpPr>
        <p:spPr>
          <a:xfrm>
            <a:off x="8421624" y="4681728"/>
            <a:ext cx="2770632" cy="877824"/>
          </a:xfrm>
          <a:prstGeom prst="rect">
            <a:avLst/>
          </a:prstGeom>
          <a:noFill/>
          <a:ln/>
        </p:spPr>
        <p:txBody>
          <a:bodyPr wrap="square" rtlCol="0" anchor="t"/>
          <a:lstStyle/>
          <a:p>
            <a:pPr algn="l" indent="0" marL="0">
              <a:lnSpc>
                <a:spcPct val="115000"/>
              </a:lnSpc>
              <a:buNone/>
            </a:pPr>
            <a:r>
              <a:rPr lang="en-US" sz="1050" dirty="0">
                <a:solidFill>
                  <a:srgbClr val="DDEBF7"/>
                </a:solidFill>
                <a:latin typeface="Courier New" pitchFamily="34" charset="0"/>
                <a:ea typeface="Courier New" pitchFamily="34" charset="-122"/>
                <a:cs typeface="Courier New" pitchFamily="34" charset="-120"/>
              </a:rPr>
              <a:t>A={1,2}</a:t>
            </a:r>
            <a:endParaRPr lang="en-US" sz="1050" dirty="0"/>
          </a:p>
          <a:p>
            <a:pPr algn="l" indent="0" marL="0">
              <a:lnSpc>
                <a:spcPct val="115000"/>
              </a:lnSpc>
              <a:buNone/>
            </a:pPr>
            <a:r>
              <a:rPr lang="en-US" sz="1050" dirty="0">
                <a:solidFill>
                  <a:srgbClr val="DDEBF7"/>
                </a:solidFill>
                <a:latin typeface="Courier New" pitchFamily="34" charset="0"/>
                <a:ea typeface="Courier New" pitchFamily="34" charset="-122"/>
                <a:cs typeface="Courier New" pitchFamily="34" charset="-120"/>
              </a:rPr>
              <a:t>B={3,4}</a:t>
            </a:r>
            <a:endParaRPr lang="en-US" sz="1050" dirty="0"/>
          </a:p>
          <a:p>
            <a:pPr algn="l" indent="0" marL="0">
              <a:lnSpc>
                <a:spcPct val="115000"/>
              </a:lnSpc>
              <a:buNone/>
            </a:pPr>
            <a:r>
              <a:rPr lang="en-US" sz="1050" dirty="0">
                <a:solidFill>
                  <a:srgbClr val="FFD98A"/>
                </a:solidFill>
                <a:latin typeface="Courier New" pitchFamily="34" charset="0"/>
                <a:ea typeface="Courier New" pitchFamily="34" charset="-122"/>
                <a:cs typeface="Courier New" pitchFamily="34" charset="-120"/>
              </a:rPr>
              <a:t>A.isdisjoint(B) → True</a:t>
            </a:r>
            <a:endParaRPr lang="en-US" sz="1050" dirty="0"/>
          </a:p>
        </p:txBody>
      </p:sp>
      <p:sp>
        <p:nvSpPr>
          <p:cNvPr id="42" name="Text 36"/>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3" name="Text 37"/>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12 · REAL PROGRAMMING</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Where Developers Use Sets  (1/2)</a:t>
            </a:r>
            <a:endParaRPr lang="en-US" sz="2600" dirty="0"/>
          </a:p>
        </p:txBody>
      </p:sp>
      <p:sp>
        <p:nvSpPr>
          <p:cNvPr id="6" name="Text 3"/>
          <p:cNvSpPr/>
          <p:nvPr/>
        </p:nvSpPr>
        <p:spPr>
          <a:xfrm>
            <a:off x="548640" y="1325880"/>
            <a:ext cx="11064240" cy="365760"/>
          </a:xfrm>
          <a:prstGeom prst="rect">
            <a:avLst/>
          </a:prstGeom>
          <a:noFill/>
          <a:ln/>
        </p:spPr>
        <p:txBody>
          <a:bodyPr wrap="square" rtlCol="0" anchor="ctr"/>
          <a:lstStyle/>
          <a:p>
            <a:pPr indent="0" marL="0">
              <a:buNone/>
            </a:pPr>
            <a:r>
              <a:rPr lang="en-US" sz="1500" i="1" dirty="0">
                <a:solidFill>
                  <a:srgbClr val="16283B"/>
                </a:solidFill>
                <a:latin typeface="Calibri" pitchFamily="34" charset="0"/>
                <a:ea typeface="Calibri" pitchFamily="34" charset="-122"/>
                <a:cs typeface="Calibri" pitchFamily="34" charset="-120"/>
              </a:rPr>
              <a:t>Sets shine whenever you need uniqueness or a fast "is this in here?" check.</a:t>
            </a:r>
            <a:endParaRPr lang="en-US" sz="1500" dirty="0"/>
          </a:p>
        </p:txBody>
      </p:sp>
      <p:sp>
        <p:nvSpPr>
          <p:cNvPr id="7" name="Shape 4"/>
          <p:cNvSpPr/>
          <p:nvPr/>
        </p:nvSpPr>
        <p:spPr>
          <a:xfrm>
            <a:off x="548640" y="1783080"/>
            <a:ext cx="5394960" cy="1207008"/>
          </a:xfrm>
          <a:prstGeom prst="roundRect">
            <a:avLst>
              <a:gd name="adj" fmla="val 6818"/>
            </a:avLst>
          </a:prstGeom>
          <a:solidFill>
            <a:srgbClr val="E8F1F9"/>
          </a:solidFill>
          <a:ln/>
          <a:effectLst>
            <a:outerShdw sx="100000" sy="100000" kx="0" ky="0" algn="bl" rotWithShape="0" blurRad="76200" dist="25400" dir="5400000">
              <a:srgbClr val="000000">
                <a:alpha val="12000"/>
              </a:srgbClr>
            </a:outerShdw>
          </a:effectLst>
        </p:spPr>
      </p:sp>
      <p:sp>
        <p:nvSpPr>
          <p:cNvPr id="8" name="Shape 5"/>
          <p:cNvSpPr/>
          <p:nvPr/>
        </p:nvSpPr>
        <p:spPr>
          <a:xfrm>
            <a:off x="749808" y="2075688"/>
            <a:ext cx="603504" cy="603504"/>
          </a:xfrm>
          <a:prstGeom prst="roundRect">
            <a:avLst>
              <a:gd name="adj" fmla="val 15152"/>
            </a:avLst>
          </a:prstGeom>
          <a:solidFill>
            <a:srgbClr val="1C5D99"/>
          </a:solidFill>
          <a:ln/>
        </p:spPr>
      </p:sp>
      <p:pic>
        <p:nvPicPr>
          <p:cNvPr id="9" name="Image 1" descr="preencoded.png">    </p:cNvPr>
          <p:cNvPicPr>
            <a:picLocks noChangeAspect="1"/>
          </p:cNvPicPr>
          <p:nvPr/>
        </p:nvPicPr>
        <p:blipFill>
          <a:blip r:embed="rId2"/>
          <a:stretch>
            <a:fillRect/>
          </a:stretch>
        </p:blipFill>
        <p:spPr>
          <a:xfrm>
            <a:off x="886968" y="2212848"/>
            <a:ext cx="329184" cy="329184"/>
          </a:xfrm>
          <a:prstGeom prst="rect">
            <a:avLst/>
          </a:prstGeom>
        </p:spPr>
      </p:pic>
      <p:sp>
        <p:nvSpPr>
          <p:cNvPr id="10" name="Text 6"/>
          <p:cNvSpPr/>
          <p:nvPr/>
        </p:nvSpPr>
        <p:spPr>
          <a:xfrm>
            <a:off x="1508760" y="1965960"/>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Remove Duplicate Emails</a:t>
            </a:r>
            <a:endParaRPr lang="en-US" sz="1500" dirty="0"/>
          </a:p>
        </p:txBody>
      </p:sp>
      <p:sp>
        <p:nvSpPr>
          <p:cNvPr id="11" name="Text 7"/>
          <p:cNvSpPr/>
          <p:nvPr/>
        </p:nvSpPr>
        <p:spPr>
          <a:xfrm>
            <a:off x="1508760" y="2331720"/>
            <a:ext cx="4297680" cy="566928"/>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set(email_list) instantly drops repeats before a mailing.</a:t>
            </a:r>
            <a:endParaRPr lang="en-US" sz="1200" dirty="0"/>
          </a:p>
        </p:txBody>
      </p:sp>
      <p:sp>
        <p:nvSpPr>
          <p:cNvPr id="12" name="Shape 8"/>
          <p:cNvSpPr/>
          <p:nvPr/>
        </p:nvSpPr>
        <p:spPr>
          <a:xfrm>
            <a:off x="6153912" y="1783080"/>
            <a:ext cx="5394960" cy="1207008"/>
          </a:xfrm>
          <a:prstGeom prst="roundRect">
            <a:avLst>
              <a:gd name="adj" fmla="val 6818"/>
            </a:avLst>
          </a:prstGeom>
          <a:solidFill>
            <a:srgbClr val="E8F1F9"/>
          </a:solidFill>
          <a:ln/>
          <a:effectLst>
            <a:outerShdw sx="100000" sy="100000" kx="0" ky="0" algn="bl" rotWithShape="0" blurRad="76200" dist="25400" dir="5400000">
              <a:srgbClr val="000000">
                <a:alpha val="12000"/>
              </a:srgbClr>
            </a:outerShdw>
          </a:effectLst>
        </p:spPr>
      </p:sp>
      <p:sp>
        <p:nvSpPr>
          <p:cNvPr id="13" name="Shape 9"/>
          <p:cNvSpPr/>
          <p:nvPr/>
        </p:nvSpPr>
        <p:spPr>
          <a:xfrm>
            <a:off x="6355080" y="2075688"/>
            <a:ext cx="603504" cy="603504"/>
          </a:xfrm>
          <a:prstGeom prst="roundRect">
            <a:avLst>
              <a:gd name="adj" fmla="val 15152"/>
            </a:avLst>
          </a:prstGeom>
          <a:solidFill>
            <a:srgbClr val="12395B"/>
          </a:solidFill>
          <a:ln/>
        </p:spPr>
      </p:sp>
      <p:pic>
        <p:nvPicPr>
          <p:cNvPr id="14" name="Image 2" descr="preencoded.png">    </p:cNvPr>
          <p:cNvPicPr>
            <a:picLocks noChangeAspect="1"/>
          </p:cNvPicPr>
          <p:nvPr/>
        </p:nvPicPr>
        <p:blipFill>
          <a:blip r:embed="rId3"/>
          <a:stretch>
            <a:fillRect/>
          </a:stretch>
        </p:blipFill>
        <p:spPr>
          <a:xfrm>
            <a:off x="6492240" y="2212848"/>
            <a:ext cx="329184" cy="329184"/>
          </a:xfrm>
          <a:prstGeom prst="rect">
            <a:avLst/>
          </a:prstGeom>
        </p:spPr>
      </p:pic>
      <p:sp>
        <p:nvSpPr>
          <p:cNvPr id="15" name="Text 10"/>
          <p:cNvSpPr/>
          <p:nvPr/>
        </p:nvSpPr>
        <p:spPr>
          <a:xfrm>
            <a:off x="7114032" y="1965960"/>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Fast Username Lookup</a:t>
            </a:r>
            <a:endParaRPr lang="en-US" sz="1500" dirty="0"/>
          </a:p>
        </p:txBody>
      </p:sp>
      <p:sp>
        <p:nvSpPr>
          <p:cNvPr id="16" name="Text 11"/>
          <p:cNvSpPr/>
          <p:nvPr/>
        </p:nvSpPr>
        <p:spPr>
          <a:xfrm>
            <a:off x="7114032" y="2331720"/>
            <a:ext cx="4297680" cy="566928"/>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'name in users' checks millions of names in ~1 step.</a:t>
            </a:r>
            <a:endParaRPr lang="en-US" sz="1200" dirty="0"/>
          </a:p>
        </p:txBody>
      </p:sp>
      <p:sp>
        <p:nvSpPr>
          <p:cNvPr id="17" name="Shape 12"/>
          <p:cNvSpPr/>
          <p:nvPr/>
        </p:nvSpPr>
        <p:spPr>
          <a:xfrm>
            <a:off x="548640" y="3154680"/>
            <a:ext cx="5394960" cy="1207008"/>
          </a:xfrm>
          <a:prstGeom prst="roundRect">
            <a:avLst>
              <a:gd name="adj" fmla="val 6818"/>
            </a:avLst>
          </a:prstGeom>
          <a:solidFill>
            <a:srgbClr val="E8F1F9"/>
          </a:solidFill>
          <a:ln/>
          <a:effectLst>
            <a:outerShdw sx="100000" sy="100000" kx="0" ky="0" algn="bl" rotWithShape="0" blurRad="76200" dist="25400" dir="5400000">
              <a:srgbClr val="000000">
                <a:alpha val="12000"/>
              </a:srgbClr>
            </a:outerShdw>
          </a:effectLst>
        </p:spPr>
      </p:sp>
      <p:sp>
        <p:nvSpPr>
          <p:cNvPr id="18" name="Shape 13"/>
          <p:cNvSpPr/>
          <p:nvPr/>
        </p:nvSpPr>
        <p:spPr>
          <a:xfrm>
            <a:off x="749808" y="3447288"/>
            <a:ext cx="603504" cy="603504"/>
          </a:xfrm>
          <a:prstGeom prst="roundRect">
            <a:avLst>
              <a:gd name="adj" fmla="val 15152"/>
            </a:avLst>
          </a:prstGeom>
          <a:solidFill>
            <a:srgbClr val="2E9E6B"/>
          </a:solidFill>
          <a:ln/>
        </p:spPr>
      </p:sp>
      <p:pic>
        <p:nvPicPr>
          <p:cNvPr id="19" name="Image 3" descr="preencoded.png">    </p:cNvPr>
          <p:cNvPicPr>
            <a:picLocks noChangeAspect="1"/>
          </p:cNvPicPr>
          <p:nvPr/>
        </p:nvPicPr>
        <p:blipFill>
          <a:blip r:embed="rId4"/>
          <a:stretch>
            <a:fillRect/>
          </a:stretch>
        </p:blipFill>
        <p:spPr>
          <a:xfrm>
            <a:off x="886968" y="3584448"/>
            <a:ext cx="329184" cy="329184"/>
          </a:xfrm>
          <a:prstGeom prst="rect">
            <a:avLst/>
          </a:prstGeom>
        </p:spPr>
      </p:pic>
      <p:sp>
        <p:nvSpPr>
          <p:cNvPr id="20" name="Text 14"/>
          <p:cNvSpPr/>
          <p:nvPr/>
        </p:nvSpPr>
        <p:spPr>
          <a:xfrm>
            <a:off x="1508760" y="3337560"/>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Permission Management</a:t>
            </a:r>
            <a:endParaRPr lang="en-US" sz="1500" dirty="0"/>
          </a:p>
        </p:txBody>
      </p:sp>
      <p:sp>
        <p:nvSpPr>
          <p:cNvPr id="21" name="Text 15"/>
          <p:cNvSpPr/>
          <p:nvPr/>
        </p:nvSpPr>
        <p:spPr>
          <a:xfrm>
            <a:off x="1508760" y="3703320"/>
            <a:ext cx="4297680" cy="566928"/>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required.issubset(user_perms) confirms access in one call.</a:t>
            </a:r>
            <a:endParaRPr lang="en-US" sz="1200" dirty="0"/>
          </a:p>
        </p:txBody>
      </p:sp>
      <p:sp>
        <p:nvSpPr>
          <p:cNvPr id="22" name="Shape 16"/>
          <p:cNvSpPr/>
          <p:nvPr/>
        </p:nvSpPr>
        <p:spPr>
          <a:xfrm>
            <a:off x="6153912" y="3154680"/>
            <a:ext cx="5394960" cy="1207008"/>
          </a:xfrm>
          <a:prstGeom prst="roundRect">
            <a:avLst>
              <a:gd name="adj" fmla="val 6818"/>
            </a:avLst>
          </a:prstGeom>
          <a:solidFill>
            <a:srgbClr val="E8F1F9"/>
          </a:solidFill>
          <a:ln/>
          <a:effectLst>
            <a:outerShdw sx="100000" sy="100000" kx="0" ky="0" algn="bl" rotWithShape="0" blurRad="76200" dist="25400" dir="5400000">
              <a:srgbClr val="000000">
                <a:alpha val="12000"/>
              </a:srgbClr>
            </a:outerShdw>
          </a:effectLst>
        </p:spPr>
      </p:sp>
      <p:sp>
        <p:nvSpPr>
          <p:cNvPr id="23" name="Shape 17"/>
          <p:cNvSpPr/>
          <p:nvPr/>
        </p:nvSpPr>
        <p:spPr>
          <a:xfrm>
            <a:off x="6355080" y="3447288"/>
            <a:ext cx="603504" cy="603504"/>
          </a:xfrm>
          <a:prstGeom prst="roundRect">
            <a:avLst>
              <a:gd name="adj" fmla="val 15152"/>
            </a:avLst>
          </a:prstGeom>
          <a:solidFill>
            <a:srgbClr val="F2B138"/>
          </a:solidFill>
          <a:ln/>
        </p:spPr>
      </p:sp>
      <p:pic>
        <p:nvPicPr>
          <p:cNvPr id="24" name="Image 4" descr="preencoded.png">    </p:cNvPr>
          <p:cNvPicPr>
            <a:picLocks noChangeAspect="1"/>
          </p:cNvPicPr>
          <p:nvPr/>
        </p:nvPicPr>
        <p:blipFill>
          <a:blip r:embed="rId5"/>
          <a:stretch>
            <a:fillRect/>
          </a:stretch>
        </p:blipFill>
        <p:spPr>
          <a:xfrm>
            <a:off x="6492240" y="3584448"/>
            <a:ext cx="329184" cy="329184"/>
          </a:xfrm>
          <a:prstGeom prst="rect">
            <a:avLst/>
          </a:prstGeom>
        </p:spPr>
      </p:pic>
      <p:sp>
        <p:nvSpPr>
          <p:cNvPr id="25" name="Text 18"/>
          <p:cNvSpPr/>
          <p:nvPr/>
        </p:nvSpPr>
        <p:spPr>
          <a:xfrm>
            <a:off x="7114032" y="3337560"/>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Role-Based Access (RBAC)</a:t>
            </a:r>
            <a:endParaRPr lang="en-US" sz="1500" dirty="0"/>
          </a:p>
        </p:txBody>
      </p:sp>
      <p:sp>
        <p:nvSpPr>
          <p:cNvPr id="26" name="Text 19"/>
          <p:cNvSpPr/>
          <p:nvPr/>
        </p:nvSpPr>
        <p:spPr>
          <a:xfrm>
            <a:off x="7114032" y="3703320"/>
            <a:ext cx="4297680" cy="566928"/>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Combine role sets with | to merge a user's total powers.</a:t>
            </a:r>
            <a:endParaRPr lang="en-US" sz="1200" dirty="0"/>
          </a:p>
        </p:txBody>
      </p:sp>
      <p:sp>
        <p:nvSpPr>
          <p:cNvPr id="27" name="Shape 20"/>
          <p:cNvSpPr/>
          <p:nvPr/>
        </p:nvSpPr>
        <p:spPr>
          <a:xfrm>
            <a:off x="548640" y="4526280"/>
            <a:ext cx="5394960" cy="1207008"/>
          </a:xfrm>
          <a:prstGeom prst="roundRect">
            <a:avLst>
              <a:gd name="adj" fmla="val 6818"/>
            </a:avLst>
          </a:prstGeom>
          <a:solidFill>
            <a:srgbClr val="E8F1F9"/>
          </a:solidFill>
          <a:ln/>
          <a:effectLst>
            <a:outerShdw sx="100000" sy="100000" kx="0" ky="0" algn="bl" rotWithShape="0" blurRad="76200" dist="25400" dir="5400000">
              <a:srgbClr val="000000">
                <a:alpha val="12000"/>
              </a:srgbClr>
            </a:outerShdw>
          </a:effectLst>
        </p:spPr>
      </p:sp>
      <p:sp>
        <p:nvSpPr>
          <p:cNvPr id="28" name="Shape 21"/>
          <p:cNvSpPr/>
          <p:nvPr/>
        </p:nvSpPr>
        <p:spPr>
          <a:xfrm>
            <a:off x="749808" y="4818888"/>
            <a:ext cx="603504" cy="603504"/>
          </a:xfrm>
          <a:prstGeom prst="roundRect">
            <a:avLst>
              <a:gd name="adj" fmla="val 15152"/>
            </a:avLst>
          </a:prstGeom>
          <a:solidFill>
            <a:srgbClr val="E1674C"/>
          </a:solidFill>
          <a:ln/>
        </p:spPr>
      </p:sp>
      <p:pic>
        <p:nvPicPr>
          <p:cNvPr id="29" name="Image 5" descr="preencoded.png">    </p:cNvPr>
          <p:cNvPicPr>
            <a:picLocks noChangeAspect="1"/>
          </p:cNvPicPr>
          <p:nvPr/>
        </p:nvPicPr>
        <p:blipFill>
          <a:blip r:embed="rId6"/>
          <a:stretch>
            <a:fillRect/>
          </a:stretch>
        </p:blipFill>
        <p:spPr>
          <a:xfrm>
            <a:off x="886968" y="4956048"/>
            <a:ext cx="329184" cy="329184"/>
          </a:xfrm>
          <a:prstGeom prst="rect">
            <a:avLst/>
          </a:prstGeom>
        </p:spPr>
      </p:pic>
      <p:sp>
        <p:nvSpPr>
          <p:cNvPr id="30" name="Text 22"/>
          <p:cNvSpPr/>
          <p:nvPr/>
        </p:nvSpPr>
        <p:spPr>
          <a:xfrm>
            <a:off x="1508760" y="4709160"/>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Compare API Permissions</a:t>
            </a:r>
            <a:endParaRPr lang="en-US" sz="1500" dirty="0"/>
          </a:p>
        </p:txBody>
      </p:sp>
      <p:sp>
        <p:nvSpPr>
          <p:cNvPr id="31" name="Text 23"/>
          <p:cNvSpPr/>
          <p:nvPr/>
        </p:nvSpPr>
        <p:spPr>
          <a:xfrm>
            <a:off x="1508760" y="5074920"/>
            <a:ext cx="4297680" cy="566928"/>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old_perms ^ new_perms shows exactly what changed.</a:t>
            </a:r>
            <a:endParaRPr lang="en-US" sz="1200" dirty="0"/>
          </a:p>
        </p:txBody>
      </p:sp>
      <p:sp>
        <p:nvSpPr>
          <p:cNvPr id="32" name="Shape 24"/>
          <p:cNvSpPr/>
          <p:nvPr/>
        </p:nvSpPr>
        <p:spPr>
          <a:xfrm>
            <a:off x="6153912" y="4526280"/>
            <a:ext cx="5394960" cy="1207008"/>
          </a:xfrm>
          <a:prstGeom prst="roundRect">
            <a:avLst>
              <a:gd name="adj" fmla="val 6818"/>
            </a:avLst>
          </a:prstGeom>
          <a:solidFill>
            <a:srgbClr val="E8F1F9"/>
          </a:solidFill>
          <a:ln/>
          <a:effectLst>
            <a:outerShdw sx="100000" sy="100000" kx="0" ky="0" algn="bl" rotWithShape="0" blurRad="76200" dist="25400" dir="5400000">
              <a:srgbClr val="000000">
                <a:alpha val="12000"/>
              </a:srgbClr>
            </a:outerShdw>
          </a:effectLst>
        </p:spPr>
      </p:sp>
      <p:sp>
        <p:nvSpPr>
          <p:cNvPr id="33" name="Shape 25"/>
          <p:cNvSpPr/>
          <p:nvPr/>
        </p:nvSpPr>
        <p:spPr>
          <a:xfrm>
            <a:off x="6355080" y="4818888"/>
            <a:ext cx="603504" cy="603504"/>
          </a:xfrm>
          <a:prstGeom prst="roundRect">
            <a:avLst>
              <a:gd name="adj" fmla="val 15152"/>
            </a:avLst>
          </a:prstGeom>
          <a:solidFill>
            <a:srgbClr val="1C5D99"/>
          </a:solidFill>
          <a:ln/>
        </p:spPr>
      </p:sp>
      <p:pic>
        <p:nvPicPr>
          <p:cNvPr id="34" name="Image 6" descr="preencoded.png">    </p:cNvPr>
          <p:cNvPicPr>
            <a:picLocks noChangeAspect="1"/>
          </p:cNvPicPr>
          <p:nvPr/>
        </p:nvPicPr>
        <p:blipFill>
          <a:blip r:embed="rId7"/>
          <a:stretch>
            <a:fillRect/>
          </a:stretch>
        </p:blipFill>
        <p:spPr>
          <a:xfrm>
            <a:off x="6492240" y="4956048"/>
            <a:ext cx="329184" cy="329184"/>
          </a:xfrm>
          <a:prstGeom prst="rect">
            <a:avLst/>
          </a:prstGeom>
        </p:spPr>
      </p:pic>
      <p:sp>
        <p:nvSpPr>
          <p:cNvPr id="35" name="Text 26"/>
          <p:cNvSpPr/>
          <p:nvPr/>
        </p:nvSpPr>
        <p:spPr>
          <a:xfrm>
            <a:off x="7114032" y="4709160"/>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Student Enrollment Compare</a:t>
            </a:r>
            <a:endParaRPr lang="en-US" sz="1500" dirty="0"/>
          </a:p>
        </p:txBody>
      </p:sp>
      <p:sp>
        <p:nvSpPr>
          <p:cNvPr id="36" name="Text 27"/>
          <p:cNvSpPr/>
          <p:nvPr/>
        </p:nvSpPr>
        <p:spPr>
          <a:xfrm>
            <a:off x="7114032" y="5074920"/>
            <a:ext cx="4297680" cy="566928"/>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setA &amp; setB → students taking both courses.</a:t>
            </a:r>
            <a:endParaRPr lang="en-US" sz="1200" dirty="0"/>
          </a:p>
        </p:txBody>
      </p:sp>
      <p:sp>
        <p:nvSpPr>
          <p:cNvPr id="37" name="Text 28"/>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38" name="Text 29"/>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12 · REAL PROGRAMMING</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Where Developers Use Sets  (2/2)</a:t>
            </a:r>
            <a:endParaRPr lang="en-US" sz="2600" dirty="0"/>
          </a:p>
        </p:txBody>
      </p:sp>
      <p:sp>
        <p:nvSpPr>
          <p:cNvPr id="6" name="Shape 3"/>
          <p:cNvSpPr/>
          <p:nvPr/>
        </p:nvSpPr>
        <p:spPr>
          <a:xfrm>
            <a:off x="548640" y="1463040"/>
            <a:ext cx="5394960" cy="1252728"/>
          </a:xfrm>
          <a:prstGeom prst="roundRect">
            <a:avLst>
              <a:gd name="adj" fmla="val 6569"/>
            </a:avLst>
          </a:prstGeom>
          <a:solidFill>
            <a:srgbClr val="E8F1F9"/>
          </a:solidFill>
          <a:ln/>
          <a:effectLst>
            <a:outerShdw sx="100000" sy="100000" kx="0" ky="0" algn="bl" rotWithShape="0" blurRad="76200" dist="25400" dir="5400000">
              <a:srgbClr val="000000">
                <a:alpha val="12000"/>
              </a:srgbClr>
            </a:outerShdw>
          </a:effectLst>
        </p:spPr>
      </p:sp>
      <p:sp>
        <p:nvSpPr>
          <p:cNvPr id="7" name="Shape 4"/>
          <p:cNvSpPr/>
          <p:nvPr/>
        </p:nvSpPr>
        <p:spPr>
          <a:xfrm>
            <a:off x="749808" y="1783080"/>
            <a:ext cx="603504" cy="603504"/>
          </a:xfrm>
          <a:prstGeom prst="roundRect">
            <a:avLst>
              <a:gd name="adj" fmla="val 15152"/>
            </a:avLst>
          </a:prstGeom>
          <a:solidFill>
            <a:srgbClr val="1C5D99"/>
          </a:solidFill>
          <a:ln/>
        </p:spPr>
      </p:sp>
      <p:pic>
        <p:nvPicPr>
          <p:cNvPr id="8" name="Image 1" descr="preencoded.png">    </p:cNvPr>
          <p:cNvPicPr>
            <a:picLocks noChangeAspect="1"/>
          </p:cNvPicPr>
          <p:nvPr/>
        </p:nvPicPr>
        <p:blipFill>
          <a:blip r:embed="rId2"/>
          <a:stretch>
            <a:fillRect/>
          </a:stretch>
        </p:blipFill>
        <p:spPr>
          <a:xfrm>
            <a:off x="886968" y="1920240"/>
            <a:ext cx="329184" cy="329184"/>
          </a:xfrm>
          <a:prstGeom prst="rect">
            <a:avLst/>
          </a:prstGeom>
        </p:spPr>
      </p:pic>
      <p:sp>
        <p:nvSpPr>
          <p:cNvPr id="9" name="Text 5"/>
          <p:cNvSpPr/>
          <p:nvPr/>
        </p:nvSpPr>
        <p:spPr>
          <a:xfrm>
            <a:off x="1508760" y="1664208"/>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Product Comparison</a:t>
            </a:r>
            <a:endParaRPr lang="en-US" sz="1500" dirty="0"/>
          </a:p>
        </p:txBody>
      </p:sp>
      <p:sp>
        <p:nvSpPr>
          <p:cNvPr id="10" name="Text 6"/>
          <p:cNvSpPr/>
          <p:nvPr/>
        </p:nvSpPr>
        <p:spPr>
          <a:xfrm>
            <a:off x="1508760" y="2048256"/>
            <a:ext cx="4297680" cy="603504"/>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featuresA ^ featuresB → what differs between two products.</a:t>
            </a:r>
            <a:endParaRPr lang="en-US" sz="1200" dirty="0"/>
          </a:p>
        </p:txBody>
      </p:sp>
      <p:sp>
        <p:nvSpPr>
          <p:cNvPr id="11" name="Shape 7"/>
          <p:cNvSpPr/>
          <p:nvPr/>
        </p:nvSpPr>
        <p:spPr>
          <a:xfrm>
            <a:off x="6153912" y="1463040"/>
            <a:ext cx="5394960" cy="1252728"/>
          </a:xfrm>
          <a:prstGeom prst="roundRect">
            <a:avLst>
              <a:gd name="adj" fmla="val 6569"/>
            </a:avLst>
          </a:prstGeom>
          <a:solidFill>
            <a:srgbClr val="E8F1F9"/>
          </a:solidFill>
          <a:ln/>
          <a:effectLst>
            <a:outerShdw sx="100000" sy="100000" kx="0" ky="0" algn="bl" rotWithShape="0" blurRad="76200" dist="25400" dir="5400000">
              <a:srgbClr val="000000">
                <a:alpha val="12000"/>
              </a:srgbClr>
            </a:outerShdw>
          </a:effectLst>
        </p:spPr>
      </p:sp>
      <p:sp>
        <p:nvSpPr>
          <p:cNvPr id="12" name="Shape 8"/>
          <p:cNvSpPr/>
          <p:nvPr/>
        </p:nvSpPr>
        <p:spPr>
          <a:xfrm>
            <a:off x="6355080" y="1783080"/>
            <a:ext cx="603504" cy="603504"/>
          </a:xfrm>
          <a:prstGeom prst="roundRect">
            <a:avLst>
              <a:gd name="adj" fmla="val 15152"/>
            </a:avLst>
          </a:prstGeom>
          <a:solidFill>
            <a:srgbClr val="12395B"/>
          </a:solidFill>
          <a:ln/>
        </p:spPr>
      </p:sp>
      <p:pic>
        <p:nvPicPr>
          <p:cNvPr id="13" name="Image 2" descr="preencoded.png">    </p:cNvPr>
          <p:cNvPicPr>
            <a:picLocks noChangeAspect="1"/>
          </p:cNvPicPr>
          <p:nvPr/>
        </p:nvPicPr>
        <p:blipFill>
          <a:blip r:embed="rId3"/>
          <a:stretch>
            <a:fillRect/>
          </a:stretch>
        </p:blipFill>
        <p:spPr>
          <a:xfrm>
            <a:off x="6492240" y="1920240"/>
            <a:ext cx="329184" cy="329184"/>
          </a:xfrm>
          <a:prstGeom prst="rect">
            <a:avLst/>
          </a:prstGeom>
        </p:spPr>
      </p:pic>
      <p:sp>
        <p:nvSpPr>
          <p:cNvPr id="14" name="Text 9"/>
          <p:cNvSpPr/>
          <p:nvPr/>
        </p:nvSpPr>
        <p:spPr>
          <a:xfrm>
            <a:off x="7114032" y="1664208"/>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NLP: Unique Words</a:t>
            </a:r>
            <a:endParaRPr lang="en-US" sz="1500" dirty="0"/>
          </a:p>
        </p:txBody>
      </p:sp>
      <p:sp>
        <p:nvSpPr>
          <p:cNvPr id="15" name="Text 10"/>
          <p:cNvSpPr/>
          <p:nvPr/>
        </p:nvSpPr>
        <p:spPr>
          <a:xfrm>
            <a:off x="7114032" y="2048256"/>
            <a:ext cx="4297680" cy="603504"/>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set(text.split()) gives the vocabulary of a document.</a:t>
            </a:r>
            <a:endParaRPr lang="en-US" sz="1200" dirty="0"/>
          </a:p>
        </p:txBody>
      </p:sp>
      <p:sp>
        <p:nvSpPr>
          <p:cNvPr id="16" name="Shape 11"/>
          <p:cNvSpPr/>
          <p:nvPr/>
        </p:nvSpPr>
        <p:spPr>
          <a:xfrm>
            <a:off x="548640" y="2880360"/>
            <a:ext cx="5394960" cy="1252728"/>
          </a:xfrm>
          <a:prstGeom prst="roundRect">
            <a:avLst>
              <a:gd name="adj" fmla="val 6569"/>
            </a:avLst>
          </a:prstGeom>
          <a:solidFill>
            <a:srgbClr val="E8F1F9"/>
          </a:solidFill>
          <a:ln/>
          <a:effectLst>
            <a:outerShdw sx="100000" sy="100000" kx="0" ky="0" algn="bl" rotWithShape="0" blurRad="76200" dist="25400" dir="5400000">
              <a:srgbClr val="000000">
                <a:alpha val="12000"/>
              </a:srgbClr>
            </a:outerShdw>
          </a:effectLst>
        </p:spPr>
      </p:sp>
      <p:sp>
        <p:nvSpPr>
          <p:cNvPr id="17" name="Shape 12"/>
          <p:cNvSpPr/>
          <p:nvPr/>
        </p:nvSpPr>
        <p:spPr>
          <a:xfrm>
            <a:off x="749808" y="3200400"/>
            <a:ext cx="603504" cy="603504"/>
          </a:xfrm>
          <a:prstGeom prst="roundRect">
            <a:avLst>
              <a:gd name="adj" fmla="val 15152"/>
            </a:avLst>
          </a:prstGeom>
          <a:solidFill>
            <a:srgbClr val="2E9E6B"/>
          </a:solidFill>
          <a:ln/>
        </p:spPr>
      </p:sp>
      <p:pic>
        <p:nvPicPr>
          <p:cNvPr id="18" name="Image 3" descr="preencoded.png">    </p:cNvPr>
          <p:cNvPicPr>
            <a:picLocks noChangeAspect="1"/>
          </p:cNvPicPr>
          <p:nvPr/>
        </p:nvPicPr>
        <p:blipFill>
          <a:blip r:embed="rId4"/>
          <a:stretch>
            <a:fillRect/>
          </a:stretch>
        </p:blipFill>
        <p:spPr>
          <a:xfrm>
            <a:off x="886968" y="3337560"/>
            <a:ext cx="329184" cy="329184"/>
          </a:xfrm>
          <a:prstGeom prst="rect">
            <a:avLst/>
          </a:prstGeom>
        </p:spPr>
      </p:pic>
      <p:sp>
        <p:nvSpPr>
          <p:cNvPr id="19" name="Text 13"/>
          <p:cNvSpPr/>
          <p:nvPr/>
        </p:nvSpPr>
        <p:spPr>
          <a:xfrm>
            <a:off x="1508760" y="3081528"/>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AI Preprocessing</a:t>
            </a:r>
            <a:endParaRPr lang="en-US" sz="1500" dirty="0"/>
          </a:p>
        </p:txBody>
      </p:sp>
      <p:sp>
        <p:nvSpPr>
          <p:cNvPr id="20" name="Text 14"/>
          <p:cNvSpPr/>
          <p:nvPr/>
        </p:nvSpPr>
        <p:spPr>
          <a:xfrm>
            <a:off x="1508760" y="3465576"/>
            <a:ext cx="4297680" cy="603504"/>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Deduplicate training samples so the model isn't biased by repeats.</a:t>
            </a:r>
            <a:endParaRPr lang="en-US" sz="1200" dirty="0"/>
          </a:p>
        </p:txBody>
      </p:sp>
      <p:sp>
        <p:nvSpPr>
          <p:cNvPr id="21" name="Shape 15"/>
          <p:cNvSpPr/>
          <p:nvPr/>
        </p:nvSpPr>
        <p:spPr>
          <a:xfrm>
            <a:off x="6153912" y="2880360"/>
            <a:ext cx="5394960" cy="1252728"/>
          </a:xfrm>
          <a:prstGeom prst="roundRect">
            <a:avLst>
              <a:gd name="adj" fmla="val 6569"/>
            </a:avLst>
          </a:prstGeom>
          <a:solidFill>
            <a:srgbClr val="E8F1F9"/>
          </a:solidFill>
          <a:ln/>
          <a:effectLst>
            <a:outerShdw sx="100000" sy="100000" kx="0" ky="0" algn="bl" rotWithShape="0" blurRad="76200" dist="25400" dir="5400000">
              <a:srgbClr val="000000">
                <a:alpha val="12000"/>
              </a:srgbClr>
            </a:outerShdw>
          </a:effectLst>
        </p:spPr>
      </p:sp>
      <p:sp>
        <p:nvSpPr>
          <p:cNvPr id="22" name="Shape 16"/>
          <p:cNvSpPr/>
          <p:nvPr/>
        </p:nvSpPr>
        <p:spPr>
          <a:xfrm>
            <a:off x="6355080" y="3200400"/>
            <a:ext cx="603504" cy="603504"/>
          </a:xfrm>
          <a:prstGeom prst="roundRect">
            <a:avLst>
              <a:gd name="adj" fmla="val 15152"/>
            </a:avLst>
          </a:prstGeom>
          <a:solidFill>
            <a:srgbClr val="F2B138"/>
          </a:solidFill>
          <a:ln/>
        </p:spPr>
      </p:sp>
      <p:pic>
        <p:nvPicPr>
          <p:cNvPr id="23" name="Image 4" descr="preencoded.png">    </p:cNvPr>
          <p:cNvPicPr>
            <a:picLocks noChangeAspect="1"/>
          </p:cNvPicPr>
          <p:nvPr/>
        </p:nvPicPr>
        <p:blipFill>
          <a:blip r:embed="rId5"/>
          <a:stretch>
            <a:fillRect/>
          </a:stretch>
        </p:blipFill>
        <p:spPr>
          <a:xfrm>
            <a:off x="6492240" y="3337560"/>
            <a:ext cx="329184" cy="329184"/>
          </a:xfrm>
          <a:prstGeom prst="rect">
            <a:avLst/>
          </a:prstGeom>
        </p:spPr>
      </p:pic>
      <p:sp>
        <p:nvSpPr>
          <p:cNvPr id="24" name="Text 17"/>
          <p:cNvSpPr/>
          <p:nvPr/>
        </p:nvSpPr>
        <p:spPr>
          <a:xfrm>
            <a:off x="7114032" y="3081528"/>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Software Version Diff</a:t>
            </a:r>
            <a:endParaRPr lang="en-US" sz="1500" dirty="0"/>
          </a:p>
        </p:txBody>
      </p:sp>
      <p:sp>
        <p:nvSpPr>
          <p:cNvPr id="25" name="Text 18"/>
          <p:cNvSpPr/>
          <p:nvPr/>
        </p:nvSpPr>
        <p:spPr>
          <a:xfrm>
            <a:off x="7114032" y="3465576"/>
            <a:ext cx="4297680" cy="603504"/>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v2_features - v1_features lists newly added features.</a:t>
            </a:r>
            <a:endParaRPr lang="en-US" sz="1200" dirty="0"/>
          </a:p>
        </p:txBody>
      </p:sp>
      <p:sp>
        <p:nvSpPr>
          <p:cNvPr id="26" name="Shape 19"/>
          <p:cNvSpPr/>
          <p:nvPr/>
        </p:nvSpPr>
        <p:spPr>
          <a:xfrm>
            <a:off x="548640" y="4297680"/>
            <a:ext cx="5394960" cy="1252728"/>
          </a:xfrm>
          <a:prstGeom prst="roundRect">
            <a:avLst>
              <a:gd name="adj" fmla="val 6569"/>
            </a:avLst>
          </a:prstGeom>
          <a:solidFill>
            <a:srgbClr val="E8F1F9"/>
          </a:solidFill>
          <a:ln/>
          <a:effectLst>
            <a:outerShdw sx="100000" sy="100000" kx="0" ky="0" algn="bl" rotWithShape="0" blurRad="76200" dist="25400" dir="5400000">
              <a:srgbClr val="000000">
                <a:alpha val="12000"/>
              </a:srgbClr>
            </a:outerShdw>
          </a:effectLst>
        </p:spPr>
      </p:sp>
      <p:sp>
        <p:nvSpPr>
          <p:cNvPr id="27" name="Shape 20"/>
          <p:cNvSpPr/>
          <p:nvPr/>
        </p:nvSpPr>
        <p:spPr>
          <a:xfrm>
            <a:off x="749808" y="4617720"/>
            <a:ext cx="603504" cy="603504"/>
          </a:xfrm>
          <a:prstGeom prst="roundRect">
            <a:avLst>
              <a:gd name="adj" fmla="val 15152"/>
            </a:avLst>
          </a:prstGeom>
          <a:solidFill>
            <a:srgbClr val="E1674C"/>
          </a:solidFill>
          <a:ln/>
        </p:spPr>
      </p:sp>
      <p:pic>
        <p:nvPicPr>
          <p:cNvPr id="28" name="Image 5" descr="preencoded.png">    </p:cNvPr>
          <p:cNvPicPr>
            <a:picLocks noChangeAspect="1"/>
          </p:cNvPicPr>
          <p:nvPr/>
        </p:nvPicPr>
        <p:blipFill>
          <a:blip r:embed="rId6"/>
          <a:stretch>
            <a:fillRect/>
          </a:stretch>
        </p:blipFill>
        <p:spPr>
          <a:xfrm>
            <a:off x="886968" y="4754880"/>
            <a:ext cx="329184" cy="329184"/>
          </a:xfrm>
          <a:prstGeom prst="rect">
            <a:avLst/>
          </a:prstGeom>
        </p:spPr>
      </p:pic>
      <p:sp>
        <p:nvSpPr>
          <p:cNvPr id="29" name="Text 21"/>
          <p:cNvSpPr/>
          <p:nvPr/>
        </p:nvSpPr>
        <p:spPr>
          <a:xfrm>
            <a:off x="1508760" y="4498848"/>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Clean a Dataset</a:t>
            </a:r>
            <a:endParaRPr lang="en-US" sz="1500" dirty="0"/>
          </a:p>
        </p:txBody>
      </p:sp>
      <p:sp>
        <p:nvSpPr>
          <p:cNvPr id="30" name="Text 22"/>
          <p:cNvSpPr/>
          <p:nvPr/>
        </p:nvSpPr>
        <p:spPr>
          <a:xfrm>
            <a:off x="1508760" y="4882896"/>
            <a:ext cx="4297680" cy="603504"/>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Drop duplicate rows/IDs fast before analysis.</a:t>
            </a:r>
            <a:endParaRPr lang="en-US" sz="1200" dirty="0"/>
          </a:p>
        </p:txBody>
      </p:sp>
      <p:sp>
        <p:nvSpPr>
          <p:cNvPr id="31" name="Shape 23"/>
          <p:cNvSpPr/>
          <p:nvPr/>
        </p:nvSpPr>
        <p:spPr>
          <a:xfrm>
            <a:off x="6153912" y="4297680"/>
            <a:ext cx="5394960" cy="1252728"/>
          </a:xfrm>
          <a:prstGeom prst="roundRect">
            <a:avLst>
              <a:gd name="adj" fmla="val 6569"/>
            </a:avLst>
          </a:prstGeom>
          <a:solidFill>
            <a:srgbClr val="E8F1F9"/>
          </a:solidFill>
          <a:ln/>
          <a:effectLst>
            <a:outerShdw sx="100000" sy="100000" kx="0" ky="0" algn="bl" rotWithShape="0" blurRad="76200" dist="25400" dir="5400000">
              <a:srgbClr val="000000">
                <a:alpha val="12000"/>
              </a:srgbClr>
            </a:outerShdw>
          </a:effectLst>
        </p:spPr>
      </p:sp>
      <p:sp>
        <p:nvSpPr>
          <p:cNvPr id="32" name="Shape 24"/>
          <p:cNvSpPr/>
          <p:nvPr/>
        </p:nvSpPr>
        <p:spPr>
          <a:xfrm>
            <a:off x="6355080" y="4617720"/>
            <a:ext cx="603504" cy="603504"/>
          </a:xfrm>
          <a:prstGeom prst="roundRect">
            <a:avLst>
              <a:gd name="adj" fmla="val 15152"/>
            </a:avLst>
          </a:prstGeom>
          <a:solidFill>
            <a:srgbClr val="1C5D99"/>
          </a:solidFill>
          <a:ln/>
        </p:spPr>
      </p:sp>
      <p:pic>
        <p:nvPicPr>
          <p:cNvPr id="33" name="Image 6" descr="preencoded.png">    </p:cNvPr>
          <p:cNvPicPr>
            <a:picLocks noChangeAspect="1"/>
          </p:cNvPicPr>
          <p:nvPr/>
        </p:nvPicPr>
        <p:blipFill>
          <a:blip r:embed="rId7"/>
          <a:stretch>
            <a:fillRect/>
          </a:stretch>
        </p:blipFill>
        <p:spPr>
          <a:xfrm>
            <a:off x="6492240" y="4754880"/>
            <a:ext cx="329184" cy="329184"/>
          </a:xfrm>
          <a:prstGeom prst="rect">
            <a:avLst/>
          </a:prstGeom>
        </p:spPr>
      </p:pic>
      <p:sp>
        <p:nvSpPr>
          <p:cNvPr id="34" name="Text 25"/>
          <p:cNvSpPr/>
          <p:nvPr/>
        </p:nvSpPr>
        <p:spPr>
          <a:xfrm>
            <a:off x="7114032" y="4498848"/>
            <a:ext cx="4297680" cy="365760"/>
          </a:xfrm>
          <a:prstGeom prst="rect">
            <a:avLst/>
          </a:prstGeom>
          <a:noFill/>
          <a:ln/>
        </p:spPr>
        <p:txBody>
          <a:bodyPr wrap="square"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Deduplicate Logs</a:t>
            </a:r>
            <a:endParaRPr lang="en-US" sz="1500" dirty="0"/>
          </a:p>
        </p:txBody>
      </p:sp>
      <p:sp>
        <p:nvSpPr>
          <p:cNvPr id="35" name="Text 26"/>
          <p:cNvSpPr/>
          <p:nvPr/>
        </p:nvSpPr>
        <p:spPr>
          <a:xfrm>
            <a:off x="7114032" y="4882896"/>
            <a:ext cx="4297680" cy="603504"/>
          </a:xfrm>
          <a:prstGeom prst="rect">
            <a:avLst/>
          </a:prstGeom>
          <a:noFill/>
          <a:ln/>
        </p:spPr>
        <p:txBody>
          <a:bodyPr wrap="square" rtlCol="0" anchor="t"/>
          <a:lstStyle/>
          <a:p>
            <a:pPr indent="0" marL="0">
              <a:buNone/>
            </a:pPr>
            <a:r>
              <a:rPr lang="en-US" sz="1200" dirty="0">
                <a:solidFill>
                  <a:srgbClr val="5C7488"/>
                </a:solidFill>
                <a:latin typeface="Courier New" pitchFamily="34" charset="0"/>
                <a:ea typeface="Courier New" pitchFamily="34" charset="-122"/>
                <a:cs typeface="Courier New" pitchFamily="34" charset="-120"/>
              </a:rPr>
              <a:t>Collapse repeated error signatures into unique issues.</a:t>
            </a:r>
            <a:endParaRPr lang="en-US" sz="1200" dirty="0"/>
          </a:p>
        </p:txBody>
      </p:sp>
      <p:sp>
        <p:nvSpPr>
          <p:cNvPr id="36" name="Text 27"/>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37" name="Text 28"/>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13 · PERFORMANCE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List vs Set vs Dictionary</a:t>
            </a:r>
            <a:endParaRPr lang="en-US" sz="2600" dirty="0"/>
          </a:p>
        </p:txBody>
      </p:sp>
      <p:sp>
        <p:nvSpPr>
          <p:cNvPr id="6" name="Shape 3"/>
          <p:cNvSpPr/>
          <p:nvPr/>
        </p:nvSpPr>
        <p:spPr>
          <a:xfrm>
            <a:off x="548640" y="1371600"/>
            <a:ext cx="11091672" cy="502920"/>
          </a:xfrm>
          <a:prstGeom prst="roundRect">
            <a:avLst>
              <a:gd name="adj" fmla="val 9091"/>
            </a:avLst>
          </a:prstGeom>
          <a:solidFill>
            <a:srgbClr val="0A2540"/>
          </a:solidFill>
          <a:ln/>
        </p:spPr>
      </p:sp>
      <p:sp>
        <p:nvSpPr>
          <p:cNvPr id="7" name="Text 4"/>
          <p:cNvSpPr/>
          <p:nvPr/>
        </p:nvSpPr>
        <p:spPr>
          <a:xfrm>
            <a:off x="685800" y="1371600"/>
            <a:ext cx="347472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p>
        </p:txBody>
      </p:sp>
      <p:sp>
        <p:nvSpPr>
          <p:cNvPr id="8" name="Text 5"/>
          <p:cNvSpPr/>
          <p:nvPr/>
        </p:nvSpPr>
        <p:spPr>
          <a:xfrm>
            <a:off x="4343400" y="1371600"/>
            <a:ext cx="2295144" cy="502920"/>
          </a:xfrm>
          <a:prstGeom prst="rect">
            <a:avLst/>
          </a:prstGeom>
          <a:noFill/>
          <a:ln/>
        </p:spPr>
        <p:txBody>
          <a:bodyPr wrap="square" rtlCol="0" anchor="ctr"/>
          <a:lstStyle/>
          <a:p>
            <a:pPr indent="0" marL="0">
              <a:buNone/>
            </a:pPr>
            <a:r>
              <a:rPr lang="en-US" sz="1400" b="1" dirty="0">
                <a:solidFill>
                  <a:srgbClr val="F2B9AE"/>
                </a:solidFill>
                <a:latin typeface="Calibri" pitchFamily="34" charset="0"/>
                <a:ea typeface="Calibri" pitchFamily="34" charset="-122"/>
                <a:cs typeface="Calibri" pitchFamily="34" charset="-120"/>
              </a:rPr>
              <a:t>List</a:t>
            </a:r>
            <a:endParaRPr lang="en-US" sz="1400" dirty="0"/>
          </a:p>
        </p:txBody>
      </p:sp>
      <p:sp>
        <p:nvSpPr>
          <p:cNvPr id="9" name="Text 6"/>
          <p:cNvSpPr/>
          <p:nvPr/>
        </p:nvSpPr>
        <p:spPr>
          <a:xfrm>
            <a:off x="6821424" y="1371600"/>
            <a:ext cx="2295144" cy="502920"/>
          </a:xfrm>
          <a:prstGeom prst="rect">
            <a:avLst/>
          </a:prstGeom>
          <a:noFill/>
          <a:ln/>
        </p:spPr>
        <p:txBody>
          <a:bodyPr wrap="square" rtlCol="0" anchor="ctr"/>
          <a:lstStyle/>
          <a:p>
            <a:pPr indent="0" marL="0">
              <a:buNone/>
            </a:pPr>
            <a:r>
              <a:rPr lang="en-US" sz="1400" b="1" dirty="0">
                <a:solidFill>
                  <a:srgbClr val="A9E3C6"/>
                </a:solidFill>
                <a:latin typeface="Calibri" pitchFamily="34" charset="0"/>
                <a:ea typeface="Calibri" pitchFamily="34" charset="-122"/>
                <a:cs typeface="Calibri" pitchFamily="34" charset="-120"/>
              </a:rPr>
              <a:t>Set</a:t>
            </a:r>
            <a:endParaRPr lang="en-US" sz="1400" dirty="0"/>
          </a:p>
        </p:txBody>
      </p:sp>
      <p:sp>
        <p:nvSpPr>
          <p:cNvPr id="10" name="Text 7"/>
          <p:cNvSpPr/>
          <p:nvPr/>
        </p:nvSpPr>
        <p:spPr>
          <a:xfrm>
            <a:off x="9299448" y="1371600"/>
            <a:ext cx="2295144" cy="502920"/>
          </a:xfrm>
          <a:prstGeom prst="rect">
            <a:avLst/>
          </a:prstGeom>
          <a:noFill/>
          <a:ln/>
        </p:spPr>
        <p:txBody>
          <a:bodyPr wrap="square" rtlCol="0" anchor="ctr"/>
          <a:lstStyle/>
          <a:p>
            <a:pPr indent="0" marL="0">
              <a:buNone/>
            </a:pPr>
            <a:r>
              <a:rPr lang="en-US" sz="1400" b="1" dirty="0">
                <a:solidFill>
                  <a:srgbClr val="AFD0EE"/>
                </a:solidFill>
                <a:latin typeface="Calibri" pitchFamily="34" charset="0"/>
                <a:ea typeface="Calibri" pitchFamily="34" charset="-122"/>
                <a:cs typeface="Calibri" pitchFamily="34" charset="-120"/>
              </a:rPr>
              <a:t>Dictionary</a:t>
            </a:r>
            <a:endParaRPr lang="en-US" sz="1400" dirty="0"/>
          </a:p>
        </p:txBody>
      </p:sp>
      <p:sp>
        <p:nvSpPr>
          <p:cNvPr id="11" name="Shape 8"/>
          <p:cNvSpPr/>
          <p:nvPr/>
        </p:nvSpPr>
        <p:spPr>
          <a:xfrm>
            <a:off x="548640" y="1920240"/>
            <a:ext cx="11091672" cy="566928"/>
          </a:xfrm>
          <a:prstGeom prst="rect">
            <a:avLst/>
          </a:prstGeom>
          <a:solidFill>
            <a:srgbClr val="E8F1F9"/>
          </a:solidFill>
          <a:ln w="6350">
            <a:solidFill>
              <a:srgbClr val="E2E9F0"/>
            </a:solidFill>
            <a:prstDash val="solid"/>
          </a:ln>
        </p:spPr>
      </p:sp>
      <p:sp>
        <p:nvSpPr>
          <p:cNvPr id="12" name="Text 9"/>
          <p:cNvSpPr/>
          <p:nvPr/>
        </p:nvSpPr>
        <p:spPr>
          <a:xfrm>
            <a:off x="685800" y="1920240"/>
            <a:ext cx="3474720" cy="566928"/>
          </a:xfrm>
          <a:prstGeom prst="rect">
            <a:avLst/>
          </a:prstGeom>
          <a:noFill/>
          <a:ln/>
        </p:spPr>
        <p:txBody>
          <a:bodyPr wrap="square"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Membership  (x in c)</a:t>
            </a:r>
            <a:endParaRPr lang="en-US" sz="1250" dirty="0"/>
          </a:p>
        </p:txBody>
      </p:sp>
      <p:sp>
        <p:nvSpPr>
          <p:cNvPr id="13" name="Text 10"/>
          <p:cNvSpPr/>
          <p:nvPr/>
        </p:nvSpPr>
        <p:spPr>
          <a:xfrm>
            <a:off x="4343400" y="1920240"/>
            <a:ext cx="2295144" cy="566928"/>
          </a:xfrm>
          <a:prstGeom prst="rect">
            <a:avLst/>
          </a:prstGeom>
          <a:noFill/>
          <a:ln/>
        </p:spPr>
        <p:txBody>
          <a:bodyPr wrap="square" rtlCol="0" anchor="ctr"/>
          <a:lstStyle/>
          <a:p>
            <a:pPr indent="0" marL="0">
              <a:buNone/>
            </a:pPr>
            <a:r>
              <a:rPr lang="en-US" sz="1250" b="1" dirty="0">
                <a:solidFill>
                  <a:srgbClr val="E1674C"/>
                </a:solidFill>
                <a:latin typeface="Courier New" pitchFamily="34" charset="0"/>
                <a:ea typeface="Courier New" pitchFamily="34" charset="-122"/>
                <a:cs typeface="Courier New" pitchFamily="34" charset="-120"/>
              </a:rPr>
              <a:t>O(n)  slow</a:t>
            </a:r>
            <a:endParaRPr lang="en-US" sz="1250" dirty="0"/>
          </a:p>
        </p:txBody>
      </p:sp>
      <p:sp>
        <p:nvSpPr>
          <p:cNvPr id="14" name="Text 11"/>
          <p:cNvSpPr/>
          <p:nvPr/>
        </p:nvSpPr>
        <p:spPr>
          <a:xfrm>
            <a:off x="6821424" y="1920240"/>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  fast</a:t>
            </a:r>
            <a:endParaRPr lang="en-US" sz="1250" dirty="0"/>
          </a:p>
        </p:txBody>
      </p:sp>
      <p:sp>
        <p:nvSpPr>
          <p:cNvPr id="15" name="Text 12"/>
          <p:cNvSpPr/>
          <p:nvPr/>
        </p:nvSpPr>
        <p:spPr>
          <a:xfrm>
            <a:off x="9299448" y="1920240"/>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  fast</a:t>
            </a:r>
            <a:endParaRPr lang="en-US" sz="1250" dirty="0"/>
          </a:p>
        </p:txBody>
      </p:sp>
      <p:sp>
        <p:nvSpPr>
          <p:cNvPr id="16" name="Shape 13"/>
          <p:cNvSpPr/>
          <p:nvPr/>
        </p:nvSpPr>
        <p:spPr>
          <a:xfrm>
            <a:off x="548640" y="2487168"/>
            <a:ext cx="11091672" cy="566928"/>
          </a:xfrm>
          <a:prstGeom prst="rect">
            <a:avLst/>
          </a:prstGeom>
          <a:solidFill>
            <a:srgbClr val="FFFFFF"/>
          </a:solidFill>
          <a:ln w="6350">
            <a:solidFill>
              <a:srgbClr val="E2E9F0"/>
            </a:solidFill>
            <a:prstDash val="solid"/>
          </a:ln>
        </p:spPr>
      </p:sp>
      <p:sp>
        <p:nvSpPr>
          <p:cNvPr id="17" name="Text 14"/>
          <p:cNvSpPr/>
          <p:nvPr/>
        </p:nvSpPr>
        <p:spPr>
          <a:xfrm>
            <a:off x="685800" y="2487168"/>
            <a:ext cx="3474720" cy="566928"/>
          </a:xfrm>
          <a:prstGeom prst="rect">
            <a:avLst/>
          </a:prstGeom>
          <a:noFill/>
          <a:ln/>
        </p:spPr>
        <p:txBody>
          <a:bodyPr wrap="square"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Add an item</a:t>
            </a:r>
            <a:endParaRPr lang="en-US" sz="1250" dirty="0"/>
          </a:p>
        </p:txBody>
      </p:sp>
      <p:sp>
        <p:nvSpPr>
          <p:cNvPr id="18" name="Text 15"/>
          <p:cNvSpPr/>
          <p:nvPr/>
        </p:nvSpPr>
        <p:spPr>
          <a:xfrm>
            <a:off x="4343400" y="2487168"/>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  append</a:t>
            </a:r>
            <a:endParaRPr lang="en-US" sz="1250" dirty="0"/>
          </a:p>
        </p:txBody>
      </p:sp>
      <p:sp>
        <p:nvSpPr>
          <p:cNvPr id="19" name="Text 16"/>
          <p:cNvSpPr/>
          <p:nvPr/>
        </p:nvSpPr>
        <p:spPr>
          <a:xfrm>
            <a:off x="6821424" y="2487168"/>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a:t>
            </a:r>
            <a:endParaRPr lang="en-US" sz="1250" dirty="0"/>
          </a:p>
        </p:txBody>
      </p:sp>
      <p:sp>
        <p:nvSpPr>
          <p:cNvPr id="20" name="Text 17"/>
          <p:cNvSpPr/>
          <p:nvPr/>
        </p:nvSpPr>
        <p:spPr>
          <a:xfrm>
            <a:off x="9299448" y="2487168"/>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a:t>
            </a:r>
            <a:endParaRPr lang="en-US" sz="1250" dirty="0"/>
          </a:p>
        </p:txBody>
      </p:sp>
      <p:sp>
        <p:nvSpPr>
          <p:cNvPr id="21" name="Shape 18"/>
          <p:cNvSpPr/>
          <p:nvPr/>
        </p:nvSpPr>
        <p:spPr>
          <a:xfrm>
            <a:off x="548640" y="3054096"/>
            <a:ext cx="11091672" cy="566928"/>
          </a:xfrm>
          <a:prstGeom prst="rect">
            <a:avLst/>
          </a:prstGeom>
          <a:solidFill>
            <a:srgbClr val="E8F1F9"/>
          </a:solidFill>
          <a:ln w="6350">
            <a:solidFill>
              <a:srgbClr val="E2E9F0"/>
            </a:solidFill>
            <a:prstDash val="solid"/>
          </a:ln>
        </p:spPr>
      </p:sp>
      <p:sp>
        <p:nvSpPr>
          <p:cNvPr id="22" name="Text 19"/>
          <p:cNvSpPr/>
          <p:nvPr/>
        </p:nvSpPr>
        <p:spPr>
          <a:xfrm>
            <a:off x="685800" y="3054096"/>
            <a:ext cx="3474720" cy="566928"/>
          </a:xfrm>
          <a:prstGeom prst="rect">
            <a:avLst/>
          </a:prstGeom>
          <a:noFill/>
          <a:ln/>
        </p:spPr>
        <p:txBody>
          <a:bodyPr wrap="square"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Remove an item</a:t>
            </a:r>
            <a:endParaRPr lang="en-US" sz="1250" dirty="0"/>
          </a:p>
        </p:txBody>
      </p:sp>
      <p:sp>
        <p:nvSpPr>
          <p:cNvPr id="23" name="Text 20"/>
          <p:cNvSpPr/>
          <p:nvPr/>
        </p:nvSpPr>
        <p:spPr>
          <a:xfrm>
            <a:off x="4343400" y="3054096"/>
            <a:ext cx="2295144" cy="566928"/>
          </a:xfrm>
          <a:prstGeom prst="rect">
            <a:avLst/>
          </a:prstGeom>
          <a:noFill/>
          <a:ln/>
        </p:spPr>
        <p:txBody>
          <a:bodyPr wrap="square" rtlCol="0" anchor="ctr"/>
          <a:lstStyle/>
          <a:p>
            <a:pPr indent="0" marL="0">
              <a:buNone/>
            </a:pPr>
            <a:r>
              <a:rPr lang="en-US" sz="1250" b="1" dirty="0">
                <a:solidFill>
                  <a:srgbClr val="E1674C"/>
                </a:solidFill>
                <a:latin typeface="Courier New" pitchFamily="34" charset="0"/>
                <a:ea typeface="Courier New" pitchFamily="34" charset="-122"/>
                <a:cs typeface="Courier New" pitchFamily="34" charset="-120"/>
              </a:rPr>
              <a:t>O(n)</a:t>
            </a:r>
            <a:endParaRPr lang="en-US" sz="1250" dirty="0"/>
          </a:p>
        </p:txBody>
      </p:sp>
      <p:sp>
        <p:nvSpPr>
          <p:cNvPr id="24" name="Text 21"/>
          <p:cNvSpPr/>
          <p:nvPr/>
        </p:nvSpPr>
        <p:spPr>
          <a:xfrm>
            <a:off x="6821424" y="3054096"/>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a:t>
            </a:r>
            <a:endParaRPr lang="en-US" sz="1250" dirty="0"/>
          </a:p>
        </p:txBody>
      </p:sp>
      <p:sp>
        <p:nvSpPr>
          <p:cNvPr id="25" name="Text 22"/>
          <p:cNvSpPr/>
          <p:nvPr/>
        </p:nvSpPr>
        <p:spPr>
          <a:xfrm>
            <a:off x="9299448" y="3054096"/>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a:t>
            </a:r>
            <a:endParaRPr lang="en-US" sz="1250" dirty="0"/>
          </a:p>
        </p:txBody>
      </p:sp>
      <p:sp>
        <p:nvSpPr>
          <p:cNvPr id="26" name="Shape 23"/>
          <p:cNvSpPr/>
          <p:nvPr/>
        </p:nvSpPr>
        <p:spPr>
          <a:xfrm>
            <a:off x="548640" y="3621024"/>
            <a:ext cx="11091672" cy="566928"/>
          </a:xfrm>
          <a:prstGeom prst="rect">
            <a:avLst/>
          </a:prstGeom>
          <a:solidFill>
            <a:srgbClr val="FFFFFF"/>
          </a:solidFill>
          <a:ln w="6350">
            <a:solidFill>
              <a:srgbClr val="E2E9F0"/>
            </a:solidFill>
            <a:prstDash val="solid"/>
          </a:ln>
        </p:spPr>
      </p:sp>
      <p:sp>
        <p:nvSpPr>
          <p:cNvPr id="27" name="Text 24"/>
          <p:cNvSpPr/>
          <p:nvPr/>
        </p:nvSpPr>
        <p:spPr>
          <a:xfrm>
            <a:off x="685800" y="3621024"/>
            <a:ext cx="3474720" cy="566928"/>
          </a:xfrm>
          <a:prstGeom prst="rect">
            <a:avLst/>
          </a:prstGeom>
          <a:noFill/>
          <a:ln/>
        </p:spPr>
        <p:txBody>
          <a:bodyPr wrap="square"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Lookup by key</a:t>
            </a:r>
            <a:endParaRPr lang="en-US" sz="1250" dirty="0"/>
          </a:p>
        </p:txBody>
      </p:sp>
      <p:sp>
        <p:nvSpPr>
          <p:cNvPr id="28" name="Text 25"/>
          <p:cNvSpPr/>
          <p:nvPr/>
        </p:nvSpPr>
        <p:spPr>
          <a:xfrm>
            <a:off x="4343400" y="3621024"/>
            <a:ext cx="2295144" cy="566928"/>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a:t>
            </a:r>
            <a:endParaRPr lang="en-US" sz="1250" dirty="0"/>
          </a:p>
        </p:txBody>
      </p:sp>
      <p:sp>
        <p:nvSpPr>
          <p:cNvPr id="29" name="Text 26"/>
          <p:cNvSpPr/>
          <p:nvPr/>
        </p:nvSpPr>
        <p:spPr>
          <a:xfrm>
            <a:off x="6821424" y="3621024"/>
            <a:ext cx="2295144" cy="566928"/>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a:t>
            </a:r>
            <a:endParaRPr lang="en-US" sz="1250" dirty="0"/>
          </a:p>
        </p:txBody>
      </p:sp>
      <p:sp>
        <p:nvSpPr>
          <p:cNvPr id="30" name="Text 27"/>
          <p:cNvSpPr/>
          <p:nvPr/>
        </p:nvSpPr>
        <p:spPr>
          <a:xfrm>
            <a:off x="9299448" y="3621024"/>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O(1)</a:t>
            </a:r>
            <a:endParaRPr lang="en-US" sz="1250" dirty="0"/>
          </a:p>
        </p:txBody>
      </p:sp>
      <p:sp>
        <p:nvSpPr>
          <p:cNvPr id="31" name="Shape 28"/>
          <p:cNvSpPr/>
          <p:nvPr/>
        </p:nvSpPr>
        <p:spPr>
          <a:xfrm>
            <a:off x="548640" y="4187952"/>
            <a:ext cx="11091672" cy="566928"/>
          </a:xfrm>
          <a:prstGeom prst="rect">
            <a:avLst/>
          </a:prstGeom>
          <a:solidFill>
            <a:srgbClr val="E8F1F9"/>
          </a:solidFill>
          <a:ln w="6350">
            <a:solidFill>
              <a:srgbClr val="E2E9F0"/>
            </a:solidFill>
            <a:prstDash val="solid"/>
          </a:ln>
        </p:spPr>
      </p:sp>
      <p:sp>
        <p:nvSpPr>
          <p:cNvPr id="32" name="Text 29"/>
          <p:cNvSpPr/>
          <p:nvPr/>
        </p:nvSpPr>
        <p:spPr>
          <a:xfrm>
            <a:off x="685800" y="4187952"/>
            <a:ext cx="3474720" cy="566928"/>
          </a:xfrm>
          <a:prstGeom prst="rect">
            <a:avLst/>
          </a:prstGeom>
          <a:noFill/>
          <a:ln/>
        </p:spPr>
        <p:txBody>
          <a:bodyPr wrap="square"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Keeps insertion order</a:t>
            </a:r>
            <a:endParaRPr lang="en-US" sz="1250" dirty="0"/>
          </a:p>
        </p:txBody>
      </p:sp>
      <p:sp>
        <p:nvSpPr>
          <p:cNvPr id="33" name="Text 30"/>
          <p:cNvSpPr/>
          <p:nvPr/>
        </p:nvSpPr>
        <p:spPr>
          <a:xfrm>
            <a:off x="4343400" y="4187952"/>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Yes</a:t>
            </a:r>
            <a:endParaRPr lang="en-US" sz="1250" dirty="0"/>
          </a:p>
        </p:txBody>
      </p:sp>
      <p:sp>
        <p:nvSpPr>
          <p:cNvPr id="34" name="Text 31"/>
          <p:cNvSpPr/>
          <p:nvPr/>
        </p:nvSpPr>
        <p:spPr>
          <a:xfrm>
            <a:off x="6821424" y="4187952"/>
            <a:ext cx="2295144" cy="566928"/>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No</a:t>
            </a:r>
            <a:endParaRPr lang="en-US" sz="1250" dirty="0"/>
          </a:p>
        </p:txBody>
      </p:sp>
      <p:sp>
        <p:nvSpPr>
          <p:cNvPr id="35" name="Text 32"/>
          <p:cNvSpPr/>
          <p:nvPr/>
        </p:nvSpPr>
        <p:spPr>
          <a:xfrm>
            <a:off x="9299448" y="4187952"/>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Yes (3.7+)</a:t>
            </a:r>
            <a:endParaRPr lang="en-US" sz="1250" dirty="0"/>
          </a:p>
        </p:txBody>
      </p:sp>
      <p:sp>
        <p:nvSpPr>
          <p:cNvPr id="36" name="Shape 33"/>
          <p:cNvSpPr/>
          <p:nvPr/>
        </p:nvSpPr>
        <p:spPr>
          <a:xfrm>
            <a:off x="548640" y="4754880"/>
            <a:ext cx="11091672" cy="566928"/>
          </a:xfrm>
          <a:prstGeom prst="rect">
            <a:avLst/>
          </a:prstGeom>
          <a:solidFill>
            <a:srgbClr val="FFFFFF"/>
          </a:solidFill>
          <a:ln w="6350">
            <a:solidFill>
              <a:srgbClr val="E2E9F0"/>
            </a:solidFill>
            <a:prstDash val="solid"/>
          </a:ln>
        </p:spPr>
      </p:sp>
      <p:sp>
        <p:nvSpPr>
          <p:cNvPr id="37" name="Text 34"/>
          <p:cNvSpPr/>
          <p:nvPr/>
        </p:nvSpPr>
        <p:spPr>
          <a:xfrm>
            <a:off x="685800" y="4754880"/>
            <a:ext cx="3474720" cy="566928"/>
          </a:xfrm>
          <a:prstGeom prst="rect">
            <a:avLst/>
          </a:prstGeom>
          <a:noFill/>
          <a:ln/>
        </p:spPr>
        <p:txBody>
          <a:bodyPr wrap="square"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Allows duplicates</a:t>
            </a:r>
            <a:endParaRPr lang="en-US" sz="1250" dirty="0"/>
          </a:p>
        </p:txBody>
      </p:sp>
      <p:sp>
        <p:nvSpPr>
          <p:cNvPr id="38" name="Text 35"/>
          <p:cNvSpPr/>
          <p:nvPr/>
        </p:nvSpPr>
        <p:spPr>
          <a:xfrm>
            <a:off x="4343400" y="4754880"/>
            <a:ext cx="2295144" cy="566928"/>
          </a:xfrm>
          <a:prstGeom prst="rect">
            <a:avLst/>
          </a:prstGeom>
          <a:noFill/>
          <a:ln/>
        </p:spPr>
        <p:txBody>
          <a:bodyPr wrap="square" rtlCol="0" anchor="ctr"/>
          <a:lstStyle/>
          <a:p>
            <a:pPr indent="0" marL="0">
              <a:buNone/>
            </a:pPr>
            <a:r>
              <a:rPr lang="en-US" sz="1250" b="1" dirty="0">
                <a:solidFill>
                  <a:srgbClr val="2E9E6B"/>
                </a:solidFill>
                <a:latin typeface="Courier New" pitchFamily="34" charset="0"/>
                <a:ea typeface="Courier New" pitchFamily="34" charset="-122"/>
                <a:cs typeface="Courier New" pitchFamily="34" charset="-120"/>
              </a:rPr>
              <a:t>Yes</a:t>
            </a:r>
            <a:endParaRPr lang="en-US" sz="1250" dirty="0"/>
          </a:p>
        </p:txBody>
      </p:sp>
      <p:sp>
        <p:nvSpPr>
          <p:cNvPr id="39" name="Text 36"/>
          <p:cNvSpPr/>
          <p:nvPr/>
        </p:nvSpPr>
        <p:spPr>
          <a:xfrm>
            <a:off x="6821424" y="4754880"/>
            <a:ext cx="2295144" cy="566928"/>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No</a:t>
            </a:r>
            <a:endParaRPr lang="en-US" sz="1250" dirty="0"/>
          </a:p>
        </p:txBody>
      </p:sp>
      <p:sp>
        <p:nvSpPr>
          <p:cNvPr id="40" name="Text 37"/>
          <p:cNvSpPr/>
          <p:nvPr/>
        </p:nvSpPr>
        <p:spPr>
          <a:xfrm>
            <a:off x="9299448" y="4754880"/>
            <a:ext cx="2295144" cy="566928"/>
          </a:xfrm>
          <a:prstGeom prst="rect">
            <a:avLst/>
          </a:prstGeom>
          <a:noFill/>
          <a:ln/>
        </p:spPr>
        <p:txBody>
          <a:bodyPr wrap="square" rtlCol="0" anchor="ctr"/>
          <a:lstStyle/>
          <a:p>
            <a:pPr indent="0" marL="0">
              <a:buNone/>
            </a:pPr>
            <a:r>
              <a:rPr lang="en-US" sz="1250" dirty="0">
                <a:solidFill>
                  <a:srgbClr val="16283B"/>
                </a:solidFill>
                <a:latin typeface="Courier New" pitchFamily="34" charset="0"/>
                <a:ea typeface="Courier New" pitchFamily="34" charset="-122"/>
                <a:cs typeface="Courier New" pitchFamily="34" charset="-120"/>
              </a:rPr>
              <a:t>Keys: No</a:t>
            </a:r>
            <a:endParaRPr lang="en-US" sz="1250" dirty="0"/>
          </a:p>
        </p:txBody>
      </p:sp>
      <p:sp>
        <p:nvSpPr>
          <p:cNvPr id="41" name="Shape 38"/>
          <p:cNvSpPr/>
          <p:nvPr/>
        </p:nvSpPr>
        <p:spPr>
          <a:xfrm>
            <a:off x="548640" y="5458968"/>
            <a:ext cx="11091672" cy="777240"/>
          </a:xfrm>
          <a:prstGeom prst="roundRect">
            <a:avLst>
              <a:gd name="adj" fmla="val 10588"/>
            </a:avLst>
          </a:prstGeom>
          <a:solidFill>
            <a:srgbClr val="E9F5EE"/>
          </a:solidFill>
          <a:ln/>
          <a:effectLst>
            <a:outerShdw sx="100000" sy="100000" kx="0" ky="0" algn="bl" rotWithShape="0" blurRad="76200" dist="25400" dir="5400000">
              <a:srgbClr val="000000">
                <a:alpha val="12000"/>
              </a:srgbClr>
            </a:outerShdw>
          </a:effectLst>
        </p:spPr>
      </p:sp>
      <p:pic>
        <p:nvPicPr>
          <p:cNvPr id="42" name="Image 1" descr="preencoded.png">    </p:cNvPr>
          <p:cNvPicPr>
            <a:picLocks noChangeAspect="1"/>
          </p:cNvPicPr>
          <p:nvPr/>
        </p:nvPicPr>
        <p:blipFill>
          <a:blip r:embed="rId2"/>
          <a:stretch>
            <a:fillRect/>
          </a:stretch>
        </p:blipFill>
        <p:spPr>
          <a:xfrm>
            <a:off x="777240" y="5660136"/>
            <a:ext cx="365760" cy="365760"/>
          </a:xfrm>
          <a:prstGeom prst="rect">
            <a:avLst/>
          </a:prstGeom>
        </p:spPr>
      </p:pic>
      <p:sp>
        <p:nvSpPr>
          <p:cNvPr id="43" name="Text 39"/>
          <p:cNvSpPr/>
          <p:nvPr/>
        </p:nvSpPr>
        <p:spPr>
          <a:xfrm>
            <a:off x="1280160" y="5458968"/>
            <a:ext cx="10149840" cy="777240"/>
          </a:xfrm>
          <a:prstGeom prst="rect">
            <a:avLst/>
          </a:prstGeom>
          <a:noFill/>
          <a:ln/>
        </p:spPr>
        <p:txBody>
          <a:bodyPr wrap="square" rtlCol="0" anchor="ctr"/>
          <a:lstStyle/>
          <a:p>
            <a:pPr indent="0" marL="0">
              <a:buNone/>
            </a:pPr>
            <a:r>
              <a:rPr lang="en-US" sz="1350" b="1" dirty="0">
                <a:solidFill>
                  <a:srgbClr val="2E9E6B"/>
                </a:solidFill>
                <a:latin typeface="Calibri" pitchFamily="34" charset="0"/>
                <a:ea typeface="Calibri" pitchFamily="34" charset="-122"/>
                <a:cs typeface="Calibri" pitchFamily="34" charset="-120"/>
              </a:rPr>
              <a:t>Takeaway:  </a:t>
            </a:r>
            <a:pPr indent="0" marL="0">
              <a:buNone/>
            </a:pPr>
            <a:r>
              <a:rPr lang="en-US" sz="1350" dirty="0">
                <a:solidFill>
                  <a:srgbClr val="16283B"/>
                </a:solidFill>
                <a:latin typeface="Calibri" pitchFamily="34" charset="0"/>
                <a:ea typeface="Calibri" pitchFamily="34" charset="-122"/>
                <a:cs typeface="Calibri" pitchFamily="34" charset="-120"/>
              </a:rPr>
              <a:t>need to test membership or remove often? Use a set or dict. Need order or duplicates? Use a list. Pick the structure that matches the job.</a:t>
            </a:r>
            <a:endParaRPr lang="en-US" sz="1350" dirty="0"/>
          </a:p>
        </p:txBody>
      </p:sp>
      <p:sp>
        <p:nvSpPr>
          <p:cNvPr id="44" name="Text 40"/>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5" name="Text 4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14 · INTERVIEW QUESTIONS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Common Interview Q&amp;A  (1/3)</a:t>
            </a:r>
            <a:endParaRPr lang="en-US" sz="2600" dirty="0"/>
          </a:p>
        </p:txBody>
      </p:sp>
      <p:sp>
        <p:nvSpPr>
          <p:cNvPr id="6" name="Shape 3"/>
          <p:cNvSpPr/>
          <p:nvPr/>
        </p:nvSpPr>
        <p:spPr>
          <a:xfrm>
            <a:off x="548640" y="1417320"/>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777240" y="1508760"/>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  What is hashing?</a:t>
            </a:r>
            <a:endParaRPr lang="en-US" sz="1400" dirty="0"/>
          </a:p>
        </p:txBody>
      </p:sp>
      <p:sp>
        <p:nvSpPr>
          <p:cNvPr id="8" name="Text 5"/>
          <p:cNvSpPr/>
          <p:nvPr/>
        </p:nvSpPr>
        <p:spPr>
          <a:xfrm>
            <a:off x="777240" y="1819656"/>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Converting data into a fixed-size number (a hash) used to decide where it's stored, enabling near-instant lookup.</a:t>
            </a:r>
            <a:endParaRPr lang="en-US" sz="1250" dirty="0"/>
          </a:p>
        </p:txBody>
      </p:sp>
      <p:sp>
        <p:nvSpPr>
          <p:cNvPr id="9" name="Shape 6"/>
          <p:cNvSpPr/>
          <p:nvPr/>
        </p:nvSpPr>
        <p:spPr>
          <a:xfrm>
            <a:off x="548640" y="2350008"/>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0" name="Text 7"/>
          <p:cNvSpPr/>
          <p:nvPr/>
        </p:nvSpPr>
        <p:spPr>
          <a:xfrm>
            <a:off x="777240" y="2441448"/>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2.  What is a hash function?</a:t>
            </a:r>
            <a:endParaRPr lang="en-US" sz="1400" dirty="0"/>
          </a:p>
        </p:txBody>
      </p:sp>
      <p:sp>
        <p:nvSpPr>
          <p:cNvPr id="11" name="Text 8"/>
          <p:cNvSpPr/>
          <p:nvPr/>
        </p:nvSpPr>
        <p:spPr>
          <a:xfrm>
            <a:off x="777240" y="2752344"/>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A function that maps input data to an integer. Same input → same output; ideally spreads keys evenly.</a:t>
            </a:r>
            <a:endParaRPr lang="en-US" sz="1250" dirty="0"/>
          </a:p>
        </p:txBody>
      </p:sp>
      <p:sp>
        <p:nvSpPr>
          <p:cNvPr id="12" name="Shape 9"/>
          <p:cNvSpPr/>
          <p:nvPr/>
        </p:nvSpPr>
        <p:spPr>
          <a:xfrm>
            <a:off x="548640" y="3282696"/>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3" name="Text 10"/>
          <p:cNvSpPr/>
          <p:nvPr/>
        </p:nvSpPr>
        <p:spPr>
          <a:xfrm>
            <a:off x="777240" y="3374136"/>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3.  What is a hash table?</a:t>
            </a:r>
            <a:endParaRPr lang="en-US" sz="1400" dirty="0"/>
          </a:p>
        </p:txBody>
      </p:sp>
      <p:sp>
        <p:nvSpPr>
          <p:cNvPr id="14" name="Text 11"/>
          <p:cNvSpPr/>
          <p:nvPr/>
        </p:nvSpPr>
        <p:spPr>
          <a:xfrm>
            <a:off x="777240" y="3685032"/>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An array of buckets where each item is placed at an index derived from its hash.</a:t>
            </a:r>
            <a:endParaRPr lang="en-US" sz="1250" dirty="0"/>
          </a:p>
        </p:txBody>
      </p:sp>
      <p:sp>
        <p:nvSpPr>
          <p:cNvPr id="15" name="Shape 12"/>
          <p:cNvSpPr/>
          <p:nvPr/>
        </p:nvSpPr>
        <p:spPr>
          <a:xfrm>
            <a:off x="548640" y="4215384"/>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6" name="Text 13"/>
          <p:cNvSpPr/>
          <p:nvPr/>
        </p:nvSpPr>
        <p:spPr>
          <a:xfrm>
            <a:off x="777240" y="4306824"/>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4.  What is a hash collision?</a:t>
            </a:r>
            <a:endParaRPr lang="en-US" sz="1400" dirty="0"/>
          </a:p>
        </p:txBody>
      </p:sp>
      <p:sp>
        <p:nvSpPr>
          <p:cNvPr id="17" name="Text 14"/>
          <p:cNvSpPr/>
          <p:nvPr/>
        </p:nvSpPr>
        <p:spPr>
          <a:xfrm>
            <a:off x="777240" y="4617720"/>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When two different keys map to the same bucket. Python compares actual keys to resolve it.</a:t>
            </a:r>
            <a:endParaRPr lang="en-US" sz="1250" dirty="0"/>
          </a:p>
        </p:txBody>
      </p:sp>
      <p:sp>
        <p:nvSpPr>
          <p:cNvPr id="18" name="Shape 15"/>
          <p:cNvSpPr/>
          <p:nvPr/>
        </p:nvSpPr>
        <p:spPr>
          <a:xfrm>
            <a:off x="548640" y="5148072"/>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9" name="Text 16"/>
          <p:cNvSpPr/>
          <p:nvPr/>
        </p:nvSpPr>
        <p:spPr>
          <a:xfrm>
            <a:off x="777240" y="5239512"/>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5.  Why is dict lookup O(1)?</a:t>
            </a:r>
            <a:endParaRPr lang="en-US" sz="1400" dirty="0"/>
          </a:p>
        </p:txBody>
      </p:sp>
      <p:sp>
        <p:nvSpPr>
          <p:cNvPr id="20" name="Text 17"/>
          <p:cNvSpPr/>
          <p:nvPr/>
        </p:nvSpPr>
        <p:spPr>
          <a:xfrm>
            <a:off x="777240" y="5550408"/>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The hash points directly to a bucket, so no scanning is needed — time stays constant as size grows.</a:t>
            </a:r>
            <a:endParaRPr lang="en-US" sz="1250" dirty="0"/>
          </a:p>
        </p:txBody>
      </p:sp>
      <p:sp>
        <p:nvSpPr>
          <p:cNvPr id="21" name="Text 18"/>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2" name="Text 19"/>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14 · INTERVIEW QUESTIONS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Common Interview Q&amp;A  (2/3)</a:t>
            </a:r>
            <a:endParaRPr lang="en-US" sz="2600" dirty="0"/>
          </a:p>
        </p:txBody>
      </p:sp>
      <p:sp>
        <p:nvSpPr>
          <p:cNvPr id="6" name="Shape 3"/>
          <p:cNvSpPr/>
          <p:nvPr/>
        </p:nvSpPr>
        <p:spPr>
          <a:xfrm>
            <a:off x="548640" y="1417320"/>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777240" y="1508760"/>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6.  Why are lists unhashable?</a:t>
            </a:r>
            <a:endParaRPr lang="en-US" sz="1400" dirty="0"/>
          </a:p>
        </p:txBody>
      </p:sp>
      <p:sp>
        <p:nvSpPr>
          <p:cNvPr id="8" name="Text 5"/>
          <p:cNvSpPr/>
          <p:nvPr/>
        </p:nvSpPr>
        <p:spPr>
          <a:xfrm>
            <a:off x="777240" y="1819656"/>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Lists are mutable — their contents and hash could change, breaking the bucket that stored them.</a:t>
            </a:r>
            <a:endParaRPr lang="en-US" sz="1250" dirty="0"/>
          </a:p>
        </p:txBody>
      </p:sp>
      <p:sp>
        <p:nvSpPr>
          <p:cNvPr id="9" name="Shape 6"/>
          <p:cNvSpPr/>
          <p:nvPr/>
        </p:nvSpPr>
        <p:spPr>
          <a:xfrm>
            <a:off x="548640" y="2350008"/>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0" name="Text 7"/>
          <p:cNvSpPr/>
          <p:nvPr/>
        </p:nvSpPr>
        <p:spPr>
          <a:xfrm>
            <a:off x="777240" y="2441448"/>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7.  Which built-in types are hashable?</a:t>
            </a:r>
            <a:endParaRPr lang="en-US" sz="1400" dirty="0"/>
          </a:p>
        </p:txBody>
      </p:sp>
      <p:sp>
        <p:nvSpPr>
          <p:cNvPr id="11" name="Text 8"/>
          <p:cNvSpPr/>
          <p:nvPr/>
        </p:nvSpPr>
        <p:spPr>
          <a:xfrm>
            <a:off x="777240" y="2752344"/>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int, float, bool, str, tuple, frozenset — all immutable. Lists, dicts and sets are not.</a:t>
            </a:r>
            <a:endParaRPr lang="en-US" sz="1250" dirty="0"/>
          </a:p>
        </p:txBody>
      </p:sp>
      <p:sp>
        <p:nvSpPr>
          <p:cNvPr id="12" name="Shape 9"/>
          <p:cNvSpPr/>
          <p:nvPr/>
        </p:nvSpPr>
        <p:spPr>
          <a:xfrm>
            <a:off x="548640" y="3282696"/>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3" name="Text 10"/>
          <p:cNvSpPr/>
          <p:nvPr/>
        </p:nvSpPr>
        <p:spPr>
          <a:xfrm>
            <a:off x="777240" y="3374136"/>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8.  Difference: remove() vs discard()?</a:t>
            </a:r>
            <a:endParaRPr lang="en-US" sz="1400" dirty="0"/>
          </a:p>
        </p:txBody>
      </p:sp>
      <p:sp>
        <p:nvSpPr>
          <p:cNvPr id="14" name="Text 11"/>
          <p:cNvSpPr/>
          <p:nvPr/>
        </p:nvSpPr>
        <p:spPr>
          <a:xfrm>
            <a:off x="777240" y="3685032"/>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Both delete an element. remove() raises KeyError if it's missing; discard() does nothing.</a:t>
            </a:r>
            <a:endParaRPr lang="en-US" sz="1250" dirty="0"/>
          </a:p>
        </p:txBody>
      </p:sp>
      <p:sp>
        <p:nvSpPr>
          <p:cNvPr id="15" name="Shape 12"/>
          <p:cNvSpPr/>
          <p:nvPr/>
        </p:nvSpPr>
        <p:spPr>
          <a:xfrm>
            <a:off x="548640" y="4215384"/>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6" name="Text 13"/>
          <p:cNvSpPr/>
          <p:nvPr/>
        </p:nvSpPr>
        <p:spPr>
          <a:xfrm>
            <a:off x="777240" y="4306824"/>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9.  Difference: set vs list?</a:t>
            </a:r>
            <a:endParaRPr lang="en-US" sz="1400" dirty="0"/>
          </a:p>
        </p:txBody>
      </p:sp>
      <p:sp>
        <p:nvSpPr>
          <p:cNvPr id="17" name="Text 14"/>
          <p:cNvSpPr/>
          <p:nvPr/>
        </p:nvSpPr>
        <p:spPr>
          <a:xfrm>
            <a:off x="777240" y="4617720"/>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Set: unique, unordered, O(1) membership. List: ordered, allows duplicates, O(n) membership.</a:t>
            </a:r>
            <a:endParaRPr lang="en-US" sz="1250" dirty="0"/>
          </a:p>
        </p:txBody>
      </p:sp>
      <p:sp>
        <p:nvSpPr>
          <p:cNvPr id="18" name="Shape 15"/>
          <p:cNvSpPr/>
          <p:nvPr/>
        </p:nvSpPr>
        <p:spPr>
          <a:xfrm>
            <a:off x="548640" y="5148072"/>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9" name="Text 16"/>
          <p:cNvSpPr/>
          <p:nvPr/>
        </p:nvSpPr>
        <p:spPr>
          <a:xfrm>
            <a:off x="777240" y="5239512"/>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10.  Why are sets unordered?</a:t>
            </a:r>
            <a:endParaRPr lang="en-US" sz="1400" dirty="0"/>
          </a:p>
        </p:txBody>
      </p:sp>
      <p:sp>
        <p:nvSpPr>
          <p:cNvPr id="20" name="Text 17"/>
          <p:cNvSpPr/>
          <p:nvPr/>
        </p:nvSpPr>
        <p:spPr>
          <a:xfrm>
            <a:off x="777240" y="5550408"/>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Items sit in buckets chosen by their hash, not by insertion order, so order isn't guaranteed.</a:t>
            </a:r>
            <a:endParaRPr lang="en-US" sz="1250" dirty="0"/>
          </a:p>
        </p:txBody>
      </p:sp>
      <p:sp>
        <p:nvSpPr>
          <p:cNvPr id="21" name="Text 18"/>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2" name="Text 19"/>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14 · INTERVIEW QUESTIONS</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Common Interview Q&amp;A  (3/3)</a:t>
            </a:r>
            <a:endParaRPr lang="en-US" sz="2600" dirty="0"/>
          </a:p>
        </p:txBody>
      </p:sp>
      <p:sp>
        <p:nvSpPr>
          <p:cNvPr id="6" name="Shape 3"/>
          <p:cNvSpPr/>
          <p:nvPr/>
        </p:nvSpPr>
        <p:spPr>
          <a:xfrm>
            <a:off x="548640" y="1417320"/>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777240" y="1508760"/>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11.  Subset vs superset?</a:t>
            </a:r>
            <a:endParaRPr lang="en-US" sz="1400" dirty="0"/>
          </a:p>
        </p:txBody>
      </p:sp>
      <p:sp>
        <p:nvSpPr>
          <p:cNvPr id="8" name="Text 5"/>
          <p:cNvSpPr/>
          <p:nvPr/>
        </p:nvSpPr>
        <p:spPr>
          <a:xfrm>
            <a:off x="777240" y="1819656"/>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A ⊆ B: every element of A is in B. Superset is the reverse — A contains all of B.</a:t>
            </a:r>
            <a:endParaRPr lang="en-US" sz="1250" dirty="0"/>
          </a:p>
        </p:txBody>
      </p:sp>
      <p:sp>
        <p:nvSpPr>
          <p:cNvPr id="9" name="Shape 6"/>
          <p:cNvSpPr/>
          <p:nvPr/>
        </p:nvSpPr>
        <p:spPr>
          <a:xfrm>
            <a:off x="548640" y="2350008"/>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0" name="Text 7"/>
          <p:cNvSpPr/>
          <p:nvPr/>
        </p:nvSpPr>
        <p:spPr>
          <a:xfrm>
            <a:off x="777240" y="2441448"/>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12.  How does Python handle collisions?</a:t>
            </a:r>
            <a:endParaRPr lang="en-US" sz="1400" dirty="0"/>
          </a:p>
        </p:txBody>
      </p:sp>
      <p:sp>
        <p:nvSpPr>
          <p:cNvPr id="11" name="Text 8"/>
          <p:cNvSpPr/>
          <p:nvPr/>
        </p:nvSpPr>
        <p:spPr>
          <a:xfrm>
            <a:off x="777240" y="2752344"/>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It reaches the bucket by hash, then compares actual keys (open addressing / probing) to find the exact one.</a:t>
            </a:r>
            <a:endParaRPr lang="en-US" sz="1250" dirty="0"/>
          </a:p>
        </p:txBody>
      </p:sp>
      <p:sp>
        <p:nvSpPr>
          <p:cNvPr id="12" name="Shape 9"/>
          <p:cNvSpPr/>
          <p:nvPr/>
        </p:nvSpPr>
        <p:spPr>
          <a:xfrm>
            <a:off x="548640" y="3282696"/>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3" name="Text 10"/>
          <p:cNvSpPr/>
          <p:nvPr/>
        </p:nvSpPr>
        <p:spPr>
          <a:xfrm>
            <a:off x="777240" y="3374136"/>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13.  What is a frozenset?</a:t>
            </a:r>
            <a:endParaRPr lang="en-US" sz="1400" dirty="0"/>
          </a:p>
        </p:txBody>
      </p:sp>
      <p:sp>
        <p:nvSpPr>
          <p:cNvPr id="14" name="Text 11"/>
          <p:cNvSpPr/>
          <p:nvPr/>
        </p:nvSpPr>
        <p:spPr>
          <a:xfrm>
            <a:off x="777240" y="3685032"/>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An immutable set. Because it can't change, it IS hashable — so it can be a dict key or set element.</a:t>
            </a:r>
            <a:endParaRPr lang="en-US" sz="1250" dirty="0"/>
          </a:p>
        </p:txBody>
      </p:sp>
      <p:sp>
        <p:nvSpPr>
          <p:cNvPr id="15" name="Shape 12"/>
          <p:cNvSpPr/>
          <p:nvPr/>
        </p:nvSpPr>
        <p:spPr>
          <a:xfrm>
            <a:off x="548640" y="4215384"/>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6" name="Text 13"/>
          <p:cNvSpPr/>
          <p:nvPr/>
        </p:nvSpPr>
        <p:spPr>
          <a:xfrm>
            <a:off x="777240" y="4306824"/>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14.  How to remove duplicates from a list?</a:t>
            </a:r>
            <a:endParaRPr lang="en-US" sz="1400" dirty="0"/>
          </a:p>
        </p:txBody>
      </p:sp>
      <p:sp>
        <p:nvSpPr>
          <p:cNvPr id="17" name="Text 14"/>
          <p:cNvSpPr/>
          <p:nvPr/>
        </p:nvSpPr>
        <p:spPr>
          <a:xfrm>
            <a:off x="777240" y="4617720"/>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list(set(my_list)) — order is not preserved; use dict.fromkeys() to keep order.</a:t>
            </a:r>
            <a:endParaRPr lang="en-US" sz="1250" dirty="0"/>
          </a:p>
        </p:txBody>
      </p:sp>
      <p:sp>
        <p:nvSpPr>
          <p:cNvPr id="18" name="Shape 15"/>
          <p:cNvSpPr/>
          <p:nvPr/>
        </p:nvSpPr>
        <p:spPr>
          <a:xfrm>
            <a:off x="548640" y="5148072"/>
            <a:ext cx="11091672" cy="859536"/>
          </a:xfrm>
          <a:prstGeom prst="roundRect">
            <a:avLst>
              <a:gd name="adj" fmla="val 9574"/>
            </a:avLst>
          </a:prstGeom>
          <a:solidFill>
            <a:srgbClr val="E8F1F9"/>
          </a:solidFill>
          <a:ln/>
          <a:effectLst>
            <a:outerShdw sx="100000" sy="100000" kx="0" ky="0" algn="bl" rotWithShape="0" blurRad="76200" dist="25400" dir="5400000">
              <a:srgbClr val="000000">
                <a:alpha val="12000"/>
              </a:srgbClr>
            </a:outerShdw>
          </a:effectLst>
        </p:spPr>
      </p:sp>
      <p:sp>
        <p:nvSpPr>
          <p:cNvPr id="19" name="Text 16"/>
          <p:cNvSpPr/>
          <p:nvPr/>
        </p:nvSpPr>
        <p:spPr>
          <a:xfrm>
            <a:off x="777240" y="5239512"/>
            <a:ext cx="10607040"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15.  Are dictionary keys ordered?</a:t>
            </a:r>
            <a:endParaRPr lang="en-US" sz="1400" dirty="0"/>
          </a:p>
        </p:txBody>
      </p:sp>
      <p:sp>
        <p:nvSpPr>
          <p:cNvPr id="20" name="Text 17"/>
          <p:cNvSpPr/>
          <p:nvPr/>
        </p:nvSpPr>
        <p:spPr>
          <a:xfrm>
            <a:off x="777240" y="5550408"/>
            <a:ext cx="10607040" cy="420624"/>
          </a:xfrm>
          <a:prstGeom prst="rect">
            <a:avLst/>
          </a:prstGeom>
          <a:noFill/>
          <a:ln/>
        </p:spPr>
        <p:txBody>
          <a:bodyPr wrap="square" rtlCol="0" anchor="t"/>
          <a:lstStyle/>
          <a:p>
            <a:pPr indent="0" marL="0">
              <a:lnSpc>
                <a:spcPct val="100000"/>
              </a:lnSpc>
              <a:buNone/>
            </a:pPr>
            <a:r>
              <a:rPr lang="en-US" sz="1250" b="1" dirty="0">
                <a:solidFill>
                  <a:srgbClr val="1C5D99"/>
                </a:solidFill>
                <a:latin typeface="Calibri" pitchFamily="34" charset="0"/>
                <a:ea typeface="Calibri" pitchFamily="34" charset="-122"/>
                <a:cs typeface="Calibri" pitchFamily="34" charset="-120"/>
              </a:rPr>
              <a:t>A:  </a:t>
            </a:r>
            <a:pPr indent="0" marL="0">
              <a:lnSpc>
                <a:spcPct val="100000"/>
              </a:lnSpc>
              <a:buNone/>
            </a:pPr>
            <a:r>
              <a:rPr lang="en-US" sz="1250" dirty="0">
                <a:solidFill>
                  <a:srgbClr val="16283B"/>
                </a:solidFill>
                <a:latin typeface="Calibri" pitchFamily="34" charset="0"/>
                <a:ea typeface="Calibri" pitchFamily="34" charset="-122"/>
                <a:cs typeface="Calibri" pitchFamily="34" charset="-120"/>
              </a:rPr>
              <a:t>Since Python 3.7 dicts keep insertion order, but keys are still located via hashing, not order.</a:t>
            </a:r>
            <a:endParaRPr lang="en-US" sz="1250" dirty="0"/>
          </a:p>
        </p:txBody>
      </p:sp>
      <p:sp>
        <p:nvSpPr>
          <p:cNvPr id="21" name="Text 18"/>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2" name="Text 19"/>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15 · STUDENT PRACTICE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Practice: 10 MCQs</a:t>
            </a:r>
            <a:endParaRPr lang="en-US" sz="2600" dirty="0"/>
          </a:p>
        </p:txBody>
      </p:sp>
      <p:sp>
        <p:nvSpPr>
          <p:cNvPr id="6" name="Shape 3"/>
          <p:cNvSpPr/>
          <p:nvPr/>
        </p:nvSpPr>
        <p:spPr>
          <a:xfrm>
            <a:off x="548640" y="1417320"/>
            <a:ext cx="5394960" cy="777240"/>
          </a:xfrm>
          <a:prstGeom prst="roundRect">
            <a:avLst>
              <a:gd name="adj" fmla="val 10588"/>
            </a:avLst>
          </a:prstGeom>
          <a:solidFill>
            <a:srgbClr val="E8F1F9"/>
          </a:solidFill>
          <a:ln/>
          <a:effectLst>
            <a:outerShdw sx="100000" sy="100000" kx="0" ky="0" algn="bl" rotWithShape="0" blurRad="76200" dist="25400" dir="5400000">
              <a:srgbClr val="000000">
                <a:alpha val="12000"/>
              </a:srgbClr>
            </a:outerShdw>
          </a:effectLst>
        </p:spPr>
      </p:sp>
      <p:sp>
        <p:nvSpPr>
          <p:cNvPr id="7" name="Text 4"/>
          <p:cNvSpPr/>
          <p:nvPr/>
        </p:nvSpPr>
        <p:spPr>
          <a:xfrm>
            <a:off x="731520" y="1417320"/>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1. Which is NOT hashable?   a) int  b) str  c) list  d) tuple</a:t>
            </a:r>
            <a:endParaRPr lang="en-US" sz="1200" dirty="0"/>
          </a:p>
        </p:txBody>
      </p:sp>
      <p:sp>
        <p:nvSpPr>
          <p:cNvPr id="8" name="Shape 5"/>
          <p:cNvSpPr/>
          <p:nvPr/>
        </p:nvSpPr>
        <p:spPr>
          <a:xfrm>
            <a:off x="6153912" y="1417320"/>
            <a:ext cx="5394960" cy="777240"/>
          </a:xfrm>
          <a:prstGeom prst="roundRect">
            <a:avLst>
              <a:gd name="adj" fmla="val 10588"/>
            </a:avLst>
          </a:prstGeom>
          <a:solidFill>
            <a:srgbClr val="F4F8FC"/>
          </a:solidFill>
          <a:ln/>
          <a:effectLst>
            <a:outerShdw sx="100000" sy="100000" kx="0" ky="0" algn="bl" rotWithShape="0" blurRad="76200" dist="25400" dir="5400000">
              <a:srgbClr val="000000">
                <a:alpha val="12000"/>
              </a:srgbClr>
            </a:outerShdw>
          </a:effectLst>
        </p:spPr>
      </p:sp>
      <p:sp>
        <p:nvSpPr>
          <p:cNvPr id="9" name="Text 6"/>
          <p:cNvSpPr/>
          <p:nvPr/>
        </p:nvSpPr>
        <p:spPr>
          <a:xfrm>
            <a:off x="6336792" y="1417320"/>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2. hash() always returns a…   a) string  b) integer  c) list  d) float</a:t>
            </a:r>
            <a:endParaRPr lang="en-US" sz="1200" dirty="0"/>
          </a:p>
        </p:txBody>
      </p:sp>
      <p:sp>
        <p:nvSpPr>
          <p:cNvPr id="10" name="Shape 7"/>
          <p:cNvSpPr/>
          <p:nvPr/>
        </p:nvSpPr>
        <p:spPr>
          <a:xfrm>
            <a:off x="548640" y="2313432"/>
            <a:ext cx="5394960" cy="777240"/>
          </a:xfrm>
          <a:prstGeom prst="roundRect">
            <a:avLst>
              <a:gd name="adj" fmla="val 10588"/>
            </a:avLst>
          </a:prstGeom>
          <a:solidFill>
            <a:srgbClr val="E8F1F9"/>
          </a:solidFill>
          <a:ln/>
          <a:effectLst>
            <a:outerShdw sx="100000" sy="100000" kx="0" ky="0" algn="bl" rotWithShape="0" blurRad="76200" dist="25400" dir="5400000">
              <a:srgbClr val="000000">
                <a:alpha val="12000"/>
              </a:srgbClr>
            </a:outerShdw>
          </a:effectLst>
        </p:spPr>
      </p:sp>
      <p:sp>
        <p:nvSpPr>
          <p:cNvPr id="11" name="Text 8"/>
          <p:cNvSpPr/>
          <p:nvPr/>
        </p:nvSpPr>
        <p:spPr>
          <a:xfrm>
            <a:off x="731520" y="2313432"/>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3. Sets do NOT allow…   a) integers  b) duplicates  c) strings  d) tuples</a:t>
            </a:r>
            <a:endParaRPr lang="en-US" sz="1200" dirty="0"/>
          </a:p>
        </p:txBody>
      </p:sp>
      <p:sp>
        <p:nvSpPr>
          <p:cNvPr id="12" name="Shape 9"/>
          <p:cNvSpPr/>
          <p:nvPr/>
        </p:nvSpPr>
        <p:spPr>
          <a:xfrm>
            <a:off x="6153912" y="2313432"/>
            <a:ext cx="5394960" cy="777240"/>
          </a:xfrm>
          <a:prstGeom prst="roundRect">
            <a:avLst>
              <a:gd name="adj" fmla="val 10588"/>
            </a:avLst>
          </a:prstGeom>
          <a:solidFill>
            <a:srgbClr val="F4F8FC"/>
          </a:solidFill>
          <a:ln/>
          <a:effectLst>
            <a:outerShdw sx="100000" sy="100000" kx="0" ky="0" algn="bl" rotWithShape="0" blurRad="76200" dist="25400" dir="5400000">
              <a:srgbClr val="000000">
                <a:alpha val="12000"/>
              </a:srgbClr>
            </a:outerShdw>
          </a:effectLst>
        </p:spPr>
      </p:sp>
      <p:sp>
        <p:nvSpPr>
          <p:cNvPr id="13" name="Text 10"/>
          <p:cNvSpPr/>
          <p:nvPr/>
        </p:nvSpPr>
        <p:spPr>
          <a:xfrm>
            <a:off x="6336792" y="2313432"/>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4. Dict lookup time is…   a) O(n)  b) O(n²)  c) O(1)  d) O(log n)</a:t>
            </a:r>
            <a:endParaRPr lang="en-US" sz="1200" dirty="0"/>
          </a:p>
        </p:txBody>
      </p:sp>
      <p:sp>
        <p:nvSpPr>
          <p:cNvPr id="14" name="Shape 11"/>
          <p:cNvSpPr/>
          <p:nvPr/>
        </p:nvSpPr>
        <p:spPr>
          <a:xfrm>
            <a:off x="548640" y="3209544"/>
            <a:ext cx="5394960" cy="777240"/>
          </a:xfrm>
          <a:prstGeom prst="roundRect">
            <a:avLst>
              <a:gd name="adj" fmla="val 10588"/>
            </a:avLst>
          </a:prstGeom>
          <a:solidFill>
            <a:srgbClr val="E8F1F9"/>
          </a:solidFill>
          <a:ln/>
          <a:effectLst>
            <a:outerShdw sx="100000" sy="100000" kx="0" ky="0" algn="bl" rotWithShape="0" blurRad="76200" dist="25400" dir="5400000">
              <a:srgbClr val="000000">
                <a:alpha val="12000"/>
              </a:srgbClr>
            </a:outerShdw>
          </a:effectLst>
        </p:spPr>
      </p:sp>
      <p:sp>
        <p:nvSpPr>
          <p:cNvPr id="15" name="Text 12"/>
          <p:cNvSpPr/>
          <p:nvPr/>
        </p:nvSpPr>
        <p:spPr>
          <a:xfrm>
            <a:off x="731520" y="3209544"/>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5. remove() on a missing item raises…   a) nothing  b) KeyError  c) ValueError  d) None</a:t>
            </a:r>
            <a:endParaRPr lang="en-US" sz="1200" dirty="0"/>
          </a:p>
        </p:txBody>
      </p:sp>
      <p:sp>
        <p:nvSpPr>
          <p:cNvPr id="16" name="Shape 13"/>
          <p:cNvSpPr/>
          <p:nvPr/>
        </p:nvSpPr>
        <p:spPr>
          <a:xfrm>
            <a:off x="6153912" y="3209544"/>
            <a:ext cx="5394960" cy="777240"/>
          </a:xfrm>
          <a:prstGeom prst="roundRect">
            <a:avLst>
              <a:gd name="adj" fmla="val 10588"/>
            </a:avLst>
          </a:prstGeom>
          <a:solidFill>
            <a:srgbClr val="F4F8FC"/>
          </a:solidFill>
          <a:ln/>
          <a:effectLst>
            <a:outerShdw sx="100000" sy="100000" kx="0" ky="0" algn="bl" rotWithShape="0" blurRad="76200" dist="25400" dir="5400000">
              <a:srgbClr val="000000">
                <a:alpha val="12000"/>
              </a:srgbClr>
            </a:outerShdw>
          </a:effectLst>
        </p:spPr>
      </p:sp>
      <p:sp>
        <p:nvSpPr>
          <p:cNvPr id="17" name="Text 14"/>
          <p:cNvSpPr/>
          <p:nvPr/>
        </p:nvSpPr>
        <p:spPr>
          <a:xfrm>
            <a:off x="6336792" y="3209544"/>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6. A collision means two keys share a…   a) value  b) bucket  c) name  d) type</a:t>
            </a:r>
            <a:endParaRPr lang="en-US" sz="1200" dirty="0"/>
          </a:p>
        </p:txBody>
      </p:sp>
      <p:sp>
        <p:nvSpPr>
          <p:cNvPr id="18" name="Shape 15"/>
          <p:cNvSpPr/>
          <p:nvPr/>
        </p:nvSpPr>
        <p:spPr>
          <a:xfrm>
            <a:off x="548640" y="4105656"/>
            <a:ext cx="5394960" cy="777240"/>
          </a:xfrm>
          <a:prstGeom prst="roundRect">
            <a:avLst>
              <a:gd name="adj" fmla="val 10588"/>
            </a:avLst>
          </a:prstGeom>
          <a:solidFill>
            <a:srgbClr val="E8F1F9"/>
          </a:solidFill>
          <a:ln/>
          <a:effectLst>
            <a:outerShdw sx="100000" sy="100000" kx="0" ky="0" algn="bl" rotWithShape="0" blurRad="76200" dist="25400" dir="5400000">
              <a:srgbClr val="000000">
                <a:alpha val="12000"/>
              </a:srgbClr>
            </a:outerShdw>
          </a:effectLst>
        </p:spPr>
      </p:sp>
      <p:sp>
        <p:nvSpPr>
          <p:cNvPr id="19" name="Text 16"/>
          <p:cNvSpPr/>
          <p:nvPr/>
        </p:nvSpPr>
        <p:spPr>
          <a:xfrm>
            <a:off x="731520" y="4105656"/>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7. {1,2} | {2,3} equals…   a) {2}  b) {1,3}  c) {1,2,3}  d) {1,2,2,3}</a:t>
            </a:r>
            <a:endParaRPr lang="en-US" sz="1200" dirty="0"/>
          </a:p>
        </p:txBody>
      </p:sp>
      <p:sp>
        <p:nvSpPr>
          <p:cNvPr id="20" name="Shape 17"/>
          <p:cNvSpPr/>
          <p:nvPr/>
        </p:nvSpPr>
        <p:spPr>
          <a:xfrm>
            <a:off x="6153912" y="4105656"/>
            <a:ext cx="5394960" cy="777240"/>
          </a:xfrm>
          <a:prstGeom prst="roundRect">
            <a:avLst>
              <a:gd name="adj" fmla="val 10588"/>
            </a:avLst>
          </a:prstGeom>
          <a:solidFill>
            <a:srgbClr val="F4F8FC"/>
          </a:solidFill>
          <a:ln/>
          <a:effectLst>
            <a:outerShdw sx="100000" sy="100000" kx="0" ky="0" algn="bl" rotWithShape="0" blurRad="76200" dist="25400" dir="5400000">
              <a:srgbClr val="000000">
                <a:alpha val="12000"/>
              </a:srgbClr>
            </a:outerShdw>
          </a:effectLst>
        </p:spPr>
      </p:sp>
      <p:sp>
        <p:nvSpPr>
          <p:cNvPr id="21" name="Text 18"/>
          <p:cNvSpPr/>
          <p:nvPr/>
        </p:nvSpPr>
        <p:spPr>
          <a:xfrm>
            <a:off x="6336792" y="4105656"/>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8. Which keeps order?   a) set  b) list  c) frozenset  d) none</a:t>
            </a:r>
            <a:endParaRPr lang="en-US" sz="1200" dirty="0"/>
          </a:p>
        </p:txBody>
      </p:sp>
      <p:sp>
        <p:nvSpPr>
          <p:cNvPr id="22" name="Shape 19"/>
          <p:cNvSpPr/>
          <p:nvPr/>
        </p:nvSpPr>
        <p:spPr>
          <a:xfrm>
            <a:off x="548640" y="5001768"/>
            <a:ext cx="5394960" cy="777240"/>
          </a:xfrm>
          <a:prstGeom prst="roundRect">
            <a:avLst>
              <a:gd name="adj" fmla="val 10588"/>
            </a:avLst>
          </a:prstGeom>
          <a:solidFill>
            <a:srgbClr val="E8F1F9"/>
          </a:solidFill>
          <a:ln/>
          <a:effectLst>
            <a:outerShdw sx="100000" sy="100000" kx="0" ky="0" algn="bl" rotWithShape="0" blurRad="76200" dist="25400" dir="5400000">
              <a:srgbClr val="000000">
                <a:alpha val="12000"/>
              </a:srgbClr>
            </a:outerShdw>
          </a:effectLst>
        </p:spPr>
      </p:sp>
      <p:sp>
        <p:nvSpPr>
          <p:cNvPr id="23" name="Text 20"/>
          <p:cNvSpPr/>
          <p:nvPr/>
        </p:nvSpPr>
        <p:spPr>
          <a:xfrm>
            <a:off x="731520" y="5001768"/>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9. An immutable set is a…   a) tuple  b) frozenset  c) dict  d) list</a:t>
            </a:r>
            <a:endParaRPr lang="en-US" sz="1200" dirty="0"/>
          </a:p>
        </p:txBody>
      </p:sp>
      <p:sp>
        <p:nvSpPr>
          <p:cNvPr id="24" name="Shape 21"/>
          <p:cNvSpPr/>
          <p:nvPr/>
        </p:nvSpPr>
        <p:spPr>
          <a:xfrm>
            <a:off x="6153912" y="5001768"/>
            <a:ext cx="5394960" cy="777240"/>
          </a:xfrm>
          <a:prstGeom prst="roundRect">
            <a:avLst>
              <a:gd name="adj" fmla="val 10588"/>
            </a:avLst>
          </a:prstGeom>
          <a:solidFill>
            <a:srgbClr val="F4F8FC"/>
          </a:solidFill>
          <a:ln/>
          <a:effectLst>
            <a:outerShdw sx="100000" sy="100000" kx="0" ky="0" algn="bl" rotWithShape="0" blurRad="76200" dist="25400" dir="5400000">
              <a:srgbClr val="000000">
                <a:alpha val="12000"/>
              </a:srgbClr>
            </a:outerShdw>
          </a:effectLst>
        </p:spPr>
      </p:sp>
      <p:sp>
        <p:nvSpPr>
          <p:cNvPr id="25" name="Text 22"/>
          <p:cNvSpPr/>
          <p:nvPr/>
        </p:nvSpPr>
        <p:spPr>
          <a:xfrm>
            <a:off x="6336792" y="5001768"/>
            <a:ext cx="507492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10. {1,2} &amp; {2,3} equals…   a) {1,3}  b) {2}  c) {1,2,3}  d) {}</a:t>
            </a:r>
            <a:endParaRPr lang="en-US" sz="1200" dirty="0"/>
          </a:p>
        </p:txBody>
      </p:sp>
      <p:sp>
        <p:nvSpPr>
          <p:cNvPr id="26" name="Text 23"/>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27" name="Text 24"/>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15 · STUDENT PRACTICE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Practice: 10 Coding Tasks</a:t>
            </a:r>
            <a:endParaRPr lang="en-US" sz="2600" dirty="0"/>
          </a:p>
        </p:txBody>
      </p:sp>
      <p:sp>
        <p:nvSpPr>
          <p:cNvPr id="6" name="Shape 3"/>
          <p:cNvSpPr/>
          <p:nvPr/>
        </p:nvSpPr>
        <p:spPr>
          <a:xfrm>
            <a:off x="548640" y="1417320"/>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31520" y="1627632"/>
            <a:ext cx="365760" cy="365760"/>
          </a:xfrm>
          <a:prstGeom prst="ellipse">
            <a:avLst/>
          </a:prstGeom>
          <a:solidFill>
            <a:srgbClr val="1C5D99"/>
          </a:solidFill>
          <a:ln/>
        </p:spPr>
      </p:sp>
      <p:sp>
        <p:nvSpPr>
          <p:cNvPr id="8" name="Text 5"/>
          <p:cNvSpPr/>
          <p:nvPr/>
        </p:nvSpPr>
        <p:spPr>
          <a:xfrm>
            <a:off x="731520" y="162763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234440" y="1417320"/>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Remove duplicates from [1,2,2,3,3,3].</a:t>
            </a:r>
            <a:endParaRPr lang="en-US" sz="1200" dirty="0"/>
          </a:p>
        </p:txBody>
      </p:sp>
      <p:sp>
        <p:nvSpPr>
          <p:cNvPr id="10" name="Shape 7"/>
          <p:cNvSpPr/>
          <p:nvPr/>
        </p:nvSpPr>
        <p:spPr>
          <a:xfrm>
            <a:off x="6153912" y="1417320"/>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6336792" y="1627632"/>
            <a:ext cx="365760" cy="365760"/>
          </a:xfrm>
          <a:prstGeom prst="ellipse">
            <a:avLst/>
          </a:prstGeom>
          <a:solidFill>
            <a:srgbClr val="1C5D99"/>
          </a:solidFill>
          <a:ln/>
        </p:spPr>
      </p:sp>
      <p:sp>
        <p:nvSpPr>
          <p:cNvPr id="12" name="Text 9"/>
          <p:cNvSpPr/>
          <p:nvPr/>
        </p:nvSpPr>
        <p:spPr>
          <a:xfrm>
            <a:off x="6336792" y="162763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6839712" y="1417320"/>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Count the unique words in a sentence.</a:t>
            </a:r>
            <a:endParaRPr lang="en-US" sz="1200" dirty="0"/>
          </a:p>
        </p:txBody>
      </p:sp>
      <p:sp>
        <p:nvSpPr>
          <p:cNvPr id="14" name="Shape 11"/>
          <p:cNvSpPr/>
          <p:nvPr/>
        </p:nvSpPr>
        <p:spPr>
          <a:xfrm>
            <a:off x="548640" y="2313432"/>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731520" y="2523744"/>
            <a:ext cx="365760" cy="365760"/>
          </a:xfrm>
          <a:prstGeom prst="ellipse">
            <a:avLst/>
          </a:prstGeom>
          <a:solidFill>
            <a:srgbClr val="1C5D99"/>
          </a:solidFill>
          <a:ln/>
        </p:spPr>
      </p:sp>
      <p:sp>
        <p:nvSpPr>
          <p:cNvPr id="16" name="Text 13"/>
          <p:cNvSpPr/>
          <p:nvPr/>
        </p:nvSpPr>
        <p:spPr>
          <a:xfrm>
            <a:off x="731520" y="252374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p:nvPr/>
        </p:nvSpPr>
        <p:spPr>
          <a:xfrm>
            <a:off x="1234440" y="2313432"/>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Find common items in two lists using a set.</a:t>
            </a:r>
            <a:endParaRPr lang="en-US" sz="1200" dirty="0"/>
          </a:p>
        </p:txBody>
      </p:sp>
      <p:sp>
        <p:nvSpPr>
          <p:cNvPr id="18" name="Shape 15"/>
          <p:cNvSpPr/>
          <p:nvPr/>
        </p:nvSpPr>
        <p:spPr>
          <a:xfrm>
            <a:off x="6153912" y="2313432"/>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6336792" y="2523744"/>
            <a:ext cx="365760" cy="365760"/>
          </a:xfrm>
          <a:prstGeom prst="ellipse">
            <a:avLst/>
          </a:prstGeom>
          <a:solidFill>
            <a:srgbClr val="1C5D99"/>
          </a:solidFill>
          <a:ln/>
        </p:spPr>
      </p:sp>
      <p:sp>
        <p:nvSpPr>
          <p:cNvPr id="20" name="Text 17"/>
          <p:cNvSpPr/>
          <p:nvPr/>
        </p:nvSpPr>
        <p:spPr>
          <a:xfrm>
            <a:off x="6336792" y="252374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6839712" y="2313432"/>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Check if list A is a subset of list B.</a:t>
            </a:r>
            <a:endParaRPr lang="en-US" sz="1200" dirty="0"/>
          </a:p>
        </p:txBody>
      </p:sp>
      <p:sp>
        <p:nvSpPr>
          <p:cNvPr id="22" name="Shape 19"/>
          <p:cNvSpPr/>
          <p:nvPr/>
        </p:nvSpPr>
        <p:spPr>
          <a:xfrm>
            <a:off x="548640" y="3209544"/>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731520" y="3419856"/>
            <a:ext cx="365760" cy="365760"/>
          </a:xfrm>
          <a:prstGeom prst="ellipse">
            <a:avLst/>
          </a:prstGeom>
          <a:solidFill>
            <a:srgbClr val="1C5D99"/>
          </a:solidFill>
          <a:ln/>
        </p:spPr>
      </p:sp>
      <p:sp>
        <p:nvSpPr>
          <p:cNvPr id="24" name="Text 21"/>
          <p:cNvSpPr/>
          <p:nvPr/>
        </p:nvSpPr>
        <p:spPr>
          <a:xfrm>
            <a:off x="731520" y="3419856"/>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234440" y="3209544"/>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Merge two permission sets into one.</a:t>
            </a:r>
            <a:endParaRPr lang="en-US" sz="1200" dirty="0"/>
          </a:p>
        </p:txBody>
      </p:sp>
      <p:sp>
        <p:nvSpPr>
          <p:cNvPr id="26" name="Shape 23"/>
          <p:cNvSpPr/>
          <p:nvPr/>
        </p:nvSpPr>
        <p:spPr>
          <a:xfrm>
            <a:off x="6153912" y="3209544"/>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27" name="Shape 24"/>
          <p:cNvSpPr/>
          <p:nvPr/>
        </p:nvSpPr>
        <p:spPr>
          <a:xfrm>
            <a:off x="6336792" y="3419856"/>
            <a:ext cx="365760" cy="365760"/>
          </a:xfrm>
          <a:prstGeom prst="ellipse">
            <a:avLst/>
          </a:prstGeom>
          <a:solidFill>
            <a:srgbClr val="1C5D99"/>
          </a:solidFill>
          <a:ln/>
        </p:spPr>
      </p:sp>
      <p:sp>
        <p:nvSpPr>
          <p:cNvPr id="28" name="Text 25"/>
          <p:cNvSpPr/>
          <p:nvPr/>
        </p:nvSpPr>
        <p:spPr>
          <a:xfrm>
            <a:off x="6336792" y="3419856"/>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6"/>
          <p:cNvSpPr/>
          <p:nvPr/>
        </p:nvSpPr>
        <p:spPr>
          <a:xfrm>
            <a:off x="6839712" y="3209544"/>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Find items in A but not in B.</a:t>
            </a:r>
            <a:endParaRPr lang="en-US" sz="1200" dirty="0"/>
          </a:p>
        </p:txBody>
      </p:sp>
      <p:sp>
        <p:nvSpPr>
          <p:cNvPr id="30" name="Shape 27"/>
          <p:cNvSpPr/>
          <p:nvPr/>
        </p:nvSpPr>
        <p:spPr>
          <a:xfrm>
            <a:off x="548640" y="4105656"/>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31" name="Shape 28"/>
          <p:cNvSpPr/>
          <p:nvPr/>
        </p:nvSpPr>
        <p:spPr>
          <a:xfrm>
            <a:off x="731520" y="4315968"/>
            <a:ext cx="365760" cy="365760"/>
          </a:xfrm>
          <a:prstGeom prst="ellipse">
            <a:avLst/>
          </a:prstGeom>
          <a:solidFill>
            <a:srgbClr val="1C5D99"/>
          </a:solidFill>
          <a:ln/>
        </p:spPr>
      </p:sp>
      <p:sp>
        <p:nvSpPr>
          <p:cNvPr id="32" name="Text 29"/>
          <p:cNvSpPr/>
          <p:nvPr/>
        </p:nvSpPr>
        <p:spPr>
          <a:xfrm>
            <a:off x="731520" y="431596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0"/>
          <p:cNvSpPr/>
          <p:nvPr/>
        </p:nvSpPr>
        <p:spPr>
          <a:xfrm>
            <a:off x="1234440" y="4105656"/>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Test if two sets share nothing (disjoint).</a:t>
            </a:r>
            <a:endParaRPr lang="en-US" sz="1200" dirty="0"/>
          </a:p>
        </p:txBody>
      </p:sp>
      <p:sp>
        <p:nvSpPr>
          <p:cNvPr id="34" name="Shape 31"/>
          <p:cNvSpPr/>
          <p:nvPr/>
        </p:nvSpPr>
        <p:spPr>
          <a:xfrm>
            <a:off x="6153912" y="4105656"/>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35" name="Shape 32"/>
          <p:cNvSpPr/>
          <p:nvPr/>
        </p:nvSpPr>
        <p:spPr>
          <a:xfrm>
            <a:off x="6336792" y="4315968"/>
            <a:ext cx="365760" cy="365760"/>
          </a:xfrm>
          <a:prstGeom prst="ellipse">
            <a:avLst/>
          </a:prstGeom>
          <a:solidFill>
            <a:srgbClr val="1C5D99"/>
          </a:solidFill>
          <a:ln/>
        </p:spPr>
      </p:sp>
      <p:sp>
        <p:nvSpPr>
          <p:cNvPr id="36" name="Text 33"/>
          <p:cNvSpPr/>
          <p:nvPr/>
        </p:nvSpPr>
        <p:spPr>
          <a:xfrm>
            <a:off x="6336792" y="431596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7" name="Text 34"/>
          <p:cNvSpPr/>
          <p:nvPr/>
        </p:nvSpPr>
        <p:spPr>
          <a:xfrm>
            <a:off x="6839712" y="4105656"/>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Build a set of the first 10 even numbers.</a:t>
            </a:r>
            <a:endParaRPr lang="en-US" sz="1200" dirty="0"/>
          </a:p>
        </p:txBody>
      </p:sp>
      <p:sp>
        <p:nvSpPr>
          <p:cNvPr id="38" name="Shape 35"/>
          <p:cNvSpPr/>
          <p:nvPr/>
        </p:nvSpPr>
        <p:spPr>
          <a:xfrm>
            <a:off x="548640" y="5001768"/>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39" name="Shape 36"/>
          <p:cNvSpPr/>
          <p:nvPr/>
        </p:nvSpPr>
        <p:spPr>
          <a:xfrm>
            <a:off x="731520" y="5212080"/>
            <a:ext cx="365760" cy="365760"/>
          </a:xfrm>
          <a:prstGeom prst="ellipse">
            <a:avLst/>
          </a:prstGeom>
          <a:solidFill>
            <a:srgbClr val="1C5D99"/>
          </a:solidFill>
          <a:ln/>
        </p:spPr>
      </p:sp>
      <p:sp>
        <p:nvSpPr>
          <p:cNvPr id="40" name="Text 37"/>
          <p:cNvSpPr/>
          <p:nvPr/>
        </p:nvSpPr>
        <p:spPr>
          <a:xfrm>
            <a:off x="731520" y="521208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1" name="Text 38"/>
          <p:cNvSpPr/>
          <p:nvPr/>
        </p:nvSpPr>
        <p:spPr>
          <a:xfrm>
            <a:off x="1234440" y="5001768"/>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Given emails with repeats, output unique ones.</a:t>
            </a:r>
            <a:endParaRPr lang="en-US" sz="1200" dirty="0"/>
          </a:p>
        </p:txBody>
      </p:sp>
      <p:sp>
        <p:nvSpPr>
          <p:cNvPr id="42" name="Shape 39"/>
          <p:cNvSpPr/>
          <p:nvPr/>
        </p:nvSpPr>
        <p:spPr>
          <a:xfrm>
            <a:off x="6153912" y="5001768"/>
            <a:ext cx="5394960" cy="777240"/>
          </a:xfrm>
          <a:prstGeom prst="roundRect">
            <a:avLst>
              <a:gd name="adj" fmla="val 10588"/>
            </a:avLst>
          </a:prstGeom>
          <a:solidFill>
            <a:srgbClr val="FFFFFF"/>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43" name="Shape 40"/>
          <p:cNvSpPr/>
          <p:nvPr/>
        </p:nvSpPr>
        <p:spPr>
          <a:xfrm>
            <a:off x="6336792" y="5212080"/>
            <a:ext cx="365760" cy="365760"/>
          </a:xfrm>
          <a:prstGeom prst="ellipse">
            <a:avLst/>
          </a:prstGeom>
          <a:solidFill>
            <a:srgbClr val="1C5D99"/>
          </a:solidFill>
          <a:ln/>
        </p:spPr>
      </p:sp>
      <p:sp>
        <p:nvSpPr>
          <p:cNvPr id="44" name="Text 41"/>
          <p:cNvSpPr/>
          <p:nvPr/>
        </p:nvSpPr>
        <p:spPr>
          <a:xfrm>
            <a:off x="6336792" y="521208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5" name="Text 42"/>
          <p:cNvSpPr/>
          <p:nvPr/>
        </p:nvSpPr>
        <p:spPr>
          <a:xfrm>
            <a:off x="6839712" y="5001768"/>
            <a:ext cx="4572000" cy="777240"/>
          </a:xfrm>
          <a:prstGeom prst="rect">
            <a:avLst/>
          </a:prstGeom>
          <a:noFill/>
          <a:ln/>
        </p:spPr>
        <p:txBody>
          <a:bodyPr wrap="square" rtlCol="0" anchor="ctr"/>
          <a:lstStyle/>
          <a:p>
            <a:pPr indent="0" marL="0">
              <a:buNone/>
            </a:pPr>
            <a:r>
              <a:rPr lang="en-US" sz="1200" dirty="0">
                <a:solidFill>
                  <a:srgbClr val="16283B"/>
                </a:solidFill>
                <a:latin typeface="Calibri" pitchFamily="34" charset="0"/>
                <a:ea typeface="Calibri" pitchFamily="34" charset="-122"/>
                <a:cs typeface="Calibri" pitchFamily="34" charset="-120"/>
              </a:rPr>
              <a:t>Find what changed between two feature sets.</a:t>
            </a:r>
            <a:endParaRPr lang="en-US" sz="1200" dirty="0"/>
          </a:p>
        </p:txBody>
      </p:sp>
      <p:sp>
        <p:nvSpPr>
          <p:cNvPr id="46" name="Text 43"/>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7" name="Text 44"/>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SECTION 15 · STUDENT PRACTICE</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Logic Puzzles &amp; Output Prediction</a:t>
            </a:r>
            <a:endParaRPr lang="en-US" sz="2600" dirty="0"/>
          </a:p>
        </p:txBody>
      </p:sp>
      <p:sp>
        <p:nvSpPr>
          <p:cNvPr id="6" name="Shape 3"/>
          <p:cNvSpPr/>
          <p:nvPr/>
        </p:nvSpPr>
        <p:spPr>
          <a:xfrm>
            <a:off x="548640" y="1417320"/>
            <a:ext cx="5394960" cy="4434840"/>
          </a:xfrm>
          <a:prstGeom prst="roundRect">
            <a:avLst>
              <a:gd name="adj" fmla="val 1856"/>
            </a:avLst>
          </a:prstGeom>
          <a:solidFill>
            <a:srgbClr val="E8F1F9"/>
          </a:solidFill>
          <a:ln/>
          <a:effectLst>
            <a:outerShdw sx="100000" sy="100000" kx="0" ky="0" algn="bl" rotWithShape="0" blurRad="76200" dist="25400" dir="5400000">
              <a:srgbClr val="000000">
                <a:alpha val="12000"/>
              </a:srgbClr>
            </a:outerShdw>
          </a:effectLst>
        </p:spPr>
      </p:sp>
      <p:sp>
        <p:nvSpPr>
          <p:cNvPr id="7" name="Shape 4"/>
          <p:cNvSpPr/>
          <p:nvPr/>
        </p:nvSpPr>
        <p:spPr>
          <a:xfrm>
            <a:off x="777240" y="1600200"/>
            <a:ext cx="457200" cy="457200"/>
          </a:xfrm>
          <a:prstGeom prst="roundRect">
            <a:avLst>
              <a:gd name="adj" fmla="val 20000"/>
            </a:avLst>
          </a:prstGeom>
          <a:solidFill>
            <a:srgbClr val="1C5D99"/>
          </a:solidFill>
          <a:ln/>
        </p:spPr>
      </p:sp>
      <p:pic>
        <p:nvPicPr>
          <p:cNvPr id="8" name="Image 1" descr="preencoded.png">    </p:cNvPr>
          <p:cNvPicPr>
            <a:picLocks noChangeAspect="1"/>
          </p:cNvPicPr>
          <p:nvPr/>
        </p:nvPicPr>
        <p:blipFill>
          <a:blip r:embed="rId2"/>
          <a:stretch>
            <a:fillRect/>
          </a:stretch>
        </p:blipFill>
        <p:spPr>
          <a:xfrm>
            <a:off x="886968" y="1709928"/>
            <a:ext cx="237744" cy="237744"/>
          </a:xfrm>
          <a:prstGeom prst="rect">
            <a:avLst/>
          </a:prstGeom>
        </p:spPr>
      </p:pic>
      <p:sp>
        <p:nvSpPr>
          <p:cNvPr id="9" name="Text 5"/>
          <p:cNvSpPr/>
          <p:nvPr/>
        </p:nvSpPr>
        <p:spPr>
          <a:xfrm>
            <a:off x="1325880" y="1600200"/>
            <a:ext cx="4480560" cy="457200"/>
          </a:xfrm>
          <a:prstGeom prst="rect">
            <a:avLst/>
          </a:prstGeom>
          <a:noFill/>
          <a:ln/>
        </p:spPr>
        <p:txBody>
          <a:bodyPr wrap="square"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5 Logical Questions</a:t>
            </a:r>
            <a:endParaRPr lang="en-US" sz="1600" dirty="0"/>
          </a:p>
        </p:txBody>
      </p:sp>
      <p:sp>
        <p:nvSpPr>
          <p:cNvPr id="10" name="Text 6"/>
          <p:cNvSpPr/>
          <p:nvPr/>
        </p:nvSpPr>
        <p:spPr>
          <a:xfrm>
            <a:off x="777240" y="2148840"/>
            <a:ext cx="4937760" cy="3566160"/>
          </a:xfrm>
          <a:prstGeom prst="rect">
            <a:avLst/>
          </a:prstGeom>
          <a:noFill/>
          <a:ln/>
        </p:spPr>
        <p:txBody>
          <a:bodyPr wrap="square" rtlCol="0" anchor="t"/>
          <a:lstStyle/>
          <a:p>
            <a:pPr indent="0" marL="0">
              <a:lnSpc>
                <a:spcPct val="105000"/>
              </a:lnSpc>
              <a:spcAft>
                <a:spcPts val="1100"/>
              </a:spcAft>
              <a:buNone/>
            </a:pPr>
            <a:r>
              <a:rPr lang="en-US" sz="1350" dirty="0">
                <a:solidFill>
                  <a:srgbClr val="16283B"/>
                </a:solidFill>
                <a:latin typeface="Calibri" pitchFamily="34" charset="0"/>
                <a:ea typeface="Calibri" pitchFamily="34" charset="-122"/>
                <a:cs typeface="Calibri" pitchFamily="34" charset="-120"/>
              </a:rPr>
              <a:t>1.  Why can a tuple be a dict key but a list cannot?</a:t>
            </a:r>
            <a:endParaRPr lang="en-US" sz="1350" dirty="0"/>
          </a:p>
          <a:p>
            <a:pPr indent="0" marL="0">
              <a:lnSpc>
                <a:spcPct val="105000"/>
              </a:lnSpc>
              <a:spcAft>
                <a:spcPts val="1100"/>
              </a:spcAft>
              <a:buNone/>
            </a:pPr>
            <a:r>
              <a:rPr lang="en-US" sz="1350" dirty="0">
                <a:solidFill>
                  <a:srgbClr val="16283B"/>
                </a:solidFill>
                <a:latin typeface="Calibri" pitchFamily="34" charset="0"/>
                <a:ea typeface="Calibri" pitchFamily="34" charset="-122"/>
                <a:cs typeface="Calibri" pitchFamily="34" charset="-120"/>
              </a:rPr>
              <a:t>2.  Two keys give the same bucket. How does Python still return the right value?</a:t>
            </a:r>
            <a:endParaRPr lang="en-US" sz="1350" dirty="0"/>
          </a:p>
          <a:p>
            <a:pPr indent="0" marL="0">
              <a:lnSpc>
                <a:spcPct val="105000"/>
              </a:lnSpc>
              <a:spcAft>
                <a:spcPts val="1100"/>
              </a:spcAft>
              <a:buNone/>
            </a:pPr>
            <a:r>
              <a:rPr lang="en-US" sz="1350" dirty="0">
                <a:solidFill>
                  <a:srgbClr val="16283B"/>
                </a:solidFill>
                <a:latin typeface="Calibri" pitchFamily="34" charset="0"/>
                <a:ea typeface="Calibri" pitchFamily="34" charset="-122"/>
                <a:cs typeface="Calibri" pitchFamily="34" charset="-120"/>
              </a:rPr>
              <a:t>3.  Why might {3,1,2} print as {1,2,3} yet not be 'ordered'?</a:t>
            </a:r>
            <a:endParaRPr lang="en-US" sz="1350" dirty="0"/>
          </a:p>
          <a:p>
            <a:pPr indent="0" marL="0">
              <a:lnSpc>
                <a:spcPct val="105000"/>
              </a:lnSpc>
              <a:spcAft>
                <a:spcPts val="1100"/>
              </a:spcAft>
              <a:buNone/>
            </a:pPr>
            <a:r>
              <a:rPr lang="en-US" sz="1350" dirty="0">
                <a:solidFill>
                  <a:srgbClr val="16283B"/>
                </a:solidFill>
                <a:latin typeface="Calibri" pitchFamily="34" charset="0"/>
                <a:ea typeface="Calibri" pitchFamily="34" charset="-122"/>
                <a:cs typeface="Calibri" pitchFamily="34" charset="-120"/>
              </a:rPr>
              <a:t>4.  Why is 'x in set' faster than 'x in list'?</a:t>
            </a:r>
            <a:endParaRPr lang="en-US" sz="1350" dirty="0"/>
          </a:p>
          <a:p>
            <a:pPr indent="0" marL="0">
              <a:lnSpc>
                <a:spcPct val="105000"/>
              </a:lnSpc>
              <a:buNone/>
            </a:pPr>
            <a:r>
              <a:rPr lang="en-US" sz="1350" dirty="0">
                <a:solidFill>
                  <a:srgbClr val="16283B"/>
                </a:solidFill>
                <a:latin typeface="Calibri" pitchFamily="34" charset="0"/>
                <a:ea typeface="Calibri" pitchFamily="34" charset="-122"/>
                <a:cs typeface="Calibri" pitchFamily="34" charset="-120"/>
              </a:rPr>
              <a:t>5.  Can a set contain another set? Why / why not?</a:t>
            </a:r>
            <a:endParaRPr lang="en-US" sz="1350" dirty="0"/>
          </a:p>
        </p:txBody>
      </p:sp>
      <p:sp>
        <p:nvSpPr>
          <p:cNvPr id="11" name="Shape 7"/>
          <p:cNvSpPr/>
          <p:nvPr/>
        </p:nvSpPr>
        <p:spPr>
          <a:xfrm>
            <a:off x="6217920" y="1417320"/>
            <a:ext cx="5422392" cy="4434840"/>
          </a:xfrm>
          <a:prstGeom prst="roundRect">
            <a:avLst>
              <a:gd name="adj" fmla="val 1856"/>
            </a:avLst>
          </a:prstGeom>
          <a:solidFill>
            <a:srgbClr val="F4F8FC"/>
          </a:solidFill>
          <a:ln w="12700">
            <a:solidFill>
              <a:srgbClr val="D6E6F4"/>
            </a:solidFill>
            <a:prstDash val="solid"/>
          </a:ln>
          <a:effectLst>
            <a:outerShdw sx="100000" sy="100000" kx="0" ky="0" algn="bl" rotWithShape="0" blurRad="76200" dist="25400" dir="5400000">
              <a:srgbClr val="000000">
                <a:alpha val="12000"/>
              </a:srgbClr>
            </a:outerShdw>
          </a:effectLst>
        </p:spPr>
      </p:sp>
      <p:sp>
        <p:nvSpPr>
          <p:cNvPr id="12" name="Shape 8"/>
          <p:cNvSpPr/>
          <p:nvPr/>
        </p:nvSpPr>
        <p:spPr>
          <a:xfrm>
            <a:off x="6446520" y="1600200"/>
            <a:ext cx="457200" cy="457200"/>
          </a:xfrm>
          <a:prstGeom prst="roundRect">
            <a:avLst>
              <a:gd name="adj" fmla="val 20000"/>
            </a:avLst>
          </a:prstGeom>
          <a:solidFill>
            <a:srgbClr val="F2B138"/>
          </a:solidFill>
          <a:ln/>
        </p:spPr>
      </p:sp>
      <p:pic>
        <p:nvPicPr>
          <p:cNvPr id="13" name="Image 2" descr="preencoded.png">    </p:cNvPr>
          <p:cNvPicPr>
            <a:picLocks noChangeAspect="1"/>
          </p:cNvPicPr>
          <p:nvPr/>
        </p:nvPicPr>
        <p:blipFill>
          <a:blip r:embed="rId3"/>
          <a:stretch>
            <a:fillRect/>
          </a:stretch>
        </p:blipFill>
        <p:spPr>
          <a:xfrm>
            <a:off x="6556248" y="1709928"/>
            <a:ext cx="237744" cy="237744"/>
          </a:xfrm>
          <a:prstGeom prst="rect">
            <a:avLst/>
          </a:prstGeom>
        </p:spPr>
      </p:pic>
      <p:sp>
        <p:nvSpPr>
          <p:cNvPr id="14" name="Text 9"/>
          <p:cNvSpPr/>
          <p:nvPr/>
        </p:nvSpPr>
        <p:spPr>
          <a:xfrm>
            <a:off x="6995160" y="1600200"/>
            <a:ext cx="4480560" cy="457200"/>
          </a:xfrm>
          <a:prstGeom prst="rect">
            <a:avLst/>
          </a:prstGeom>
          <a:noFill/>
          <a:ln/>
        </p:spPr>
        <p:txBody>
          <a:bodyPr wrap="square"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5 Output Predictions</a:t>
            </a:r>
            <a:endParaRPr lang="en-US" sz="1600" dirty="0"/>
          </a:p>
        </p:txBody>
      </p:sp>
      <p:sp>
        <p:nvSpPr>
          <p:cNvPr id="15" name="Shape 10"/>
          <p:cNvSpPr/>
          <p:nvPr/>
        </p:nvSpPr>
        <p:spPr>
          <a:xfrm>
            <a:off x="6446520" y="2148840"/>
            <a:ext cx="4983480" cy="3566160"/>
          </a:xfrm>
          <a:prstGeom prst="roundRect">
            <a:avLst>
              <a:gd name="adj" fmla="val 1538"/>
            </a:avLst>
          </a:prstGeom>
          <a:solidFill>
            <a:srgbClr val="0E2E4A"/>
          </a:solidFill>
          <a:ln/>
          <a:effectLst>
            <a:outerShdw sx="100000" sy="100000" kx="0" ky="0" algn="bl" rotWithShape="0" blurRad="63500" dist="25400" dir="5400000">
              <a:srgbClr val="000000">
                <a:alpha val="18000"/>
              </a:srgbClr>
            </a:outerShdw>
          </a:effectLst>
        </p:spPr>
      </p:sp>
      <p:sp>
        <p:nvSpPr>
          <p:cNvPr id="16" name="Text 11"/>
          <p:cNvSpPr/>
          <p:nvPr/>
        </p:nvSpPr>
        <p:spPr>
          <a:xfrm>
            <a:off x="6629400" y="2258568"/>
            <a:ext cx="4617720" cy="3346704"/>
          </a:xfrm>
          <a:prstGeom prst="rect">
            <a:avLst/>
          </a:prstGeom>
          <a:noFill/>
          <a:ln/>
        </p:spPr>
        <p:txBody>
          <a:bodyPr wrap="square" rtlCol="0" anchor="t"/>
          <a:lstStyle/>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1)  s={1,2,3}; s.add(2); print(len(s))</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2)  print({1,2,3} - {2})</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3)  print({1,2} ^ {2,3})</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4)  print({1,2}.issubset({1,2,3}))</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9BE7C4"/>
                </a:solidFill>
                <a:latin typeface="Courier New" pitchFamily="34" charset="0"/>
                <a:ea typeface="Courier New" pitchFamily="34" charset="-122"/>
                <a:cs typeface="Courier New" pitchFamily="34" charset="-120"/>
              </a:rPr>
              <a:t>5)  print(list(set([1,1,2,3,3])))</a:t>
            </a:r>
            <a:endParaRPr lang="en-US" sz="1250" dirty="0"/>
          </a:p>
        </p:txBody>
      </p:sp>
      <p:sp>
        <p:nvSpPr>
          <p:cNvPr id="17" name="Text 12"/>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18" name="Text 13"/>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roundRect">
            <a:avLst>
              <a:gd name="adj" fmla="val 16129"/>
            </a:avLst>
          </a:prstGeom>
          <a:solidFill>
            <a:srgbClr val="1C5D99"/>
          </a:solidFill>
          <a:ln/>
          <a:effectLst>
            <a:outerShdw sx="100000" sy="100000" kx="0" ky="0" algn="bl" rotWithShape="0" blurRad="63500" dist="25400" dir="5400000">
              <a:srgbClr val="000000">
                <a:alpha val="20000"/>
              </a:srgbClr>
            </a:outerShdw>
          </a:effectLst>
        </p:spPr>
      </p:sp>
      <p:pic>
        <p:nvPicPr>
          <p:cNvPr id="3" name="Image 0" descr="preencoded.png">    </p:cNvPr>
          <p:cNvPicPr>
            <a:picLocks noChangeAspect="1"/>
          </p:cNvPicPr>
          <p:nvPr/>
        </p:nvPicPr>
        <p:blipFill>
          <a:blip r:embed="rId1"/>
          <a:stretch>
            <a:fillRect/>
          </a:stretch>
        </p:blipFill>
        <p:spPr>
          <a:xfrm>
            <a:off x="640080" y="502920"/>
            <a:ext cx="292608" cy="292608"/>
          </a:xfrm>
          <a:prstGeom prst="rect">
            <a:avLst/>
          </a:prstGeom>
        </p:spPr>
      </p:pic>
      <p:sp>
        <p:nvSpPr>
          <p:cNvPr id="4" name="Text 1"/>
          <p:cNvSpPr/>
          <p:nvPr/>
        </p:nvSpPr>
        <p:spPr>
          <a:xfrm>
            <a:off x="1234440" y="347472"/>
            <a:ext cx="9144000" cy="256032"/>
          </a:xfrm>
          <a:prstGeom prst="rect">
            <a:avLst/>
          </a:prstGeom>
          <a:noFill/>
          <a:ln/>
        </p:spPr>
        <p:txBody>
          <a:bodyPr wrap="square" rtlCol="0" anchor="ctr"/>
          <a:lstStyle/>
          <a:p>
            <a:pPr indent="0" marL="0">
              <a:buNone/>
            </a:pPr>
            <a:r>
              <a:rPr lang="en-US" sz="1150" b="1" spc="200" kern="0" dirty="0">
                <a:solidFill>
                  <a:srgbClr val="1C5D99"/>
                </a:solidFill>
                <a:latin typeface="Calibri" pitchFamily="34" charset="0"/>
                <a:ea typeface="Calibri" pitchFamily="34" charset="-122"/>
                <a:cs typeface="Calibri" pitchFamily="34" charset="-120"/>
              </a:rPr>
              <a:t>REVISION</a:t>
            </a:r>
            <a:endParaRPr lang="en-US" sz="1150" dirty="0"/>
          </a:p>
        </p:txBody>
      </p:sp>
      <p:sp>
        <p:nvSpPr>
          <p:cNvPr id="5" name="Text 2"/>
          <p:cNvSpPr/>
          <p:nvPr/>
        </p:nvSpPr>
        <p:spPr>
          <a:xfrm>
            <a:off x="1234440" y="585216"/>
            <a:ext cx="10424160" cy="457200"/>
          </a:xfrm>
          <a:prstGeom prst="rect">
            <a:avLst/>
          </a:prstGeom>
          <a:noFill/>
          <a:ln/>
        </p:spPr>
        <p:txBody>
          <a:bodyPr wrap="square" rtlCol="0" anchor="ctr"/>
          <a:lstStyle/>
          <a:p>
            <a:pPr indent="0" marL="0">
              <a:buNone/>
            </a:pPr>
            <a:r>
              <a:rPr lang="en-US" sz="2600" b="1" dirty="0">
                <a:solidFill>
                  <a:srgbClr val="0A2540"/>
                </a:solidFill>
                <a:latin typeface="Calibri" pitchFamily="34" charset="0"/>
                <a:ea typeface="Calibri" pitchFamily="34" charset="-122"/>
                <a:cs typeface="Calibri" pitchFamily="34" charset="-120"/>
              </a:rPr>
              <a:t>The Whole Lesson in One Slide</a:t>
            </a:r>
            <a:endParaRPr lang="en-US" sz="2600" dirty="0"/>
          </a:p>
        </p:txBody>
      </p:sp>
      <p:sp>
        <p:nvSpPr>
          <p:cNvPr id="6" name="Shape 3"/>
          <p:cNvSpPr/>
          <p:nvPr/>
        </p:nvSpPr>
        <p:spPr>
          <a:xfrm>
            <a:off x="548640" y="1417320"/>
            <a:ext cx="5394960" cy="1024128"/>
          </a:xfrm>
          <a:prstGeom prst="roundRect">
            <a:avLst>
              <a:gd name="adj" fmla="val 8036"/>
            </a:avLst>
          </a:prstGeom>
          <a:solidFill>
            <a:srgbClr val="E8F1F9"/>
          </a:solidFill>
          <a:ln/>
          <a:effectLst>
            <a:outerShdw sx="100000" sy="100000" kx="0" ky="0" algn="bl" rotWithShape="0" blurRad="76200" dist="25400" dir="5400000">
              <a:srgbClr val="000000">
                <a:alpha val="12000"/>
              </a:srgbClr>
            </a:outerShdw>
          </a:effectLst>
        </p:spPr>
      </p:sp>
      <p:sp>
        <p:nvSpPr>
          <p:cNvPr id="7" name="Shape 4"/>
          <p:cNvSpPr/>
          <p:nvPr/>
        </p:nvSpPr>
        <p:spPr>
          <a:xfrm>
            <a:off x="731520" y="1673352"/>
            <a:ext cx="530352" cy="530352"/>
          </a:xfrm>
          <a:prstGeom prst="roundRect">
            <a:avLst>
              <a:gd name="adj" fmla="val 17241"/>
            </a:avLst>
          </a:prstGeom>
          <a:solidFill>
            <a:srgbClr val="1C5D99"/>
          </a:solidFill>
          <a:ln/>
        </p:spPr>
      </p:sp>
      <p:pic>
        <p:nvPicPr>
          <p:cNvPr id="8" name="Image 1" descr="preencoded.png">    </p:cNvPr>
          <p:cNvPicPr>
            <a:picLocks noChangeAspect="1"/>
          </p:cNvPicPr>
          <p:nvPr/>
        </p:nvPicPr>
        <p:blipFill>
          <a:blip r:embed="rId2"/>
          <a:stretch>
            <a:fillRect/>
          </a:stretch>
        </p:blipFill>
        <p:spPr>
          <a:xfrm>
            <a:off x="859536" y="1801368"/>
            <a:ext cx="274320" cy="274320"/>
          </a:xfrm>
          <a:prstGeom prst="rect">
            <a:avLst/>
          </a:prstGeom>
        </p:spPr>
      </p:pic>
      <p:sp>
        <p:nvSpPr>
          <p:cNvPr id="9" name="Text 5"/>
          <p:cNvSpPr/>
          <p:nvPr/>
        </p:nvSpPr>
        <p:spPr>
          <a:xfrm>
            <a:off x="1417320" y="1545336"/>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Hashing</a:t>
            </a:r>
            <a:endParaRPr lang="en-US" sz="1400" dirty="0"/>
          </a:p>
        </p:txBody>
      </p:sp>
      <p:sp>
        <p:nvSpPr>
          <p:cNvPr id="10" name="Text 6"/>
          <p:cNvSpPr/>
          <p:nvPr/>
        </p:nvSpPr>
        <p:spPr>
          <a:xfrm>
            <a:off x="1417320" y="1874520"/>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Turn data into a number to jump straight to it — don't search, calculate.</a:t>
            </a:r>
            <a:endParaRPr lang="en-US" sz="1150" dirty="0"/>
          </a:p>
        </p:txBody>
      </p:sp>
      <p:sp>
        <p:nvSpPr>
          <p:cNvPr id="11" name="Shape 7"/>
          <p:cNvSpPr/>
          <p:nvPr/>
        </p:nvSpPr>
        <p:spPr>
          <a:xfrm>
            <a:off x="6153912" y="1417320"/>
            <a:ext cx="5394960" cy="1024128"/>
          </a:xfrm>
          <a:prstGeom prst="roundRect">
            <a:avLst>
              <a:gd name="adj" fmla="val 8036"/>
            </a:avLst>
          </a:prstGeom>
          <a:solidFill>
            <a:srgbClr val="F4F8FC"/>
          </a:solidFill>
          <a:ln/>
          <a:effectLst>
            <a:outerShdw sx="100000" sy="100000" kx="0" ky="0" algn="bl" rotWithShape="0" blurRad="76200" dist="25400" dir="5400000">
              <a:srgbClr val="000000">
                <a:alpha val="12000"/>
              </a:srgbClr>
            </a:outerShdw>
          </a:effectLst>
        </p:spPr>
      </p:sp>
      <p:sp>
        <p:nvSpPr>
          <p:cNvPr id="12" name="Shape 8"/>
          <p:cNvSpPr/>
          <p:nvPr/>
        </p:nvSpPr>
        <p:spPr>
          <a:xfrm>
            <a:off x="6336792" y="1673352"/>
            <a:ext cx="530352" cy="530352"/>
          </a:xfrm>
          <a:prstGeom prst="roundRect">
            <a:avLst>
              <a:gd name="adj" fmla="val 17241"/>
            </a:avLst>
          </a:prstGeom>
          <a:solidFill>
            <a:srgbClr val="1C5D99"/>
          </a:solidFill>
          <a:ln/>
        </p:spPr>
      </p:sp>
      <p:pic>
        <p:nvPicPr>
          <p:cNvPr id="13" name="Image 2" descr="preencoded.png">    </p:cNvPr>
          <p:cNvPicPr>
            <a:picLocks noChangeAspect="1"/>
          </p:cNvPicPr>
          <p:nvPr/>
        </p:nvPicPr>
        <p:blipFill>
          <a:blip r:embed="rId3"/>
          <a:stretch>
            <a:fillRect/>
          </a:stretch>
        </p:blipFill>
        <p:spPr>
          <a:xfrm>
            <a:off x="6464808" y="1801368"/>
            <a:ext cx="274320" cy="274320"/>
          </a:xfrm>
          <a:prstGeom prst="rect">
            <a:avLst/>
          </a:prstGeom>
        </p:spPr>
      </p:pic>
      <p:sp>
        <p:nvSpPr>
          <p:cNvPr id="14" name="Text 9"/>
          <p:cNvSpPr/>
          <p:nvPr/>
        </p:nvSpPr>
        <p:spPr>
          <a:xfrm>
            <a:off x="7022592" y="1545336"/>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hash()</a:t>
            </a:r>
            <a:endParaRPr lang="en-US" sz="1400" dirty="0"/>
          </a:p>
        </p:txBody>
      </p:sp>
      <p:sp>
        <p:nvSpPr>
          <p:cNvPr id="15" name="Text 10"/>
          <p:cNvSpPr/>
          <p:nvPr/>
        </p:nvSpPr>
        <p:spPr>
          <a:xfrm>
            <a:off x="7022592" y="1874520"/>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Same input → same hash (within a run). Strings randomise across runs.</a:t>
            </a:r>
            <a:endParaRPr lang="en-US" sz="1150" dirty="0"/>
          </a:p>
        </p:txBody>
      </p:sp>
      <p:sp>
        <p:nvSpPr>
          <p:cNvPr id="16" name="Shape 11"/>
          <p:cNvSpPr/>
          <p:nvPr/>
        </p:nvSpPr>
        <p:spPr>
          <a:xfrm>
            <a:off x="548640" y="2587752"/>
            <a:ext cx="5394960" cy="1024128"/>
          </a:xfrm>
          <a:prstGeom prst="roundRect">
            <a:avLst>
              <a:gd name="adj" fmla="val 8036"/>
            </a:avLst>
          </a:prstGeom>
          <a:solidFill>
            <a:srgbClr val="E8F1F9"/>
          </a:solidFill>
          <a:ln/>
          <a:effectLst>
            <a:outerShdw sx="100000" sy="100000" kx="0" ky="0" algn="bl" rotWithShape="0" blurRad="76200" dist="25400" dir="5400000">
              <a:srgbClr val="000000">
                <a:alpha val="12000"/>
              </a:srgbClr>
            </a:outerShdw>
          </a:effectLst>
        </p:spPr>
      </p:sp>
      <p:sp>
        <p:nvSpPr>
          <p:cNvPr id="17" name="Shape 12"/>
          <p:cNvSpPr/>
          <p:nvPr/>
        </p:nvSpPr>
        <p:spPr>
          <a:xfrm>
            <a:off x="731520" y="2843784"/>
            <a:ext cx="530352" cy="530352"/>
          </a:xfrm>
          <a:prstGeom prst="roundRect">
            <a:avLst>
              <a:gd name="adj" fmla="val 17241"/>
            </a:avLst>
          </a:prstGeom>
          <a:solidFill>
            <a:srgbClr val="1C5D99"/>
          </a:solidFill>
          <a:ln/>
        </p:spPr>
      </p:sp>
      <p:pic>
        <p:nvPicPr>
          <p:cNvPr id="18" name="Image 3" descr="preencoded.png">    </p:cNvPr>
          <p:cNvPicPr>
            <a:picLocks noChangeAspect="1"/>
          </p:cNvPicPr>
          <p:nvPr/>
        </p:nvPicPr>
        <p:blipFill>
          <a:blip r:embed="rId4"/>
          <a:stretch>
            <a:fillRect/>
          </a:stretch>
        </p:blipFill>
        <p:spPr>
          <a:xfrm>
            <a:off x="859536" y="2971800"/>
            <a:ext cx="274320" cy="274320"/>
          </a:xfrm>
          <a:prstGeom prst="rect">
            <a:avLst/>
          </a:prstGeom>
        </p:spPr>
      </p:pic>
      <p:sp>
        <p:nvSpPr>
          <p:cNvPr id="19" name="Text 13"/>
          <p:cNvSpPr/>
          <p:nvPr/>
        </p:nvSpPr>
        <p:spPr>
          <a:xfrm>
            <a:off x="1417320" y="2715768"/>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Hashable</a:t>
            </a:r>
            <a:endParaRPr lang="en-US" sz="1400" dirty="0"/>
          </a:p>
        </p:txBody>
      </p:sp>
      <p:sp>
        <p:nvSpPr>
          <p:cNvPr id="20" name="Text 14"/>
          <p:cNvSpPr/>
          <p:nvPr/>
        </p:nvSpPr>
        <p:spPr>
          <a:xfrm>
            <a:off x="1417320" y="3044952"/>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Immutable = hashable (int, str, tuple, frozenset). Mutable = not.</a:t>
            </a:r>
            <a:endParaRPr lang="en-US" sz="1150" dirty="0"/>
          </a:p>
        </p:txBody>
      </p:sp>
      <p:sp>
        <p:nvSpPr>
          <p:cNvPr id="21" name="Shape 15"/>
          <p:cNvSpPr/>
          <p:nvPr/>
        </p:nvSpPr>
        <p:spPr>
          <a:xfrm>
            <a:off x="6153912" y="2587752"/>
            <a:ext cx="5394960" cy="1024128"/>
          </a:xfrm>
          <a:prstGeom prst="roundRect">
            <a:avLst>
              <a:gd name="adj" fmla="val 8036"/>
            </a:avLst>
          </a:prstGeom>
          <a:solidFill>
            <a:srgbClr val="F4F8FC"/>
          </a:solidFill>
          <a:ln/>
          <a:effectLst>
            <a:outerShdw sx="100000" sy="100000" kx="0" ky="0" algn="bl" rotWithShape="0" blurRad="76200" dist="25400" dir="5400000">
              <a:srgbClr val="000000">
                <a:alpha val="12000"/>
              </a:srgbClr>
            </a:outerShdw>
          </a:effectLst>
        </p:spPr>
      </p:sp>
      <p:sp>
        <p:nvSpPr>
          <p:cNvPr id="22" name="Shape 16"/>
          <p:cNvSpPr/>
          <p:nvPr/>
        </p:nvSpPr>
        <p:spPr>
          <a:xfrm>
            <a:off x="6336792" y="2843784"/>
            <a:ext cx="530352" cy="530352"/>
          </a:xfrm>
          <a:prstGeom prst="roundRect">
            <a:avLst>
              <a:gd name="adj" fmla="val 17241"/>
            </a:avLst>
          </a:prstGeom>
          <a:solidFill>
            <a:srgbClr val="1C5D99"/>
          </a:solidFill>
          <a:ln/>
        </p:spPr>
      </p:sp>
      <p:pic>
        <p:nvPicPr>
          <p:cNvPr id="23" name="Image 4" descr="preencoded.png">    </p:cNvPr>
          <p:cNvPicPr>
            <a:picLocks noChangeAspect="1"/>
          </p:cNvPicPr>
          <p:nvPr/>
        </p:nvPicPr>
        <p:blipFill>
          <a:blip r:embed="rId5"/>
          <a:stretch>
            <a:fillRect/>
          </a:stretch>
        </p:blipFill>
        <p:spPr>
          <a:xfrm>
            <a:off x="6464808" y="2971800"/>
            <a:ext cx="274320" cy="274320"/>
          </a:xfrm>
          <a:prstGeom prst="rect">
            <a:avLst/>
          </a:prstGeom>
        </p:spPr>
      </p:pic>
      <p:sp>
        <p:nvSpPr>
          <p:cNvPr id="24" name="Text 17"/>
          <p:cNvSpPr/>
          <p:nvPr/>
        </p:nvSpPr>
        <p:spPr>
          <a:xfrm>
            <a:off x="7022592" y="2715768"/>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Hash Table</a:t>
            </a:r>
            <a:endParaRPr lang="en-US" sz="1400" dirty="0"/>
          </a:p>
        </p:txBody>
      </p:sp>
      <p:sp>
        <p:nvSpPr>
          <p:cNvPr id="25" name="Text 18"/>
          <p:cNvSpPr/>
          <p:nvPr/>
        </p:nvSpPr>
        <p:spPr>
          <a:xfrm>
            <a:off x="7022592" y="3044952"/>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An array of buckets; the hash picks the bucket. Lookup is O(1).</a:t>
            </a:r>
            <a:endParaRPr lang="en-US" sz="1150" dirty="0"/>
          </a:p>
        </p:txBody>
      </p:sp>
      <p:sp>
        <p:nvSpPr>
          <p:cNvPr id="26" name="Shape 19"/>
          <p:cNvSpPr/>
          <p:nvPr/>
        </p:nvSpPr>
        <p:spPr>
          <a:xfrm>
            <a:off x="548640" y="3758184"/>
            <a:ext cx="5394960" cy="1024128"/>
          </a:xfrm>
          <a:prstGeom prst="roundRect">
            <a:avLst>
              <a:gd name="adj" fmla="val 8036"/>
            </a:avLst>
          </a:prstGeom>
          <a:solidFill>
            <a:srgbClr val="E8F1F9"/>
          </a:solidFill>
          <a:ln/>
          <a:effectLst>
            <a:outerShdw sx="100000" sy="100000" kx="0" ky="0" algn="bl" rotWithShape="0" blurRad="76200" dist="25400" dir="5400000">
              <a:srgbClr val="000000">
                <a:alpha val="12000"/>
              </a:srgbClr>
            </a:outerShdw>
          </a:effectLst>
        </p:spPr>
      </p:sp>
      <p:sp>
        <p:nvSpPr>
          <p:cNvPr id="27" name="Shape 20"/>
          <p:cNvSpPr/>
          <p:nvPr/>
        </p:nvSpPr>
        <p:spPr>
          <a:xfrm>
            <a:off x="731520" y="4014216"/>
            <a:ext cx="530352" cy="530352"/>
          </a:xfrm>
          <a:prstGeom prst="roundRect">
            <a:avLst>
              <a:gd name="adj" fmla="val 17241"/>
            </a:avLst>
          </a:prstGeom>
          <a:solidFill>
            <a:srgbClr val="1C5D99"/>
          </a:solidFill>
          <a:ln/>
        </p:spPr>
      </p:sp>
      <p:pic>
        <p:nvPicPr>
          <p:cNvPr id="28" name="Image 5" descr="preencoded.png">    </p:cNvPr>
          <p:cNvPicPr>
            <a:picLocks noChangeAspect="1"/>
          </p:cNvPicPr>
          <p:nvPr/>
        </p:nvPicPr>
        <p:blipFill>
          <a:blip r:embed="rId6"/>
          <a:stretch>
            <a:fillRect/>
          </a:stretch>
        </p:blipFill>
        <p:spPr>
          <a:xfrm>
            <a:off x="859536" y="4142232"/>
            <a:ext cx="274320" cy="274320"/>
          </a:xfrm>
          <a:prstGeom prst="rect">
            <a:avLst/>
          </a:prstGeom>
        </p:spPr>
      </p:pic>
      <p:sp>
        <p:nvSpPr>
          <p:cNvPr id="29" name="Text 21"/>
          <p:cNvSpPr/>
          <p:nvPr/>
        </p:nvSpPr>
        <p:spPr>
          <a:xfrm>
            <a:off x="1417320" y="3886200"/>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Collisions</a:t>
            </a:r>
            <a:endParaRPr lang="en-US" sz="1400" dirty="0"/>
          </a:p>
        </p:txBody>
      </p:sp>
      <p:sp>
        <p:nvSpPr>
          <p:cNvPr id="30" name="Text 22"/>
          <p:cNvSpPr/>
          <p:nvPr/>
        </p:nvSpPr>
        <p:spPr>
          <a:xfrm>
            <a:off x="1417320" y="4215384"/>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Two keys, one bucket — Python compares actual keys to resolve.</a:t>
            </a:r>
            <a:endParaRPr lang="en-US" sz="1150" dirty="0"/>
          </a:p>
        </p:txBody>
      </p:sp>
      <p:sp>
        <p:nvSpPr>
          <p:cNvPr id="31" name="Shape 23"/>
          <p:cNvSpPr/>
          <p:nvPr/>
        </p:nvSpPr>
        <p:spPr>
          <a:xfrm>
            <a:off x="6153912" y="3758184"/>
            <a:ext cx="5394960" cy="1024128"/>
          </a:xfrm>
          <a:prstGeom prst="roundRect">
            <a:avLst>
              <a:gd name="adj" fmla="val 8036"/>
            </a:avLst>
          </a:prstGeom>
          <a:solidFill>
            <a:srgbClr val="F4F8FC"/>
          </a:solidFill>
          <a:ln/>
          <a:effectLst>
            <a:outerShdw sx="100000" sy="100000" kx="0" ky="0" algn="bl" rotWithShape="0" blurRad="76200" dist="25400" dir="5400000">
              <a:srgbClr val="000000">
                <a:alpha val="12000"/>
              </a:srgbClr>
            </a:outerShdw>
          </a:effectLst>
        </p:spPr>
      </p:sp>
      <p:sp>
        <p:nvSpPr>
          <p:cNvPr id="32" name="Shape 24"/>
          <p:cNvSpPr/>
          <p:nvPr/>
        </p:nvSpPr>
        <p:spPr>
          <a:xfrm>
            <a:off x="6336792" y="4014216"/>
            <a:ext cx="530352" cy="530352"/>
          </a:xfrm>
          <a:prstGeom prst="roundRect">
            <a:avLst>
              <a:gd name="adj" fmla="val 17241"/>
            </a:avLst>
          </a:prstGeom>
          <a:solidFill>
            <a:srgbClr val="1C5D99"/>
          </a:solidFill>
          <a:ln/>
        </p:spPr>
      </p:sp>
      <p:pic>
        <p:nvPicPr>
          <p:cNvPr id="33" name="Image 6" descr="preencoded.png">    </p:cNvPr>
          <p:cNvPicPr>
            <a:picLocks noChangeAspect="1"/>
          </p:cNvPicPr>
          <p:nvPr/>
        </p:nvPicPr>
        <p:blipFill>
          <a:blip r:embed="rId7"/>
          <a:stretch>
            <a:fillRect/>
          </a:stretch>
        </p:blipFill>
        <p:spPr>
          <a:xfrm>
            <a:off x="6464808" y="4142232"/>
            <a:ext cx="274320" cy="274320"/>
          </a:xfrm>
          <a:prstGeom prst="rect">
            <a:avLst/>
          </a:prstGeom>
        </p:spPr>
      </p:pic>
      <p:sp>
        <p:nvSpPr>
          <p:cNvPr id="34" name="Text 25"/>
          <p:cNvSpPr/>
          <p:nvPr/>
        </p:nvSpPr>
        <p:spPr>
          <a:xfrm>
            <a:off x="7022592" y="3886200"/>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Sets</a:t>
            </a:r>
            <a:endParaRPr lang="en-US" sz="1400" dirty="0"/>
          </a:p>
        </p:txBody>
      </p:sp>
      <p:sp>
        <p:nvSpPr>
          <p:cNvPr id="35" name="Text 26"/>
          <p:cNvSpPr/>
          <p:nvPr/>
        </p:nvSpPr>
        <p:spPr>
          <a:xfrm>
            <a:off x="7022592" y="4215384"/>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Unique, unordered, hashing-based, with O(1) membership testing.</a:t>
            </a:r>
            <a:endParaRPr lang="en-US" sz="1150" dirty="0"/>
          </a:p>
        </p:txBody>
      </p:sp>
      <p:sp>
        <p:nvSpPr>
          <p:cNvPr id="36" name="Shape 27"/>
          <p:cNvSpPr/>
          <p:nvPr/>
        </p:nvSpPr>
        <p:spPr>
          <a:xfrm>
            <a:off x="548640" y="4928616"/>
            <a:ext cx="5394960" cy="1024128"/>
          </a:xfrm>
          <a:prstGeom prst="roundRect">
            <a:avLst>
              <a:gd name="adj" fmla="val 8036"/>
            </a:avLst>
          </a:prstGeom>
          <a:solidFill>
            <a:srgbClr val="E8F1F9"/>
          </a:solidFill>
          <a:ln/>
          <a:effectLst>
            <a:outerShdw sx="100000" sy="100000" kx="0" ky="0" algn="bl" rotWithShape="0" blurRad="76200" dist="25400" dir="5400000">
              <a:srgbClr val="000000">
                <a:alpha val="12000"/>
              </a:srgbClr>
            </a:outerShdw>
          </a:effectLst>
        </p:spPr>
      </p:sp>
      <p:sp>
        <p:nvSpPr>
          <p:cNvPr id="37" name="Shape 28"/>
          <p:cNvSpPr/>
          <p:nvPr/>
        </p:nvSpPr>
        <p:spPr>
          <a:xfrm>
            <a:off x="731520" y="5184648"/>
            <a:ext cx="530352" cy="530352"/>
          </a:xfrm>
          <a:prstGeom prst="roundRect">
            <a:avLst>
              <a:gd name="adj" fmla="val 17241"/>
            </a:avLst>
          </a:prstGeom>
          <a:solidFill>
            <a:srgbClr val="1C5D99"/>
          </a:solidFill>
          <a:ln/>
        </p:spPr>
      </p:sp>
      <p:pic>
        <p:nvPicPr>
          <p:cNvPr id="38" name="Image 7" descr="preencoded.png">    </p:cNvPr>
          <p:cNvPicPr>
            <a:picLocks noChangeAspect="1"/>
          </p:cNvPicPr>
          <p:nvPr/>
        </p:nvPicPr>
        <p:blipFill>
          <a:blip r:embed="rId8"/>
          <a:stretch>
            <a:fillRect/>
          </a:stretch>
        </p:blipFill>
        <p:spPr>
          <a:xfrm>
            <a:off x="859536" y="5312664"/>
            <a:ext cx="274320" cy="274320"/>
          </a:xfrm>
          <a:prstGeom prst="rect">
            <a:avLst/>
          </a:prstGeom>
        </p:spPr>
      </p:pic>
      <p:sp>
        <p:nvSpPr>
          <p:cNvPr id="39" name="Text 29"/>
          <p:cNvSpPr/>
          <p:nvPr/>
        </p:nvSpPr>
        <p:spPr>
          <a:xfrm>
            <a:off x="1417320" y="5056632"/>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Operations</a:t>
            </a:r>
            <a:endParaRPr lang="en-US" sz="1400" dirty="0"/>
          </a:p>
        </p:txBody>
      </p:sp>
      <p:sp>
        <p:nvSpPr>
          <p:cNvPr id="40" name="Text 30"/>
          <p:cNvSpPr/>
          <p:nvPr/>
        </p:nvSpPr>
        <p:spPr>
          <a:xfrm>
            <a:off x="1417320" y="5385816"/>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 union, &amp; intersection, - difference, ^ symmetric difference.</a:t>
            </a:r>
            <a:endParaRPr lang="en-US" sz="1150" dirty="0"/>
          </a:p>
        </p:txBody>
      </p:sp>
      <p:sp>
        <p:nvSpPr>
          <p:cNvPr id="41" name="Shape 31"/>
          <p:cNvSpPr/>
          <p:nvPr/>
        </p:nvSpPr>
        <p:spPr>
          <a:xfrm>
            <a:off x="6153912" y="4928616"/>
            <a:ext cx="5394960" cy="1024128"/>
          </a:xfrm>
          <a:prstGeom prst="roundRect">
            <a:avLst>
              <a:gd name="adj" fmla="val 8036"/>
            </a:avLst>
          </a:prstGeom>
          <a:solidFill>
            <a:srgbClr val="F4F8FC"/>
          </a:solidFill>
          <a:ln/>
          <a:effectLst>
            <a:outerShdw sx="100000" sy="100000" kx="0" ky="0" algn="bl" rotWithShape="0" blurRad="76200" dist="25400" dir="5400000">
              <a:srgbClr val="000000">
                <a:alpha val="12000"/>
              </a:srgbClr>
            </a:outerShdw>
          </a:effectLst>
        </p:spPr>
      </p:sp>
      <p:sp>
        <p:nvSpPr>
          <p:cNvPr id="42" name="Shape 32"/>
          <p:cNvSpPr/>
          <p:nvPr/>
        </p:nvSpPr>
        <p:spPr>
          <a:xfrm>
            <a:off x="6336792" y="5184648"/>
            <a:ext cx="530352" cy="530352"/>
          </a:xfrm>
          <a:prstGeom prst="roundRect">
            <a:avLst>
              <a:gd name="adj" fmla="val 17241"/>
            </a:avLst>
          </a:prstGeom>
          <a:solidFill>
            <a:srgbClr val="1C5D99"/>
          </a:solidFill>
          <a:ln/>
        </p:spPr>
      </p:sp>
      <p:pic>
        <p:nvPicPr>
          <p:cNvPr id="43" name="Image 8" descr="preencoded.png">    </p:cNvPr>
          <p:cNvPicPr>
            <a:picLocks noChangeAspect="1"/>
          </p:cNvPicPr>
          <p:nvPr/>
        </p:nvPicPr>
        <p:blipFill>
          <a:blip r:embed="rId9"/>
          <a:stretch>
            <a:fillRect/>
          </a:stretch>
        </p:blipFill>
        <p:spPr>
          <a:xfrm>
            <a:off x="6464808" y="5312664"/>
            <a:ext cx="274320" cy="274320"/>
          </a:xfrm>
          <a:prstGeom prst="rect">
            <a:avLst/>
          </a:prstGeom>
        </p:spPr>
      </p:pic>
      <p:sp>
        <p:nvSpPr>
          <p:cNvPr id="44" name="Text 33"/>
          <p:cNvSpPr/>
          <p:nvPr/>
        </p:nvSpPr>
        <p:spPr>
          <a:xfrm>
            <a:off x="7022592" y="5056632"/>
            <a:ext cx="4389120" cy="329184"/>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Performance</a:t>
            </a:r>
            <a:endParaRPr lang="en-US" sz="1400" dirty="0"/>
          </a:p>
        </p:txBody>
      </p:sp>
      <p:sp>
        <p:nvSpPr>
          <p:cNvPr id="45" name="Text 34"/>
          <p:cNvSpPr/>
          <p:nvPr/>
        </p:nvSpPr>
        <p:spPr>
          <a:xfrm>
            <a:off x="7022592" y="5385816"/>
            <a:ext cx="4389120" cy="512064"/>
          </a:xfrm>
          <a:prstGeom prst="rect">
            <a:avLst/>
          </a:prstGeom>
          <a:noFill/>
          <a:ln/>
        </p:spPr>
        <p:txBody>
          <a:bodyPr wrap="square" rtlCol="0" anchor="t"/>
          <a:lstStyle/>
          <a:p>
            <a:pPr indent="0" marL="0">
              <a:buNone/>
            </a:pPr>
            <a:r>
              <a:rPr lang="en-US" sz="1150" dirty="0">
                <a:solidFill>
                  <a:srgbClr val="5C7488"/>
                </a:solidFill>
                <a:latin typeface="Calibri" pitchFamily="34" charset="0"/>
                <a:ea typeface="Calibri" pitchFamily="34" charset="-122"/>
                <a:cs typeface="Calibri" pitchFamily="34" charset="-120"/>
              </a:rPr>
              <a:t>Sets/dicts beat lists for membership &amp; removal; lists keep order.</a:t>
            </a:r>
            <a:endParaRPr lang="en-US" sz="1150" dirty="0"/>
          </a:p>
        </p:txBody>
      </p:sp>
      <p:sp>
        <p:nvSpPr>
          <p:cNvPr id="46" name="Text 35"/>
          <p:cNvSpPr/>
          <p:nvPr/>
        </p:nvSpPr>
        <p:spPr>
          <a:xfrm>
            <a:off x="502920" y="6473952"/>
            <a:ext cx="4572000" cy="274320"/>
          </a:xfrm>
          <a:prstGeom prst="rect">
            <a:avLst/>
          </a:prstGeom>
          <a:noFill/>
          <a:ln/>
        </p:spPr>
        <p:txBody>
          <a:bodyPr wrap="square" rtlCol="0" anchor="ctr"/>
          <a:lstStyle/>
          <a:p>
            <a:pPr algn="l" indent="0" marL="0">
              <a:buNone/>
            </a:pPr>
            <a:r>
              <a:rPr lang="en-US" sz="900" dirty="0">
                <a:solidFill>
                  <a:srgbClr val="9FB3C4"/>
                </a:solidFill>
                <a:latin typeface="Calibri" pitchFamily="34" charset="0"/>
                <a:ea typeface="Calibri" pitchFamily="34" charset="-122"/>
                <a:cs typeface="Calibri" pitchFamily="34" charset="-120"/>
              </a:rPr>
              <a:t>Python Hashing &amp; Sets</a:t>
            </a:r>
            <a:endParaRPr lang="en-US" sz="900" dirty="0"/>
          </a:p>
        </p:txBody>
      </p:sp>
      <p:sp>
        <p:nvSpPr>
          <p:cNvPr id="47" name="Text 36"/>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640080" y="548640"/>
            <a:ext cx="1097280" cy="1097280"/>
          </a:xfrm>
          <a:prstGeom prst="rect">
            <a:avLst/>
          </a:prstGeom>
          <a:noFill/>
          <a:ln/>
        </p:spPr>
        <p:txBody>
          <a:bodyPr wrap="square" rtlCol="0" anchor="ctr"/>
          <a:lstStyle/>
          <a:p>
            <a:pPr algn="ctr" indent="0" marL="0">
              <a:buNone/>
            </a:pPr>
            <a:r>
              <a:rPr lang="en-US" sz="5800" b="1" dirty="0">
                <a:solidFill>
                  <a:srgbClr val="13395C"/>
                </a:solidFill>
                <a:latin typeface="Calibri" pitchFamily="34" charset="0"/>
                <a:ea typeface="Calibri" pitchFamily="34" charset="-122"/>
                <a:cs typeface="Calibri" pitchFamily="34" charset="-120"/>
              </a:rPr>
              <a:t>#</a:t>
            </a:r>
            <a:endParaRPr lang="en-US" sz="5800" dirty="0"/>
          </a:p>
        </p:txBody>
      </p:sp>
      <p:sp>
        <p:nvSpPr>
          <p:cNvPr id="3" name="Text 1"/>
          <p:cNvSpPr/>
          <p:nvPr/>
        </p:nvSpPr>
        <p:spPr>
          <a:xfrm>
            <a:off x="10698480" y="731520"/>
            <a:ext cx="1097280" cy="1097280"/>
          </a:xfrm>
          <a:prstGeom prst="rect">
            <a:avLst/>
          </a:prstGeom>
          <a:noFill/>
          <a:ln/>
        </p:spPr>
        <p:txBody>
          <a:bodyPr wrap="square" rtlCol="0" anchor="ctr"/>
          <a:lstStyle/>
          <a:p>
            <a:pPr algn="ctr" indent="0" marL="0">
              <a:buNone/>
            </a:pPr>
            <a:r>
              <a:rPr lang="en-US" sz="5800" b="1" dirty="0">
                <a:solidFill>
                  <a:srgbClr val="13395C"/>
                </a:solidFill>
                <a:latin typeface="Calibri" pitchFamily="34" charset="0"/>
                <a:ea typeface="Calibri" pitchFamily="34" charset="-122"/>
                <a:cs typeface="Calibri" pitchFamily="34" charset="-120"/>
              </a:rPr>
              <a:t>#</a:t>
            </a:r>
            <a:endParaRPr lang="en-US" sz="5800" dirty="0"/>
          </a:p>
        </p:txBody>
      </p:sp>
      <p:sp>
        <p:nvSpPr>
          <p:cNvPr id="4" name="Text 2"/>
          <p:cNvSpPr/>
          <p:nvPr/>
        </p:nvSpPr>
        <p:spPr>
          <a:xfrm>
            <a:off x="11155680" y="5303520"/>
            <a:ext cx="1097280" cy="1097280"/>
          </a:xfrm>
          <a:prstGeom prst="rect">
            <a:avLst/>
          </a:prstGeom>
          <a:noFill/>
          <a:ln/>
        </p:spPr>
        <p:txBody>
          <a:bodyPr wrap="square" rtlCol="0" anchor="ctr"/>
          <a:lstStyle/>
          <a:p>
            <a:pPr algn="ctr" indent="0" marL="0">
              <a:buNone/>
            </a:pPr>
            <a:r>
              <a:rPr lang="en-US" sz="5800" b="1" dirty="0">
                <a:solidFill>
                  <a:srgbClr val="13395C"/>
                </a:solidFill>
                <a:latin typeface="Calibri" pitchFamily="34" charset="0"/>
                <a:ea typeface="Calibri" pitchFamily="34" charset="-122"/>
                <a:cs typeface="Calibri" pitchFamily="34" charset="-120"/>
              </a:rPr>
              <a:t>#</a:t>
            </a:r>
            <a:endParaRPr lang="en-US" sz="5800" dirty="0"/>
          </a:p>
        </p:txBody>
      </p:sp>
      <p:sp>
        <p:nvSpPr>
          <p:cNvPr id="5" name="Text 3"/>
          <p:cNvSpPr/>
          <p:nvPr/>
        </p:nvSpPr>
        <p:spPr>
          <a:xfrm>
            <a:off x="914400" y="5394960"/>
            <a:ext cx="1097280" cy="1097280"/>
          </a:xfrm>
          <a:prstGeom prst="rect">
            <a:avLst/>
          </a:prstGeom>
          <a:noFill/>
          <a:ln/>
        </p:spPr>
        <p:txBody>
          <a:bodyPr wrap="square" rtlCol="0" anchor="ctr"/>
          <a:lstStyle/>
          <a:p>
            <a:pPr algn="ctr" indent="0" marL="0">
              <a:buNone/>
            </a:pPr>
            <a:r>
              <a:rPr lang="en-US" sz="5800" b="1" dirty="0">
                <a:solidFill>
                  <a:srgbClr val="13395C"/>
                </a:solidFill>
                <a:latin typeface="Calibri" pitchFamily="34" charset="0"/>
                <a:ea typeface="Calibri" pitchFamily="34" charset="-122"/>
                <a:cs typeface="Calibri" pitchFamily="34" charset="-120"/>
              </a:rPr>
              <a:t>#</a:t>
            </a:r>
            <a:endParaRPr lang="en-US" sz="5800" dirty="0"/>
          </a:p>
        </p:txBody>
      </p:sp>
      <p:sp>
        <p:nvSpPr>
          <p:cNvPr id="6" name="Text 4"/>
          <p:cNvSpPr/>
          <p:nvPr/>
        </p:nvSpPr>
        <p:spPr>
          <a:xfrm>
            <a:off x="5669280" y="182880"/>
            <a:ext cx="1097280" cy="1097280"/>
          </a:xfrm>
          <a:prstGeom prst="rect">
            <a:avLst/>
          </a:prstGeom>
          <a:noFill/>
          <a:ln/>
        </p:spPr>
        <p:txBody>
          <a:bodyPr wrap="square" rtlCol="0" anchor="ctr"/>
          <a:lstStyle/>
          <a:p>
            <a:pPr algn="ctr" indent="0" marL="0">
              <a:buNone/>
            </a:pPr>
            <a:r>
              <a:rPr lang="en-US" sz="5800" b="1" dirty="0">
                <a:solidFill>
                  <a:srgbClr val="13395C"/>
                </a:solidFill>
                <a:latin typeface="Calibri" pitchFamily="34" charset="0"/>
                <a:ea typeface="Calibri" pitchFamily="34" charset="-122"/>
                <a:cs typeface="Calibri" pitchFamily="34" charset="-120"/>
              </a:rPr>
              <a:t>#</a:t>
            </a:r>
            <a:endParaRPr lang="en-US" sz="5800" dirty="0"/>
          </a:p>
        </p:txBody>
      </p:sp>
      <p:sp>
        <p:nvSpPr>
          <p:cNvPr id="7" name="Shape 5"/>
          <p:cNvSpPr/>
          <p:nvPr/>
        </p:nvSpPr>
        <p:spPr>
          <a:xfrm>
            <a:off x="5367528" y="1691640"/>
            <a:ext cx="1463040" cy="1463040"/>
          </a:xfrm>
          <a:prstGeom prst="roundRect">
            <a:avLst>
              <a:gd name="adj" fmla="val 11250"/>
            </a:avLst>
          </a:prstGeom>
          <a:solidFill>
            <a:srgbClr val="1C5D99"/>
          </a:solidFill>
          <a:ln/>
          <a:effectLst>
            <a:outerShdw sx="100000" sy="100000" kx="0" ky="0" algn="bl" rotWithShape="0" blurRad="152400" dist="63500" dir="5400000">
              <a:srgbClr val="000000">
                <a:alpha val="35000"/>
              </a:srgbClr>
            </a:outerShdw>
          </a:effectLst>
        </p:spPr>
      </p:sp>
      <p:pic>
        <p:nvPicPr>
          <p:cNvPr id="8" name="Image 0" descr="preencoded.png">    </p:cNvPr>
          <p:cNvPicPr>
            <a:picLocks noChangeAspect="1"/>
          </p:cNvPicPr>
          <p:nvPr/>
        </p:nvPicPr>
        <p:blipFill>
          <a:blip r:embed="rId1"/>
          <a:stretch>
            <a:fillRect/>
          </a:stretch>
        </p:blipFill>
        <p:spPr>
          <a:xfrm>
            <a:off x="5779008" y="2103120"/>
            <a:ext cx="640080" cy="640080"/>
          </a:xfrm>
          <a:prstGeom prst="rect">
            <a:avLst/>
          </a:prstGeom>
        </p:spPr>
      </p:pic>
      <p:sp>
        <p:nvSpPr>
          <p:cNvPr id="9" name="Text 6"/>
          <p:cNvSpPr/>
          <p:nvPr/>
        </p:nvSpPr>
        <p:spPr>
          <a:xfrm>
            <a:off x="914400" y="3337560"/>
            <a:ext cx="10360152" cy="82296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You Now Understand Hashing &amp; Sets</a:t>
            </a:r>
            <a:endParaRPr lang="en-US" sz="3800" dirty="0"/>
          </a:p>
        </p:txBody>
      </p:sp>
      <p:sp>
        <p:nvSpPr>
          <p:cNvPr id="10" name="Text 7"/>
          <p:cNvSpPr/>
          <p:nvPr/>
        </p:nvSpPr>
        <p:spPr>
          <a:xfrm>
            <a:off x="1371600" y="4251960"/>
            <a:ext cx="9445752" cy="640080"/>
          </a:xfrm>
          <a:prstGeom prst="rect">
            <a:avLst/>
          </a:prstGeom>
          <a:noFill/>
          <a:ln/>
        </p:spPr>
        <p:txBody>
          <a:bodyPr wrap="square" rtlCol="0" anchor="ctr"/>
          <a:lstStyle/>
          <a:p>
            <a:pPr algn="ctr" indent="0" marL="0">
              <a:lnSpc>
                <a:spcPct val="110000"/>
              </a:lnSpc>
              <a:buNone/>
            </a:pPr>
            <a:r>
              <a:rPr lang="en-US" sz="1600" dirty="0">
                <a:solidFill>
                  <a:srgbClr val="AFC8E0"/>
                </a:solidFill>
                <a:latin typeface="Calibri" pitchFamily="34" charset="0"/>
                <a:ea typeface="Calibri" pitchFamily="34" charset="-122"/>
                <a:cs typeface="Calibri" pitchFamily="34" charset="-120"/>
              </a:rPr>
              <a:t>From "why searching is slow" to buckets, collisions, and every set operation — all built on one idea.</a:t>
            </a:r>
            <a:endParaRPr lang="en-US" sz="1600" dirty="0"/>
          </a:p>
        </p:txBody>
      </p:sp>
      <p:sp>
        <p:nvSpPr>
          <p:cNvPr id="11" name="Text 8"/>
          <p:cNvSpPr/>
          <p:nvPr/>
        </p:nvSpPr>
        <p:spPr>
          <a:xfrm>
            <a:off x="4023360" y="5212080"/>
            <a:ext cx="4142232" cy="502920"/>
          </a:xfrm>
          <a:prstGeom prst="rect">
            <a:avLst/>
          </a:prstGeom>
          <a:solidFill>
            <a:srgbClr val="13395C"/>
          </a:solidFill>
          <a:ln/>
        </p:spPr>
        <p:txBody>
          <a:bodyPr wrap="square" lIns="25400" tIns="25400" rIns="25400" bIns="25400" rtlCol="0" anchor="ctr"/>
          <a:lstStyle/>
          <a:p>
            <a:pPr algn="ctr" indent="0" marL="0">
              <a:buNone/>
            </a:pPr>
            <a:r>
              <a:rPr lang="en-US" sz="1300" b="1" dirty="0">
                <a:solidFill>
                  <a:srgbClr val="9FC2E0"/>
                </a:solidFill>
                <a:latin typeface="Calibri" pitchFamily="34" charset="0"/>
                <a:ea typeface="Calibri" pitchFamily="34" charset="-122"/>
                <a:cs typeface="Calibri" pitchFamily="34" charset="-120"/>
              </a:rPr>
              <a:t>PRACTICE  •  BUILD  •  REVISE</a:t>
            </a:r>
            <a:endParaRPr lang="en-US" sz="1300" dirty="0"/>
          </a:p>
        </p:txBody>
      </p:sp>
      <p:sp>
        <p:nvSpPr>
          <p:cNvPr id="12" name="Text 9"/>
          <p:cNvSpPr/>
          <p:nvPr/>
        </p:nvSpPr>
        <p:spPr>
          <a:xfrm>
            <a:off x="914400" y="5943600"/>
            <a:ext cx="10360152" cy="365760"/>
          </a:xfrm>
          <a:prstGeom prst="rect">
            <a:avLst/>
          </a:prstGeom>
          <a:noFill/>
          <a:ln/>
        </p:spPr>
        <p:txBody>
          <a:bodyPr wrap="square" rtlCol="0" anchor="ctr"/>
          <a:lstStyle/>
          <a:p>
            <a:pPr algn="ctr" indent="0" marL="0">
              <a:buNone/>
            </a:pPr>
            <a:r>
              <a:rPr lang="en-US" sz="1300" i="1" dirty="0">
                <a:solidFill>
                  <a:srgbClr val="6E90B4"/>
                </a:solidFill>
                <a:latin typeface="Calibri" pitchFamily="34" charset="0"/>
                <a:ea typeface="Calibri" pitchFamily="34" charset="-122"/>
                <a:cs typeface="Calibri" pitchFamily="34" charset="-120"/>
              </a:rPr>
              <a:t>Questions?  Let's open the Python shell and experiment together.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Hashing &amp; Sets</dc:title>
  <dc:subject>PptxGenJS Presentation</dc:subject>
  <dc:creator>CS Instructor</dc:creator>
  <cp:lastModifiedBy>CS Instructor</cp:lastModifiedBy>
  <cp:revision>1</cp:revision>
  <dcterms:created xsi:type="dcterms:W3CDTF">2026-07-03T02:47:02Z</dcterms:created>
  <dcterms:modified xsi:type="dcterms:W3CDTF">2026-07-03T02:47:02Z</dcterms:modified>
</cp:coreProperties>
</file>